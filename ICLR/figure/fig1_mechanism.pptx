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50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2026-09-18: BOS shares written in words, readout arrows removed, header clear of the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 2026-09-18: (a) after Systematic Outliers Fig. 2; (b) real per-token bars when runs/sides/f_l_fig1_tokens.csv exists, exact BOS shares, legend instead of brackets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 2026-09-22: measured bars from W86;  (a) after Systematic Outliers Fig. 2; (b) real per-token bars when runs/sides/f_l_fig1_tokens.csv exists, exact BOS shares, legend instead of brackets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 2026-09-22: panel (a) redrawn as a block after An et al. Fig. 2, arrows on the flow; measured bars from W86;  (a) after Systematic Outliers Fig. 2; (b) real per-token bars when runs/sides/f_l_fig1_tokens.csv exists, exact BOS shares, legend instead of brackets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v7 2026-09-22: white background, (a) An et al. block with right-hand residual, (b) mirrored per-token bars, (c) IFEval/MMLU bars with the repair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 2026-09-22: light panel containers back (Gu et al.), formal panel titles, token names spelled out, header tokens on two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v9 2026-09-22: 5.2 cm tall; (c) is now mechanism, GPTQ/RTN error ratio per position at the lesion matrix; benchmark numbers left to Fig.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v10 2026-09-22: one token strip, three rows of discs (weight in H, loss sensitivity, GPTQ/RTN error); minimal block diagram; almost no prose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2026-09-22: two panels; (a) block diagram of v8 with shorter labels; (b) mirrored bars of v8 on a wider axis, the consequence (GPTQ/RTN error) noted beside each side; panel (c) dropped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 2026-09-23: 475 moved to the input arrow (it is the BOS input norm of down_proj, 00_numbers LbosNorm), output arrow says writes the sink; height 5.4 -&gt; 5.0; (a) widened (3.6 -&gt; 3.9 cm), blocks moved so no label touches the dashed groups, residual line clear of the attn group, gate/up fed by real arrows from a split line, one arrow into each adder; (b) narrower, fewer words (side titles, notes, header label beside the bracket)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v13 2026-09-23: (a) boxes 0.27 cm high and every gap &gt;= 0.2 cm so each arrow has a visible shaft; (b) contrast titles and verbs restored. v12: 475 moved to the input arrow (it is the BOS input norm of down_proj, 00_numbers LbosNorm), output arrow says writes the sink; height 5.4 -&gt; 5.0; (a) widened (3.6 -&gt; 3.9 cm), blocks moved so no label touches the dashed groups, residual line clear of the attn group, gate/up fed by real arrows from a split line, one arrow into each adder; (b) narrower, fewer words (side titles, notes, header label beside the bracket)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400" y="50400"/>
            <a:ext cx="979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" y="100800"/>
            <a:ext cx="8496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(a)  the matrix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248400" y="367200"/>
            <a:ext cx="0" cy="1936800"/>
          </a:xfrm>
          <a:prstGeom prst="line">
            <a:avLst/>
          </a:prstGeom>
          <a:ln w="15875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9600" y="2260800"/>
            <a:ext cx="684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1">
                <a:solidFill>
                  <a:srgbClr val="707070"/>
                </a:solidFill>
                <a:latin typeface="Arial"/>
              </a:rPr>
              <a:t>hₜ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059200"/>
            <a:ext cx="576000" cy="1224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821599"/>
            <a:ext cx="576000" cy="151200"/>
          </a:xfrm>
          <a:prstGeom prst="roundRect">
            <a:avLst>
              <a:gd name="adj" fmla="val 18000"/>
            </a:avLst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2E5C8A"/>
                </a:solidFill>
                <a:latin typeface="Arial"/>
              </a:rPr>
              <a:t>attention</a:t>
            </a:r>
          </a:p>
        </p:txBody>
      </p:sp>
      <p:sp>
        <p:nvSpPr>
          <p:cNvPr id="8" name="Oval 7"/>
          <p:cNvSpPr/>
          <p:nvPr/>
        </p:nvSpPr>
        <p:spPr>
          <a:xfrm>
            <a:off x="194400" y="1605600"/>
            <a:ext cx="108000" cy="1080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400" y="2120400"/>
            <a:ext cx="1116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7999" y="1998000"/>
            <a:ext cx="0" cy="612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7999" y="1659600"/>
            <a:ext cx="0" cy="161999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02400" y="1659600"/>
            <a:ext cx="345599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0000" y="1411200"/>
            <a:ext cx="576000" cy="1224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" y="871200"/>
            <a:ext cx="619200" cy="460800"/>
          </a:xfrm>
          <a:prstGeom prst="roundRect">
            <a:avLst>
              <a:gd name="adj" fmla="val 12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A9660C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400" y="1202400"/>
            <a:ext cx="6192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A9660C"/>
                </a:solidFill>
                <a:latin typeface="Arial"/>
              </a:rPr>
              <a:t>MLP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600" y="1058400"/>
            <a:ext cx="532800" cy="10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A9660C"/>
                </a:solidFill>
                <a:latin typeface="Arial"/>
              </a:rPr>
              <a:t>gate /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600" y="914400"/>
            <a:ext cx="532800" cy="122400"/>
          </a:xfrm>
          <a:prstGeom prst="roundRect">
            <a:avLst>
              <a:gd name="adj" fmla="val 18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sp>
        <p:nvSpPr>
          <p:cNvPr id="18" name="Oval 17"/>
          <p:cNvSpPr/>
          <p:nvPr/>
        </p:nvSpPr>
        <p:spPr>
          <a:xfrm>
            <a:off x="194400" y="691200"/>
            <a:ext cx="108000" cy="1080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8400" y="1472400"/>
            <a:ext cx="1116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47999" y="1350000"/>
            <a:ext cx="0" cy="612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7999" y="745200"/>
            <a:ext cx="0" cy="1260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02400" y="745200"/>
            <a:ext cx="345599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0000" y="424800"/>
            <a:ext cx="576000" cy="1224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8400" y="486000"/>
            <a:ext cx="1116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1600" y="1332000"/>
            <a:ext cx="28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1" i="0">
                <a:solidFill>
                  <a:srgbClr val="B5342B"/>
                </a:solidFill>
                <a:latin typeface="Arial"/>
              </a:rPr>
              <a:t>H ← xₜ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400" y="554400"/>
            <a:ext cx="5904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1" i="0">
                <a:solidFill>
                  <a:srgbClr val="B5342B"/>
                </a:solidFill>
                <a:latin typeface="Arial"/>
              </a:rPr>
              <a:t>‖h‖ = 475 vs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00" y="230400"/>
            <a:ext cx="8496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1" i="0">
                <a:solidFill>
                  <a:srgbClr val="1E7A4A"/>
                </a:solidFill>
                <a:latin typeface="Arial"/>
              </a:rPr>
              <a:t>no gradient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0000" y="331200"/>
            <a:ext cx="0" cy="79199"/>
          </a:xfrm>
          <a:prstGeom prst="line">
            <a:avLst/>
          </a:prstGeom>
          <a:ln w="10160">
            <a:solidFill>
              <a:srgbClr val="1E7A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87200" y="50400"/>
            <a:ext cx="2347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000" y="100800"/>
            <a:ext cx="22175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(b)  the two sides sit on different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6400" y="2016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A9660C"/>
                </a:solidFill>
                <a:latin typeface="Arial"/>
              </a:rPr>
              <a:t>gₜ  what the loss depends 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6400" y="302400"/>
            <a:ext cx="2188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707070"/>
                </a:solidFill>
                <a:latin typeface="Arial"/>
              </a:rPr>
              <a:t>G_BOS = .000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66400" y="9252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87800" y="580320"/>
            <a:ext cx="196199" cy="36288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09200" y="735840"/>
            <a:ext cx="196199" cy="207359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30600" y="424800"/>
            <a:ext cx="196199" cy="51840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52000" y="580320"/>
            <a:ext cx="196199" cy="36288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73400" y="865440"/>
            <a:ext cx="196199" cy="7776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94800" y="865440"/>
            <a:ext cx="196199" cy="7776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16200" y="632160"/>
            <a:ext cx="196199" cy="31104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37600" y="917280"/>
            <a:ext cx="196199" cy="25919"/>
          </a:xfrm>
          <a:prstGeom prst="roundRect">
            <a:avLst>
              <a:gd name="adj" fmla="val 10000"/>
            </a:avLst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59000" y="917280"/>
            <a:ext cx="196199" cy="25919"/>
          </a:xfrm>
          <a:prstGeom prst="roundRect">
            <a:avLst>
              <a:gd name="adj" fmla="val 10000"/>
            </a:avLst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64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1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878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⟨hdr⟩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092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user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306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1" i="0">
                <a:solidFill>
                  <a:srgbClr val="A9660C"/>
                </a:solidFill>
                <a:latin typeface="Arial"/>
              </a:rPr>
              <a:t>⟨/hdr⟩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520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⏎⏎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734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Write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4948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poem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162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⟨eot⟩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376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2E5C8A"/>
                </a:solidFill>
                <a:latin typeface="Arial"/>
              </a:rPr>
              <a:t>Roses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59000" y="972000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2E5C8A"/>
                </a:solidFill>
                <a:latin typeface="Arial"/>
              </a:rPr>
              <a:t>are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66400" y="1130400"/>
            <a:ext cx="196199" cy="5184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87800" y="1130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609200" y="1130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30600" y="1130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52000" y="1130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73400" y="1130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494800" y="1130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16200" y="1130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937600" y="1130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59000" y="1130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66400" y="16992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B5342B"/>
                </a:solidFill>
                <a:latin typeface="Arial"/>
              </a:rPr>
              <a:t>‖xₜ‖²  what the layer-wise objective weights by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6400" y="1800000"/>
            <a:ext cx="2188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707070"/>
                </a:solidFill>
                <a:latin typeface="Arial"/>
              </a:rPr>
              <a:t>A_BOS = .998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166400" y="1951200"/>
            <a:ext cx="1746000" cy="0"/>
          </a:xfrm>
          <a:prstGeom prst="line">
            <a:avLst/>
          </a:prstGeom>
          <a:ln w="762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937600" y="1951200"/>
            <a:ext cx="417600" cy="0"/>
          </a:xfrm>
          <a:prstGeom prst="line">
            <a:avLst/>
          </a:prstGeom>
          <a:ln w="7620">
            <a:solidFill>
              <a:srgbClr val="5B8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166400" y="1965600"/>
            <a:ext cx="1745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prompt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37600" y="1965600"/>
            <a:ext cx="4176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E5C8A"/>
                </a:solidFill>
                <a:latin typeface="Arial"/>
              </a:rPr>
              <a:t>response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1264500" y="2181600"/>
            <a:ext cx="1992600" cy="0"/>
          </a:xfrm>
          <a:prstGeom prst="line">
            <a:avLst/>
          </a:prstGeom>
          <a:ln w="11430">
            <a:solidFill>
              <a:srgbClr val="D645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257100" y="2116800"/>
            <a:ext cx="0" cy="64800"/>
          </a:xfrm>
          <a:prstGeom prst="line">
            <a:avLst/>
          </a:prstGeom>
          <a:ln w="11430">
            <a:solidFill>
              <a:srgbClr val="D64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387800" y="2196000"/>
            <a:ext cx="93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B5342B"/>
                </a:solidFill>
                <a:latin typeface="Arial"/>
              </a:rPr>
              <a:t>the response attends here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1928700" y="2332800"/>
            <a:ext cx="1328400" cy="0"/>
          </a:xfrm>
          <a:prstGeom prst="line">
            <a:avLst/>
          </a:prstGeom>
          <a:ln w="11430">
            <a:solidFill>
              <a:srgbClr val="E08A1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257100" y="2268000"/>
            <a:ext cx="0" cy="64800"/>
          </a:xfrm>
          <a:prstGeom prst="line">
            <a:avLst/>
          </a:prstGeom>
          <a:ln w="1143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052000" y="2347200"/>
            <a:ext cx="93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A9660C"/>
                </a:solidFill>
                <a:latin typeface="Arial"/>
              </a:rPr>
              <a:t>and here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491999" y="50400"/>
            <a:ext cx="14976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56799" y="100800"/>
            <a:ext cx="13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(c)  the damage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43199" y="597024"/>
            <a:ext cx="223200" cy="446976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96399" y="503423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A9660C"/>
                </a:solidFill>
                <a:latin typeface="Arial"/>
              </a:rPr>
              <a:t>0.97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963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A9660C"/>
                </a:solidFill>
                <a:latin typeface="Arial"/>
              </a:rPr>
              <a:t>format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960000" y="785951"/>
            <a:ext cx="223200" cy="258048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13199" y="692351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707070"/>
                </a:solidFill>
                <a:latin typeface="Arial"/>
              </a:rPr>
              <a:t>0.56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131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instruction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276800" y="887328"/>
            <a:ext cx="223200" cy="156672"/>
          </a:xfrm>
          <a:prstGeom prst="roundRect">
            <a:avLst>
              <a:gd name="adj" fmla="val 10000"/>
            </a:avLst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29999" y="793727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2E5C8A"/>
                </a:solidFill>
                <a:latin typeface="Arial"/>
              </a:rPr>
              <a:t>0.34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299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E5C8A"/>
                </a:solidFill>
                <a:latin typeface="Arial"/>
              </a:rPr>
              <a:t>response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93600" y="1007136"/>
            <a:ext cx="223200" cy="36864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46800" y="913536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0.08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46800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71200" y="201600"/>
            <a:ext cx="13392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333333"/>
                </a:solidFill>
                <a:latin typeface="Arial"/>
              </a:rPr>
              <a:t>relative error of the block output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71200" y="302400"/>
            <a:ext cx="133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707070"/>
                </a:solidFill>
                <a:latin typeface="Arial"/>
              </a:rPr>
              <a:t>GPTQ against the full-precision model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600000" y="1267200"/>
            <a:ext cx="1281600" cy="3312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00000" y="13032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B5342B"/>
                </a:solidFill>
                <a:latin typeface="Arial"/>
              </a:rPr>
              <a:t>IFEval   .77  →  .16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00000" y="1440000"/>
            <a:ext cx="12816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MMLU and perplexity unchanged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00000" y="1706400"/>
            <a:ext cx="1281600" cy="316800"/>
          </a:xfrm>
          <a:prstGeom prst="roundRect">
            <a:avLst>
              <a:gd name="adj" fmla="val 10000"/>
            </a:avLst>
          </a:prstGeom>
          <a:solidFill>
            <a:srgbClr val="D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00000" y="1742400"/>
            <a:ext cx="12816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1E7A4A"/>
                </a:solidFill>
                <a:latin typeface="Arial"/>
              </a:rPr>
              <a:t>repair:  wₜ = gₜ / ‖xₜ‖²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00000" y="18720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1E7A4A"/>
                </a:solidFill>
                <a:latin typeface="Arial"/>
              </a:rPr>
              <a:t>put the upper row of (b) into H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240800" y="1598400"/>
            <a:ext cx="0" cy="93600"/>
          </a:xfrm>
          <a:prstGeom prst="line">
            <a:avLst/>
          </a:prstGeom>
          <a:ln w="11430">
            <a:solidFill>
              <a:srgbClr val="1E7A4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571200" y="2109600"/>
            <a:ext cx="13392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on Llama the layer-0 down_proj carries a second, weaker copy and both are needed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400" y="50400"/>
            <a:ext cx="979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" y="100800"/>
            <a:ext cx="8496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(a)  the matrix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248400" y="367200"/>
            <a:ext cx="0" cy="1936800"/>
          </a:xfrm>
          <a:prstGeom prst="line">
            <a:avLst/>
          </a:prstGeom>
          <a:ln w="15875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09600" y="2260800"/>
            <a:ext cx="684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1">
                <a:solidFill>
                  <a:srgbClr val="707070"/>
                </a:solidFill>
                <a:latin typeface="Arial"/>
              </a:rPr>
              <a:t>hₜ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059200"/>
            <a:ext cx="576000" cy="1224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821599"/>
            <a:ext cx="576000" cy="151200"/>
          </a:xfrm>
          <a:prstGeom prst="roundRect">
            <a:avLst>
              <a:gd name="adj" fmla="val 18000"/>
            </a:avLst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2E5C8A"/>
                </a:solidFill>
                <a:latin typeface="Arial"/>
              </a:rPr>
              <a:t>attention</a:t>
            </a:r>
          </a:p>
        </p:txBody>
      </p:sp>
      <p:sp>
        <p:nvSpPr>
          <p:cNvPr id="8" name="Oval 7"/>
          <p:cNvSpPr/>
          <p:nvPr/>
        </p:nvSpPr>
        <p:spPr>
          <a:xfrm>
            <a:off x="194400" y="1605600"/>
            <a:ext cx="108000" cy="1080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400" y="2120400"/>
            <a:ext cx="1116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47999" y="1998000"/>
            <a:ext cx="0" cy="612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7999" y="1659600"/>
            <a:ext cx="0" cy="161999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02400" y="1659600"/>
            <a:ext cx="345599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0000" y="1411200"/>
            <a:ext cx="576000" cy="1224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" y="871200"/>
            <a:ext cx="619200" cy="460800"/>
          </a:xfrm>
          <a:prstGeom prst="roundRect">
            <a:avLst>
              <a:gd name="adj" fmla="val 12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A9660C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400" y="1202400"/>
            <a:ext cx="6192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A9660C"/>
                </a:solidFill>
                <a:latin typeface="Arial"/>
              </a:rPr>
              <a:t>MLP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1600" y="1058400"/>
            <a:ext cx="532800" cy="108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A9660C"/>
                </a:solidFill>
                <a:latin typeface="Arial"/>
              </a:rPr>
              <a:t>gate /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600" y="914400"/>
            <a:ext cx="532800" cy="122400"/>
          </a:xfrm>
          <a:prstGeom prst="roundRect">
            <a:avLst>
              <a:gd name="adj" fmla="val 18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sp>
        <p:nvSpPr>
          <p:cNvPr id="18" name="Oval 17"/>
          <p:cNvSpPr/>
          <p:nvPr/>
        </p:nvSpPr>
        <p:spPr>
          <a:xfrm>
            <a:off x="194400" y="691200"/>
            <a:ext cx="108000" cy="1080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8400" y="1472400"/>
            <a:ext cx="1116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47999" y="1350000"/>
            <a:ext cx="0" cy="612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7999" y="745200"/>
            <a:ext cx="0" cy="1260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02400" y="745200"/>
            <a:ext cx="345599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0000" y="424800"/>
            <a:ext cx="576000" cy="1224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5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8400" y="486000"/>
            <a:ext cx="1116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1600" y="1332000"/>
            <a:ext cx="28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1" i="0">
                <a:solidFill>
                  <a:srgbClr val="B5342B"/>
                </a:solidFill>
                <a:latin typeface="Arial"/>
              </a:rPr>
              <a:t>H ← xₜ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400" y="554400"/>
            <a:ext cx="5904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1" i="0">
                <a:solidFill>
                  <a:srgbClr val="B5342B"/>
                </a:solidFill>
                <a:latin typeface="Arial"/>
              </a:rPr>
              <a:t>‖h‖ = 475 vs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00" y="230400"/>
            <a:ext cx="8496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1" i="0">
                <a:solidFill>
                  <a:srgbClr val="1E7A4A"/>
                </a:solidFill>
                <a:latin typeface="Arial"/>
              </a:rPr>
              <a:t>no gradient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0000" y="331200"/>
            <a:ext cx="0" cy="79199"/>
          </a:xfrm>
          <a:prstGeom prst="line">
            <a:avLst/>
          </a:prstGeom>
          <a:ln w="10160">
            <a:solidFill>
              <a:srgbClr val="1E7A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87200" y="50400"/>
            <a:ext cx="2347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000" y="100800"/>
            <a:ext cx="22175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(b)  the two sides sit on different tokens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6400" y="2160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A9660C"/>
                </a:solidFill>
                <a:latin typeface="Arial"/>
              </a:rPr>
              <a:t>gₜ  what the loss depends on:  BOS gets 0.0%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66400" y="9612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87800" y="545760"/>
            <a:ext cx="196199" cy="43344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09200" y="731520"/>
            <a:ext cx="196199" cy="24768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30600" y="360000"/>
            <a:ext cx="196199" cy="61920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52000" y="545760"/>
            <a:ext cx="196199" cy="43344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73400" y="886320"/>
            <a:ext cx="196199" cy="9288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94800" y="886320"/>
            <a:ext cx="196199" cy="9288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16200" y="607680"/>
            <a:ext cx="196199" cy="37152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37600" y="948240"/>
            <a:ext cx="196199" cy="30960"/>
          </a:xfrm>
          <a:prstGeom prst="roundRect">
            <a:avLst>
              <a:gd name="adj" fmla="val 10000"/>
            </a:avLst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9000" y="948240"/>
            <a:ext cx="196199" cy="30960"/>
          </a:xfrm>
          <a:prstGeom prst="roundRect">
            <a:avLst>
              <a:gd name="adj" fmla="val 10000"/>
            </a:avLst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664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1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878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⟨hdr⟩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092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user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306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1" i="0">
                <a:solidFill>
                  <a:srgbClr val="A9660C"/>
                </a:solidFill>
                <a:latin typeface="Arial"/>
              </a:rPr>
              <a:t>⟨/hdr⟩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0520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⏎⏎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734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Write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948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poem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162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⟨eot⟩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376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2E5C8A"/>
                </a:solidFill>
                <a:latin typeface="Arial"/>
              </a:rPr>
              <a:t>Roses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59000" y="1007999"/>
            <a:ext cx="19619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2E5C8A"/>
                </a:solidFill>
                <a:latin typeface="Arial"/>
              </a:rPr>
              <a:t>are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66400" y="1166400"/>
            <a:ext cx="196199" cy="6660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87800" y="1166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609200" y="1166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30600" y="1166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52000" y="1166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73400" y="1166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494800" y="1166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16200" y="1166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937600" y="1166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159000" y="1166400"/>
            <a:ext cx="19619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66400" y="18792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B5342B"/>
                </a:solidFill>
                <a:latin typeface="Arial"/>
              </a:rPr>
              <a:t>‖xₜ‖²  what the objective weights by:  BOS gets 99.8%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66400" y="2109600"/>
            <a:ext cx="1746000" cy="0"/>
          </a:xfrm>
          <a:prstGeom prst="line">
            <a:avLst/>
          </a:prstGeom>
          <a:ln w="7620">
            <a:solidFill>
              <a:srgbClr val="9E9E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937600" y="2109600"/>
            <a:ext cx="417600" cy="0"/>
          </a:xfrm>
          <a:prstGeom prst="line">
            <a:avLst/>
          </a:prstGeom>
          <a:ln w="7620">
            <a:solidFill>
              <a:srgbClr val="5B8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66400" y="2124000"/>
            <a:ext cx="1745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prompt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37600" y="2124000"/>
            <a:ext cx="4176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E5C8A"/>
                </a:solidFill>
                <a:latin typeface="Arial"/>
              </a:rPr>
              <a:t>response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491999" y="50400"/>
            <a:ext cx="14976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56799" y="100800"/>
            <a:ext cx="13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(c)  the damage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43199" y="597024"/>
            <a:ext cx="223200" cy="446976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96399" y="503423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A9660C"/>
                </a:solidFill>
                <a:latin typeface="Arial"/>
              </a:rPr>
              <a:t>0.97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963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A9660C"/>
                </a:solidFill>
                <a:latin typeface="Arial"/>
              </a:rPr>
              <a:t>format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960000" y="785951"/>
            <a:ext cx="223200" cy="258048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13199" y="692351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707070"/>
                </a:solidFill>
                <a:latin typeface="Arial"/>
              </a:rPr>
              <a:t>0.56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131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instruction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76800" y="887328"/>
            <a:ext cx="223200" cy="156672"/>
          </a:xfrm>
          <a:prstGeom prst="roundRect">
            <a:avLst>
              <a:gd name="adj" fmla="val 10000"/>
            </a:avLst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29999" y="793727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2E5C8A"/>
                </a:solidFill>
                <a:latin typeface="Arial"/>
              </a:rPr>
              <a:t>0.34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299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E5C8A"/>
                </a:solidFill>
                <a:latin typeface="Arial"/>
              </a:rPr>
              <a:t>response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93600" y="1007136"/>
            <a:ext cx="223200" cy="36864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46800" y="913536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0.08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46800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71200" y="201600"/>
            <a:ext cx="13392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333333"/>
                </a:solidFill>
                <a:latin typeface="Arial"/>
              </a:rPr>
              <a:t>relative error of the block output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71200" y="302400"/>
            <a:ext cx="133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 i="0">
                <a:solidFill>
                  <a:srgbClr val="707070"/>
                </a:solidFill>
                <a:latin typeface="Arial"/>
              </a:rPr>
              <a:t>GPTQ against the full-precision model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00000" y="1267200"/>
            <a:ext cx="1281600" cy="3312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00000" y="13032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B5342B"/>
                </a:solidFill>
                <a:latin typeface="Arial"/>
              </a:rPr>
              <a:t>IFEval   .77  →  .16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00000" y="1440000"/>
            <a:ext cx="12816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MMLU and perplexity unchanged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600000" y="1706400"/>
            <a:ext cx="1281600" cy="316800"/>
          </a:xfrm>
          <a:prstGeom prst="roundRect">
            <a:avLst>
              <a:gd name="adj" fmla="val 10000"/>
            </a:avLst>
          </a:prstGeom>
          <a:solidFill>
            <a:srgbClr val="D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00000" y="1742400"/>
            <a:ext cx="12816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1E7A4A"/>
                </a:solidFill>
                <a:latin typeface="Arial"/>
              </a:rPr>
              <a:t>repair:  wₜ = gₜ / ‖xₜ‖²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00000" y="18720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1E7A4A"/>
                </a:solidFill>
                <a:latin typeface="Arial"/>
              </a:rPr>
              <a:t>put the upper row of (b) into H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240800" y="1598400"/>
            <a:ext cx="0" cy="93600"/>
          </a:xfrm>
          <a:prstGeom prst="line">
            <a:avLst/>
          </a:prstGeom>
          <a:ln w="11430">
            <a:solidFill>
              <a:srgbClr val="1E7A4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571200" y="2109600"/>
            <a:ext cx="13392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on Llama the layer-0 down_proj carries a second, weaker copy and both are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400" y="50400"/>
            <a:ext cx="979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" y="100800"/>
            <a:ext cx="8496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(a)  the matrix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230400" y="352800"/>
            <a:ext cx="0" cy="1972800"/>
          </a:xfrm>
          <a:prstGeom prst="line">
            <a:avLst/>
          </a:prstGeom>
          <a:ln w="15875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88000" y="2282400"/>
            <a:ext cx="432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1">
                <a:solidFill>
                  <a:srgbClr val="707070"/>
                </a:solidFill>
                <a:latin typeface="Arial"/>
              </a:rPr>
              <a:t>hₜ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600" y="2138400"/>
            <a:ext cx="547200" cy="1080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200" y="1771200"/>
            <a:ext cx="648000" cy="3096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008800"/>
            <a:ext cx="590400" cy="6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8A8A8A"/>
                </a:solidFill>
                <a:latin typeface="Arial"/>
              </a:rPr>
              <a:t>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600" y="1821599"/>
            <a:ext cx="547200" cy="122400"/>
          </a:xfrm>
          <a:prstGeom prst="roundRect">
            <a:avLst>
              <a:gd name="adj" fmla="val 18000"/>
            </a:avLst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2E5C8A"/>
                </a:solidFill>
                <a:latin typeface="Arial"/>
              </a:rPr>
              <a:t>Q K V  ·  O</a:t>
            </a:r>
          </a:p>
        </p:txBody>
      </p:sp>
      <p:sp>
        <p:nvSpPr>
          <p:cNvPr id="10" name="Oval 9"/>
          <p:cNvSpPr/>
          <p:nvPr/>
        </p:nvSpPr>
        <p:spPr>
          <a:xfrm>
            <a:off x="180000" y="1605600"/>
            <a:ext cx="100800" cy="100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00" y="2192400"/>
            <a:ext cx="1512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55200" y="1951200"/>
            <a:ext cx="0" cy="1872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55200" y="1655999"/>
            <a:ext cx="0" cy="1656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0800" y="1655999"/>
            <a:ext cx="3744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1600" y="1425600"/>
            <a:ext cx="547200" cy="1080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200" y="820799"/>
            <a:ext cx="648000" cy="5472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1296000"/>
            <a:ext cx="590400" cy="6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8A8A8A"/>
                </a:solidFill>
                <a:latin typeface="Arial"/>
              </a:rPr>
              <a:t>MLP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600" y="1159200"/>
            <a:ext cx="547200" cy="108000"/>
          </a:xfrm>
          <a:prstGeom prst="roundRect">
            <a:avLst>
              <a:gd name="adj" fmla="val 18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A9660C"/>
                </a:solidFill>
                <a:latin typeface="Arial"/>
              </a:rPr>
              <a:t>gate · 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600" y="1022400"/>
            <a:ext cx="547200" cy="93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SiLU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600" y="864000"/>
            <a:ext cx="547200" cy="129600"/>
          </a:xfrm>
          <a:prstGeom prst="roundRect">
            <a:avLst>
              <a:gd name="adj" fmla="val 18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sp>
        <p:nvSpPr>
          <p:cNvPr id="21" name="Oval 20"/>
          <p:cNvSpPr/>
          <p:nvPr/>
        </p:nvSpPr>
        <p:spPr>
          <a:xfrm>
            <a:off x="180000" y="669600"/>
            <a:ext cx="100800" cy="100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0400" y="1479600"/>
            <a:ext cx="1512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55200" y="1274400"/>
            <a:ext cx="0" cy="1512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55200" y="1123200"/>
            <a:ext cx="0" cy="360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55200" y="1000799"/>
            <a:ext cx="0" cy="21601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55200" y="720000"/>
            <a:ext cx="0" cy="1440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80800" y="720000"/>
            <a:ext cx="3744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2400" y="583200"/>
            <a:ext cx="835200" cy="0"/>
          </a:xfrm>
          <a:prstGeom prst="line">
            <a:avLst/>
          </a:prstGeom>
          <a:ln w="635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3600" y="518400"/>
            <a:ext cx="331200" cy="6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8A8A8A"/>
                </a:solidFill>
                <a:latin typeface="Arial"/>
              </a:rPr>
              <a:t>next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600" y="396000"/>
            <a:ext cx="547200" cy="1080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0400" y="450000"/>
            <a:ext cx="1512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8000" y="900000"/>
            <a:ext cx="2160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input</a:t>
            </a:r>
          </a:p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xₜ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9600" y="943200"/>
            <a:ext cx="72000" cy="0"/>
          </a:xfrm>
          <a:prstGeom prst="line">
            <a:avLst/>
          </a:prstGeom>
          <a:ln w="7620">
            <a:solidFill>
              <a:srgbClr val="D645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200" y="597600"/>
            <a:ext cx="648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output: ‖h‖ 475 vs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200" y="216000"/>
            <a:ext cx="648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1E7A4A"/>
                </a:solidFill>
                <a:latin typeface="Arial"/>
              </a:rPr>
              <a:t>no gradient</a:t>
            </a:r>
          </a:p>
          <a:p>
            <a:pPr algn="ctr"/>
            <a:r>
              <a:rPr sz="500" b="1" i="0">
                <a:solidFill>
                  <a:srgbClr val="1E7A4A"/>
                </a:solidFill>
                <a:latin typeface="Arial"/>
              </a:rPr>
              <a:t>returns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35200" y="352800"/>
            <a:ext cx="0" cy="28800"/>
          </a:xfrm>
          <a:prstGeom prst="line">
            <a:avLst/>
          </a:prstGeom>
          <a:ln w="10160">
            <a:solidFill>
              <a:srgbClr val="1E7A4A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87200" y="50400"/>
            <a:ext cx="2347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000" y="100800"/>
            <a:ext cx="22175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(b)  the two sides sit on different tokens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6400" y="2160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A9660C"/>
                </a:solidFill>
                <a:latin typeface="Arial"/>
              </a:rPr>
              <a:t>gₜ  what the loss depends on:   BOS holds 0.03%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66400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88160" y="545760"/>
            <a:ext cx="192959" cy="43344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09919" y="731520"/>
            <a:ext cx="192959" cy="24768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31680" y="360000"/>
            <a:ext cx="192959" cy="61920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53440" y="545760"/>
            <a:ext cx="192959" cy="43344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75200" y="886320"/>
            <a:ext cx="192959" cy="9288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96960" y="886320"/>
            <a:ext cx="192959" cy="9288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18720" y="886320"/>
            <a:ext cx="192959" cy="9288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40479" y="917280"/>
            <a:ext cx="192959" cy="6192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62239" y="607680"/>
            <a:ext cx="192959" cy="37152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6640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1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8816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⟨hdr⟩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09919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user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3168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⟨/hdr⟩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5344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⏎⏎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7520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Write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9696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1872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poem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40479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162239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⟨eot⟩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66400" y="1166400"/>
            <a:ext cx="192959" cy="6192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8816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609919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3168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5344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7520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9696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1872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40479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62239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66400" y="18792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B5342B"/>
                </a:solidFill>
                <a:latin typeface="Arial"/>
              </a:rPr>
              <a:t>‖xₜ‖²  what the objective weights by:   BOS holds 99.8%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66400" y="2145600"/>
            <a:ext cx="93600" cy="64800"/>
          </a:xfrm>
          <a:prstGeom prst="roundRect">
            <a:avLst>
              <a:gd name="adj" fmla="val 2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88800" y="2131200"/>
            <a:ext cx="5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B5342B"/>
                </a:solidFill>
                <a:latin typeface="Arial"/>
              </a:rPr>
              <a:t>sink token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868400" y="2145600"/>
            <a:ext cx="93600" cy="64800"/>
          </a:xfrm>
          <a:prstGeom prst="roundRect">
            <a:avLst>
              <a:gd name="adj" fmla="val 2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90800" y="2131200"/>
            <a:ext cx="5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A9660C"/>
                </a:solidFill>
                <a:latin typeface="Arial"/>
              </a:rPr>
              <a:t>format tokens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70400" y="2145600"/>
            <a:ext cx="93600" cy="64800"/>
          </a:xfrm>
          <a:prstGeom prst="roundRect">
            <a:avLst>
              <a:gd name="adj" fmla="val 2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92800" y="2131200"/>
            <a:ext cx="5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707070"/>
                </a:solidFill>
                <a:latin typeface="Arial"/>
              </a:rPr>
              <a:t>user text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6400" y="2268000"/>
            <a:ext cx="2188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707070"/>
                </a:solidFill>
                <a:latin typeface="Arial"/>
              </a:rPr>
              <a:t>schematic bars; shares from the calibration set (runs/sides/l_c4.csv)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91999" y="50400"/>
            <a:ext cx="14976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56799" y="100800"/>
            <a:ext cx="13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(c)  the damage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71200" y="216000"/>
            <a:ext cx="13392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333333"/>
                </a:solidFill>
                <a:latin typeface="Arial"/>
              </a:rPr>
              <a:t>relative error of the block output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71200" y="316800"/>
            <a:ext cx="133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0" i="0">
                <a:solidFill>
                  <a:srgbClr val="707070"/>
                </a:solidFill>
                <a:latin typeface="Arial"/>
              </a:rPr>
              <a:t>GPTQ against fp16, by token class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43199" y="597024"/>
            <a:ext cx="223200" cy="446976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96399" y="503423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A9660C"/>
                </a:solidFill>
                <a:latin typeface="Arial"/>
              </a:rPr>
              <a:t>0.97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963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A9660C"/>
                </a:solidFill>
                <a:latin typeface="Arial"/>
              </a:rPr>
              <a:t>format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960000" y="785951"/>
            <a:ext cx="223200" cy="258048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199" y="692351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707070"/>
                </a:solidFill>
                <a:latin typeface="Arial"/>
              </a:rPr>
              <a:t>0.56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131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user text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276800" y="887328"/>
            <a:ext cx="223200" cy="156672"/>
          </a:xfrm>
          <a:prstGeom prst="roundRect">
            <a:avLst>
              <a:gd name="adj" fmla="val 10000"/>
            </a:avLst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9999" y="793727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2E5C8A"/>
                </a:solidFill>
                <a:latin typeface="Arial"/>
              </a:rPr>
              <a:t>0.34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299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E5C8A"/>
                </a:solidFill>
                <a:latin typeface="Arial"/>
              </a:rPr>
              <a:t>response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93600" y="1007136"/>
            <a:ext cx="223200" cy="36864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46800" y="913536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0.08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46800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00000" y="1267200"/>
            <a:ext cx="1281600" cy="3312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00000" y="13032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B5342B"/>
                </a:solidFill>
                <a:latin typeface="Arial"/>
              </a:rPr>
              <a:t>IFEval   .77  →  .16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00000" y="1440000"/>
            <a:ext cx="12816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MMLU and perplexity unchanged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00000" y="1706400"/>
            <a:ext cx="1281600" cy="316800"/>
          </a:xfrm>
          <a:prstGeom prst="roundRect">
            <a:avLst>
              <a:gd name="adj" fmla="val 10000"/>
            </a:avLst>
          </a:prstGeom>
          <a:solidFill>
            <a:srgbClr val="D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00000" y="1742400"/>
            <a:ext cx="12816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1E7A4A"/>
                </a:solidFill>
                <a:latin typeface="Arial"/>
              </a:rPr>
              <a:t>repair:  wₜ = gₜ / ‖xₜ‖²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00000" y="18720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1E7A4A"/>
                </a:solidFill>
                <a:latin typeface="Arial"/>
              </a:rPr>
              <a:t>put the upper row of (b) into H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240800" y="1598400"/>
            <a:ext cx="0" cy="93600"/>
          </a:xfrm>
          <a:prstGeom prst="line">
            <a:avLst/>
          </a:prstGeom>
          <a:ln w="11430">
            <a:solidFill>
              <a:srgbClr val="1E7A4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571200" y="2109600"/>
            <a:ext cx="13392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on Llama the layer-0 down_proj carries a second, weaker copy and both are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400" y="50400"/>
            <a:ext cx="979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" y="100800"/>
            <a:ext cx="8496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(a)  the matrix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230400" y="352800"/>
            <a:ext cx="0" cy="1972800"/>
          </a:xfrm>
          <a:prstGeom prst="line">
            <a:avLst/>
          </a:prstGeom>
          <a:ln w="15875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88000" y="2282400"/>
            <a:ext cx="432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1">
                <a:solidFill>
                  <a:srgbClr val="707070"/>
                </a:solidFill>
                <a:latin typeface="Arial"/>
              </a:rPr>
              <a:t>hₜ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600" y="2138400"/>
            <a:ext cx="547200" cy="1080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200" y="1771200"/>
            <a:ext cx="648000" cy="3096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008800"/>
            <a:ext cx="590400" cy="6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8A8A8A"/>
                </a:solidFill>
                <a:latin typeface="Arial"/>
              </a:rPr>
              <a:t>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1600" y="1821599"/>
            <a:ext cx="547200" cy="122400"/>
          </a:xfrm>
          <a:prstGeom prst="roundRect">
            <a:avLst>
              <a:gd name="adj" fmla="val 18000"/>
            </a:avLst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2E5C8A"/>
                </a:solidFill>
                <a:latin typeface="Arial"/>
              </a:rPr>
              <a:t>Q K V  ·  O</a:t>
            </a:r>
          </a:p>
        </p:txBody>
      </p:sp>
      <p:sp>
        <p:nvSpPr>
          <p:cNvPr id="10" name="Oval 9"/>
          <p:cNvSpPr/>
          <p:nvPr/>
        </p:nvSpPr>
        <p:spPr>
          <a:xfrm>
            <a:off x="180000" y="1605600"/>
            <a:ext cx="100800" cy="100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00" y="2192400"/>
            <a:ext cx="1512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55200" y="1951200"/>
            <a:ext cx="0" cy="1872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55200" y="1655999"/>
            <a:ext cx="0" cy="1656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0800" y="1655999"/>
            <a:ext cx="3744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1600" y="1425600"/>
            <a:ext cx="547200" cy="1080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200" y="820799"/>
            <a:ext cx="648000" cy="5472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1296000"/>
            <a:ext cx="590400" cy="6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8A8A8A"/>
                </a:solidFill>
                <a:latin typeface="Arial"/>
              </a:rPr>
              <a:t>MLP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1600" y="1159200"/>
            <a:ext cx="547200" cy="108000"/>
          </a:xfrm>
          <a:prstGeom prst="roundRect">
            <a:avLst>
              <a:gd name="adj" fmla="val 18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A9660C"/>
                </a:solidFill>
                <a:latin typeface="Arial"/>
              </a:rPr>
              <a:t>gate · 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600" y="1022400"/>
            <a:ext cx="547200" cy="93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SiLU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1600" y="864000"/>
            <a:ext cx="547200" cy="129600"/>
          </a:xfrm>
          <a:prstGeom prst="roundRect">
            <a:avLst>
              <a:gd name="adj" fmla="val 18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sp>
        <p:nvSpPr>
          <p:cNvPr id="21" name="Oval 20"/>
          <p:cNvSpPr/>
          <p:nvPr/>
        </p:nvSpPr>
        <p:spPr>
          <a:xfrm>
            <a:off x="180000" y="669600"/>
            <a:ext cx="100800" cy="100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0400" y="1479600"/>
            <a:ext cx="1512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55200" y="1274400"/>
            <a:ext cx="0" cy="1512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55200" y="1123200"/>
            <a:ext cx="0" cy="360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55200" y="1000799"/>
            <a:ext cx="0" cy="21601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55200" y="720000"/>
            <a:ext cx="0" cy="1440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80800" y="720000"/>
            <a:ext cx="3744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2400" y="583200"/>
            <a:ext cx="835200" cy="0"/>
          </a:xfrm>
          <a:prstGeom prst="line">
            <a:avLst/>
          </a:prstGeom>
          <a:ln w="635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3600" y="518400"/>
            <a:ext cx="331200" cy="6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8A8A8A"/>
                </a:solidFill>
                <a:latin typeface="Arial"/>
              </a:rPr>
              <a:t>next layer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600" y="396000"/>
            <a:ext cx="547200" cy="1080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0400" y="450000"/>
            <a:ext cx="1512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8000" y="900000"/>
            <a:ext cx="2160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input</a:t>
            </a:r>
          </a:p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xₜ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9600" y="943200"/>
            <a:ext cx="72000" cy="0"/>
          </a:xfrm>
          <a:prstGeom prst="line">
            <a:avLst/>
          </a:prstGeom>
          <a:ln w="7620">
            <a:solidFill>
              <a:srgbClr val="D645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200" y="597600"/>
            <a:ext cx="648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output: ‖h‖ 475 vs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200" y="216000"/>
            <a:ext cx="648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1E7A4A"/>
                </a:solidFill>
                <a:latin typeface="Arial"/>
              </a:rPr>
              <a:t>no gradient</a:t>
            </a:r>
          </a:p>
          <a:p>
            <a:pPr algn="ctr"/>
            <a:r>
              <a:rPr sz="500" b="1" i="0">
                <a:solidFill>
                  <a:srgbClr val="1E7A4A"/>
                </a:solidFill>
                <a:latin typeface="Arial"/>
              </a:rPr>
              <a:t>returns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35200" y="352800"/>
            <a:ext cx="0" cy="28800"/>
          </a:xfrm>
          <a:prstGeom prst="line">
            <a:avLst/>
          </a:prstGeom>
          <a:ln w="10160">
            <a:solidFill>
              <a:srgbClr val="1E7A4A"/>
            </a:solidFill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87200" y="50400"/>
            <a:ext cx="2347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2000" y="100800"/>
            <a:ext cx="22175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(b)  the two sides sit on different tokens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6400" y="2160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A9660C"/>
                </a:solidFill>
                <a:latin typeface="Arial"/>
              </a:rPr>
              <a:t>gₜ  what the loss depends on:   BOS holds 0.1%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66400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88160" y="786186"/>
            <a:ext cx="192959" cy="193013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09919" y="786960"/>
            <a:ext cx="192959" cy="192239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31680" y="360000"/>
            <a:ext cx="192959" cy="61920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53440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75200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96960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18720" y="953680"/>
            <a:ext cx="192959" cy="25519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40479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62239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6640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1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8816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⟨hdr⟩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09919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user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3168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⟨/hdr⟩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5344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⏎⏎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7520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Write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9696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71872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poem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940479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162239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⟨eot⟩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66400" y="1166400"/>
            <a:ext cx="192959" cy="6192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8816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609919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3168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5344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27520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9696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1872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40479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62239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66400" y="18792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B5342B"/>
                </a:solidFill>
                <a:latin typeface="Arial"/>
              </a:rPr>
              <a:t>‖xₜ‖²  what the objective weights by:   BOS holds 99.99%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66400" y="2145600"/>
            <a:ext cx="93600" cy="64800"/>
          </a:xfrm>
          <a:prstGeom prst="roundRect">
            <a:avLst>
              <a:gd name="adj" fmla="val 2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88800" y="2131200"/>
            <a:ext cx="5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B5342B"/>
                </a:solidFill>
                <a:latin typeface="Arial"/>
              </a:rPr>
              <a:t>sink token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868400" y="2145600"/>
            <a:ext cx="93600" cy="64800"/>
          </a:xfrm>
          <a:prstGeom prst="roundRect">
            <a:avLst>
              <a:gd name="adj" fmla="val 2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90800" y="2131200"/>
            <a:ext cx="5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A9660C"/>
                </a:solidFill>
                <a:latin typeface="Arial"/>
              </a:rPr>
              <a:t>format tokens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70400" y="2145600"/>
            <a:ext cx="93600" cy="64800"/>
          </a:xfrm>
          <a:prstGeom prst="roundRect">
            <a:avLst>
              <a:gd name="adj" fmla="val 2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92800" y="2131200"/>
            <a:ext cx="5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707070"/>
                </a:solidFill>
                <a:latin typeface="Arial"/>
              </a:rPr>
              <a:t>user text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6400" y="2268000"/>
            <a:ext cx="2188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707070"/>
                </a:solidFill>
                <a:latin typeface="Arial"/>
              </a:rPr>
              <a:t>one chat prompt, Llama-3.1-8B, layer-1 down_proj; shares over the whole exchange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91999" y="50400"/>
            <a:ext cx="14976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56799" y="100800"/>
            <a:ext cx="13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(c)  the damage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71200" y="216000"/>
            <a:ext cx="13392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333333"/>
                </a:solidFill>
                <a:latin typeface="Arial"/>
              </a:rPr>
              <a:t>relative error of the block output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71200" y="316800"/>
            <a:ext cx="133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0" i="0">
                <a:solidFill>
                  <a:srgbClr val="707070"/>
                </a:solidFill>
                <a:latin typeface="Arial"/>
              </a:rPr>
              <a:t>GPTQ against fp16, by token class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43199" y="597024"/>
            <a:ext cx="223200" cy="446976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96399" y="503423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A9660C"/>
                </a:solidFill>
                <a:latin typeface="Arial"/>
              </a:rPr>
              <a:t>0.97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963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A9660C"/>
                </a:solidFill>
                <a:latin typeface="Arial"/>
              </a:rPr>
              <a:t>format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960000" y="785951"/>
            <a:ext cx="223200" cy="258048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199" y="692351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707070"/>
                </a:solidFill>
                <a:latin typeface="Arial"/>
              </a:rPr>
              <a:t>0.56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131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user text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276800" y="887328"/>
            <a:ext cx="223200" cy="156672"/>
          </a:xfrm>
          <a:prstGeom prst="roundRect">
            <a:avLst>
              <a:gd name="adj" fmla="val 10000"/>
            </a:avLst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9999" y="793727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2E5C8A"/>
                </a:solidFill>
                <a:latin typeface="Arial"/>
              </a:rPr>
              <a:t>0.34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299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E5C8A"/>
                </a:solidFill>
                <a:latin typeface="Arial"/>
              </a:rPr>
              <a:t>response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93600" y="1007136"/>
            <a:ext cx="223200" cy="36864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46800" y="913536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0.08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46800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600000" y="1267200"/>
            <a:ext cx="1281600" cy="3312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00000" y="13032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B5342B"/>
                </a:solidFill>
                <a:latin typeface="Arial"/>
              </a:rPr>
              <a:t>IFEval   .77  →  .16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00000" y="1440000"/>
            <a:ext cx="12816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MMLU and perplexity unchanged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00000" y="1706400"/>
            <a:ext cx="1281600" cy="316800"/>
          </a:xfrm>
          <a:prstGeom prst="roundRect">
            <a:avLst>
              <a:gd name="adj" fmla="val 10000"/>
            </a:avLst>
          </a:prstGeom>
          <a:solidFill>
            <a:srgbClr val="D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00000" y="1742400"/>
            <a:ext cx="12816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1E7A4A"/>
                </a:solidFill>
                <a:latin typeface="Arial"/>
              </a:rPr>
              <a:t>repair:  wₜ = gₜ / ‖xₜ‖²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00000" y="18720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1E7A4A"/>
                </a:solidFill>
                <a:latin typeface="Arial"/>
              </a:rPr>
              <a:t>put the upper row of (b) into H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240800" y="1598400"/>
            <a:ext cx="0" cy="93600"/>
          </a:xfrm>
          <a:prstGeom prst="line">
            <a:avLst/>
          </a:prstGeom>
          <a:ln w="11430">
            <a:solidFill>
              <a:srgbClr val="1E7A4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571200" y="2109600"/>
            <a:ext cx="13392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on Llama the layer-0 down_proj carries a second, weaker copy and both are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400" y="50400"/>
            <a:ext cx="979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200" y="100800"/>
            <a:ext cx="8496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(a)  the matrix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230400" y="259200"/>
            <a:ext cx="0" cy="2080800"/>
          </a:xfrm>
          <a:prstGeom prst="line">
            <a:avLst/>
          </a:prstGeom>
          <a:ln w="15875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5200" y="2289600"/>
            <a:ext cx="432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1">
                <a:solidFill>
                  <a:srgbClr val="707070"/>
                </a:solidFill>
                <a:latin typeface="Arial"/>
              </a:rPr>
              <a:t>hₜ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800" y="2152800"/>
            <a:ext cx="554400" cy="1080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200" y="1792800"/>
            <a:ext cx="669600" cy="3096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030400"/>
            <a:ext cx="612000" cy="6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8A8A8A"/>
                </a:solidFill>
                <a:latin typeface="Arial"/>
              </a:rPr>
              <a:t>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800" y="1850400"/>
            <a:ext cx="554400" cy="129600"/>
          </a:xfrm>
          <a:prstGeom prst="roundRect">
            <a:avLst>
              <a:gd name="adj" fmla="val 18000"/>
            </a:avLst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2E5C8A"/>
                </a:solidFill>
                <a:latin typeface="Arial"/>
              </a:rPr>
              <a:t>Q K V · 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0400" y="2206800"/>
            <a:ext cx="1584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66000" y="1980000"/>
            <a:ext cx="0" cy="1728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80000" y="1605600"/>
            <a:ext cx="100800" cy="100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66000" y="1655999"/>
            <a:ext cx="0" cy="194401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80800" y="1655999"/>
            <a:ext cx="3852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8800" y="1432800"/>
            <a:ext cx="554400" cy="1080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200" y="756000"/>
            <a:ext cx="669600" cy="61200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1296000"/>
            <a:ext cx="612000" cy="6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8A8A8A"/>
                </a:solidFill>
                <a:latin typeface="Arial"/>
              </a:rPr>
              <a:t>MLP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800" y="1166400"/>
            <a:ext cx="554400" cy="108000"/>
          </a:xfrm>
          <a:prstGeom prst="roundRect">
            <a:avLst>
              <a:gd name="adj" fmla="val 18000"/>
            </a:avLst>
          </a:prstGeom>
          <a:solidFill>
            <a:srgbClr val="FBE3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A9660C"/>
                </a:solidFill>
                <a:latin typeface="Arial"/>
              </a:rPr>
              <a:t>gate · 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800" y="1015200"/>
            <a:ext cx="554400" cy="86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SiLU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800" y="806400"/>
            <a:ext cx="554400" cy="129600"/>
          </a:xfrm>
          <a:prstGeom prst="roundRect">
            <a:avLst>
              <a:gd name="adj" fmla="val 18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8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0400" y="1486800"/>
            <a:ext cx="1584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66000" y="1274400"/>
            <a:ext cx="0" cy="1584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66000" y="1101600"/>
            <a:ext cx="0" cy="64800"/>
          </a:xfrm>
          <a:prstGeom prst="line">
            <a:avLst/>
          </a:prstGeom>
          <a:ln w="6350">
            <a:solidFill>
              <a:srgbClr val="A8A8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66000" y="936000"/>
            <a:ext cx="0" cy="79200"/>
          </a:xfrm>
          <a:prstGeom prst="line">
            <a:avLst/>
          </a:prstGeom>
          <a:ln w="11430">
            <a:solidFill>
              <a:srgbClr val="D645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2000" y="936000"/>
            <a:ext cx="3492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1" i="0">
                <a:solidFill>
                  <a:srgbClr val="B5342B"/>
                </a:solidFill>
                <a:latin typeface="Arial"/>
              </a:rPr>
              <a:t>xₜ → H</a:t>
            </a:r>
          </a:p>
        </p:txBody>
      </p:sp>
      <p:sp>
        <p:nvSpPr>
          <p:cNvPr id="26" name="Oval 25"/>
          <p:cNvSpPr/>
          <p:nvPr/>
        </p:nvSpPr>
        <p:spPr>
          <a:xfrm>
            <a:off x="180000" y="597600"/>
            <a:ext cx="100800" cy="100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333333"/>
                </a:solidFill>
                <a:latin typeface="Arial"/>
              </a:rPr>
              <a:t>+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66000" y="648000"/>
            <a:ext cx="0" cy="158400"/>
          </a:xfrm>
          <a:prstGeom prst="line">
            <a:avLst/>
          </a:prstGeom>
          <a:ln w="11430">
            <a:solidFill>
              <a:srgbClr val="D64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80800" y="648000"/>
            <a:ext cx="385200" cy="0"/>
          </a:xfrm>
          <a:prstGeom prst="line">
            <a:avLst/>
          </a:prstGeom>
          <a:ln w="11430">
            <a:solidFill>
              <a:srgbClr val="D645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2000" y="684000"/>
            <a:ext cx="3852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1" i="0">
                <a:solidFill>
                  <a:srgbClr val="B5342B"/>
                </a:solidFill>
                <a:latin typeface="Arial"/>
              </a:rPr>
              <a:t>‖h‖ 475 vs 1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2400" y="503999"/>
            <a:ext cx="835200" cy="0"/>
          </a:xfrm>
          <a:prstGeom prst="line">
            <a:avLst/>
          </a:prstGeom>
          <a:ln w="6350">
            <a:solidFill>
              <a:srgbClr val="8A8A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3600" y="439200"/>
            <a:ext cx="331200" cy="6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8A8A8A"/>
                </a:solidFill>
                <a:latin typeface="Arial"/>
              </a:rPr>
              <a:t>next layer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800" y="331200"/>
            <a:ext cx="554400" cy="108000"/>
          </a:xfrm>
          <a:prstGeom prst="roundRect">
            <a:avLst>
              <a:gd name="adj" fmla="val 1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LN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0400" y="385200"/>
            <a:ext cx="158400" cy="0"/>
          </a:xfrm>
          <a:prstGeom prst="line">
            <a:avLst/>
          </a:prstGeom>
          <a:ln w="7620">
            <a:solidFill>
              <a:srgbClr val="7FA8C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200" y="180000"/>
            <a:ext cx="6696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1E7A4A"/>
                </a:solidFill>
                <a:latin typeface="Arial"/>
              </a:rPr>
              <a:t>no gradient returns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66000" y="266400"/>
            <a:ext cx="0" cy="57600"/>
          </a:xfrm>
          <a:prstGeom prst="line">
            <a:avLst/>
          </a:prstGeom>
          <a:ln w="10160">
            <a:solidFill>
              <a:srgbClr val="1E7A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87200" y="50400"/>
            <a:ext cx="23472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000" y="100800"/>
            <a:ext cx="22175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(b)  the two sides sit on different tokens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6400" y="2160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A9660C"/>
                </a:solidFill>
                <a:latin typeface="Arial"/>
              </a:rPr>
              <a:t>gₜ  what the loss depends on:   BOS holds 0.1%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6400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88160" y="786186"/>
            <a:ext cx="192959" cy="193013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09919" y="786960"/>
            <a:ext cx="192959" cy="192239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31680" y="360000"/>
            <a:ext cx="192959" cy="61920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53440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75200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96960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18720" y="953680"/>
            <a:ext cx="192959" cy="25519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40479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62239" y="9612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6640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1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38816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⟨hdr⟩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09919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user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3168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⟨/hdr⟩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5344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⏎⏎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27520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Write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9696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18720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poem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40479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707070"/>
                </a:solidFill>
                <a:latin typeface="Arial"/>
              </a:rPr>
              <a:t>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162239" y="1007999"/>
            <a:ext cx="192959" cy="129600"/>
          </a:xfrm>
          <a:prstGeom prst="roundRect">
            <a:avLst>
              <a:gd name="adj" fmla="val 16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80" b="0" i="0">
                <a:solidFill>
                  <a:srgbClr val="A9660C"/>
                </a:solidFill>
                <a:latin typeface="Arial"/>
              </a:rPr>
              <a:t>⟨eot⟩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66400" y="1166400"/>
            <a:ext cx="192959" cy="619200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38816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609919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3168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05344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27520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49696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18720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940479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162239" y="1166400"/>
            <a:ext cx="192959" cy="180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6400" y="1879200"/>
            <a:ext cx="2188799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B5342B"/>
                </a:solidFill>
                <a:latin typeface="Arial"/>
              </a:rPr>
              <a:t>‖xₜ‖²  what the objective weights by:   BOS holds 99.99%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66400" y="2145600"/>
            <a:ext cx="93600" cy="64800"/>
          </a:xfrm>
          <a:prstGeom prst="roundRect">
            <a:avLst>
              <a:gd name="adj" fmla="val 2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8800" y="2131200"/>
            <a:ext cx="5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B5342B"/>
                </a:solidFill>
                <a:latin typeface="Arial"/>
              </a:rPr>
              <a:t>sink token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68400" y="2145600"/>
            <a:ext cx="93600" cy="64800"/>
          </a:xfrm>
          <a:prstGeom prst="roundRect">
            <a:avLst>
              <a:gd name="adj" fmla="val 2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90800" y="2131200"/>
            <a:ext cx="5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A9660C"/>
                </a:solidFill>
                <a:latin typeface="Arial"/>
              </a:rPr>
              <a:t>format tokens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70400" y="2145600"/>
            <a:ext cx="93600" cy="64800"/>
          </a:xfrm>
          <a:prstGeom prst="roundRect">
            <a:avLst>
              <a:gd name="adj" fmla="val 2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92800" y="2131200"/>
            <a:ext cx="55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" b="0" i="0">
                <a:solidFill>
                  <a:srgbClr val="707070"/>
                </a:solidFill>
                <a:latin typeface="Arial"/>
              </a:rPr>
              <a:t>user 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66400" y="2268000"/>
            <a:ext cx="2188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707070"/>
                </a:solidFill>
                <a:latin typeface="Arial"/>
              </a:rPr>
              <a:t>one chat prompt, Llama-3.1-8B, layer-1 down_proj; shares over the whole exchange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491999" y="50400"/>
            <a:ext cx="1497600" cy="2419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56799" y="100800"/>
            <a:ext cx="13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(c)  the damage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71200" y="216000"/>
            <a:ext cx="13392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333333"/>
                </a:solidFill>
                <a:latin typeface="Arial"/>
              </a:rPr>
              <a:t>relative error of the block output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71200" y="316800"/>
            <a:ext cx="13392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0" i="0">
                <a:solidFill>
                  <a:srgbClr val="707070"/>
                </a:solidFill>
                <a:latin typeface="Arial"/>
              </a:rPr>
              <a:t>GPTQ against fp16, by token class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43199" y="597024"/>
            <a:ext cx="223200" cy="446976"/>
          </a:xfrm>
          <a:prstGeom prst="roundRect">
            <a:avLst>
              <a:gd name="adj" fmla="val 10000"/>
            </a:avLst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96399" y="503423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A9660C"/>
                </a:solidFill>
                <a:latin typeface="Arial"/>
              </a:rPr>
              <a:t>0.97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963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A9660C"/>
                </a:solidFill>
                <a:latin typeface="Arial"/>
              </a:rPr>
              <a:t>format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960000" y="785951"/>
            <a:ext cx="223200" cy="258048"/>
          </a:xfrm>
          <a:prstGeom prst="roundRect">
            <a:avLst>
              <a:gd name="adj" fmla="val 10000"/>
            </a:avLst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13199" y="692351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707070"/>
                </a:solidFill>
                <a:latin typeface="Arial"/>
              </a:rPr>
              <a:t>0.56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1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user text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76800" y="887328"/>
            <a:ext cx="223200" cy="156672"/>
          </a:xfrm>
          <a:prstGeom prst="roundRect">
            <a:avLst>
              <a:gd name="adj" fmla="val 10000"/>
            </a:avLst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29999" y="793727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2E5C8A"/>
                </a:solidFill>
                <a:latin typeface="Arial"/>
              </a:rPr>
              <a:t>0.34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29999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2E5C8A"/>
                </a:solidFill>
                <a:latin typeface="Arial"/>
              </a:rPr>
              <a:t>response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593600" y="1007136"/>
            <a:ext cx="223200" cy="36864"/>
          </a:xfrm>
          <a:prstGeom prst="roundRect">
            <a:avLst>
              <a:gd name="adj" fmla="val 10000"/>
            </a:avLst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46800" y="913536"/>
            <a:ext cx="316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1" i="0">
                <a:solidFill>
                  <a:srgbClr val="B5342B"/>
                </a:solidFill>
                <a:latin typeface="Arial"/>
              </a:rPr>
              <a:t>0.08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46800" y="1058400"/>
            <a:ext cx="31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600000" y="1267200"/>
            <a:ext cx="1281600" cy="331200"/>
          </a:xfrm>
          <a:prstGeom prst="roundRect">
            <a:avLst>
              <a:gd name="adj" fmla="val 10000"/>
            </a:avLst>
          </a:prstGeom>
          <a:solidFill>
            <a:srgbClr val="F7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00000" y="13032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B5342B"/>
                </a:solidFill>
                <a:latin typeface="Arial"/>
              </a:rPr>
              <a:t>IFEval   .77  →  .16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00000" y="1440000"/>
            <a:ext cx="12816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707070"/>
                </a:solidFill>
                <a:latin typeface="Arial"/>
              </a:rPr>
              <a:t>MMLU and perplexity unchanged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600000" y="1706400"/>
            <a:ext cx="1281600" cy="316800"/>
          </a:xfrm>
          <a:prstGeom prst="roundRect">
            <a:avLst>
              <a:gd name="adj" fmla="val 10000"/>
            </a:avLst>
          </a:prstGeom>
          <a:solidFill>
            <a:srgbClr val="DC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00000" y="1742400"/>
            <a:ext cx="12816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1E7A4A"/>
                </a:solidFill>
                <a:latin typeface="Arial"/>
              </a:rPr>
              <a:t>repair:  wₜ = gₜ / ‖xₜ‖²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00000" y="1872000"/>
            <a:ext cx="12816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" b="0" i="0">
                <a:solidFill>
                  <a:srgbClr val="1E7A4A"/>
                </a:solidFill>
                <a:latin typeface="Arial"/>
              </a:rPr>
              <a:t>put the upper row of (b) into H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240800" y="1598400"/>
            <a:ext cx="0" cy="93600"/>
          </a:xfrm>
          <a:prstGeom prst="line">
            <a:avLst/>
          </a:prstGeom>
          <a:ln w="11430">
            <a:solidFill>
              <a:srgbClr val="1E7A4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571200" y="2109600"/>
            <a:ext cx="13392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707070"/>
                </a:solidFill>
                <a:latin typeface="Arial"/>
              </a:rPr>
              <a:t>on Llama the layer-0 down_proj carries a second, weaker copy and both are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20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sink-forming layer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853200" y="1882799"/>
            <a:ext cx="0" cy="1404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19200" y="1753200"/>
            <a:ext cx="46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53200" y="1666800"/>
            <a:ext cx="0" cy="864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5200" y="1666800"/>
            <a:ext cx="5760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4400" y="1537200"/>
            <a:ext cx="28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gate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98400" y="1652400"/>
            <a:ext cx="0" cy="144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98400" y="1465199"/>
            <a:ext cx="0" cy="720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4000" y="1537200"/>
            <a:ext cx="28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up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007999" y="1652400"/>
            <a:ext cx="0" cy="144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07999" y="1465199"/>
            <a:ext cx="0" cy="720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9200" y="1335600"/>
            <a:ext cx="46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SiLU  ×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53200" y="1256400"/>
            <a:ext cx="0" cy="792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9200" y="1126800"/>
            <a:ext cx="468000" cy="122400"/>
          </a:xfrm>
          <a:prstGeom prst="roundRect">
            <a:avLst>
              <a:gd name="adj" fmla="val 18000"/>
            </a:avLst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53200" y="1011600"/>
            <a:ext cx="0" cy="1152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06400" y="910800"/>
            <a:ext cx="93600" cy="93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200" y="903600"/>
            <a:ext cx="10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7A7A7A"/>
                </a:solidFill>
                <a:latin typeface="Arial"/>
              </a:rPr>
              <a:t>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1200" y="1083600"/>
            <a:ext cx="777600" cy="6192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892800" y="1321200"/>
            <a:ext cx="619200" cy="14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MLP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3200" y="2005200"/>
            <a:ext cx="4500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03200" y="237600"/>
            <a:ext cx="0" cy="17676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00000" y="957600"/>
            <a:ext cx="4032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00000" y="237600"/>
            <a:ext cx="4032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290600" y="945000"/>
            <a:ext cx="25200" cy="25200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53200" y="795600"/>
            <a:ext cx="0" cy="1152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8400" y="849600"/>
            <a:ext cx="1173600" cy="0"/>
          </a:xfrm>
          <a:prstGeom prst="line">
            <a:avLst/>
          </a:prstGeom>
          <a:ln w="6350">
            <a:solidFill>
              <a:srgbClr val="7A7A7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9200" y="666000"/>
            <a:ext cx="46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53200" y="583200"/>
            <a:ext cx="0" cy="82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9200" y="374400"/>
            <a:ext cx="468000" cy="2016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attention</a:t>
            </a:r>
          </a:p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Q K V · 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1200" y="331200"/>
            <a:ext cx="777600" cy="2880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1058400" y="403200"/>
            <a:ext cx="288000" cy="14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attn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853200" y="291600"/>
            <a:ext cx="0" cy="82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53200" y="129600"/>
            <a:ext cx="0" cy="612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16200000">
            <a:off x="-493200" y="1400400"/>
            <a:ext cx="1152000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current layer</a:t>
            </a: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266400" y="432000"/>
            <a:ext cx="698400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next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6800" y="1213199"/>
            <a:ext cx="4248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input xₜ</a:t>
            </a:r>
          </a:p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builds H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6000" y="1292400"/>
            <a:ext cx="255600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36800" y="986399"/>
            <a:ext cx="4248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output ‖h‖</a:t>
            </a:r>
          </a:p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475 at BOS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76000" y="1065600"/>
            <a:ext cx="255600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422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2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two sides, different tokens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0000" y="165600"/>
            <a:ext cx="2034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gₜ   what the loss depends 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30000" y="1800000"/>
            <a:ext cx="2034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‖xₜ‖²   what the objective weights by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494000" y="1000799"/>
            <a:ext cx="2106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494000" y="1152000"/>
            <a:ext cx="2106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530000" y="990000"/>
            <a:ext cx="171000" cy="1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530000" y="1152000"/>
            <a:ext cx="171000" cy="619199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12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37000" y="812275"/>
            <a:ext cx="171000" cy="188524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737000" y="11520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19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⟨hdr⟩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4000" y="813030"/>
            <a:ext cx="171000" cy="187769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944000" y="11520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6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user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51000" y="396000"/>
            <a:ext cx="171000" cy="604799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2151000" y="11520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3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⟨/hdr⟩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58000" y="990000"/>
            <a:ext cx="171000" cy="108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2358000" y="11520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40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⏎⏎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5000" y="990000"/>
            <a:ext cx="171000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2565000" y="11520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47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Write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71999" y="990000"/>
            <a:ext cx="171000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2771999" y="11520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54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78999" y="975874"/>
            <a:ext cx="171000" cy="24925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978999" y="11520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61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poem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86000" y="988385"/>
            <a:ext cx="171000" cy="12414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3186000" y="11520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68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93000" y="988845"/>
            <a:ext cx="171000" cy="11954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3393000" y="11520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75000" y="1022400"/>
            <a:ext cx="2069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⟨eot⟩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17500" y="878399"/>
            <a:ext cx="396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BOS 0.1%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737000" y="360000"/>
            <a:ext cx="584999" cy="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737000" y="3600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321999" y="3600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597499" y="259200"/>
            <a:ext cx="864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86208"/>
                </a:solidFill>
                <a:latin typeface="Arial"/>
              </a:rPr>
              <a:t>header tokens 82%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55000" y="1368000"/>
            <a:ext cx="12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BOS 99.99%</a:t>
            </a:r>
          </a:p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every other token below 0.01%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30000" y="1962000"/>
            <a:ext cx="93600" cy="576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52400" y="19440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sink token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60000" y="1962000"/>
            <a:ext cx="93600" cy="576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82400" y="19440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format tokens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90000" y="1962000"/>
            <a:ext cx="93600" cy="576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2400" y="19440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user text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708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(c)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88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damage and repair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08000" y="1800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IFEval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97600" y="302400"/>
            <a:ext cx="559103" cy="100800"/>
          </a:xfrm>
          <a:prstGeom prst="rect">
            <a:avLst/>
          </a:prstGeom>
          <a:solidFill>
            <a:srgbClr val="3B7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08000" y="3096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24588C"/>
                </a:solidFill>
                <a:latin typeface="Arial"/>
              </a:rPr>
              <a:t>fp16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78304" y="309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4588C"/>
                </a:solidFill>
                <a:latin typeface="Arial"/>
              </a:rPr>
              <a:t>0.77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97600" y="428400"/>
            <a:ext cx="411319" cy="10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08000" y="4356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6B6B"/>
                </a:solidFill>
                <a:latin typeface="Arial"/>
              </a:rPr>
              <a:t>RTN 3-bit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30520" y="435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6B6B6B"/>
                </a:solidFill>
                <a:latin typeface="Arial"/>
              </a:rPr>
              <a:t>0.56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97600" y="554400"/>
            <a:ext cx="112839" cy="10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08000" y="5616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A92C21"/>
                </a:solidFill>
                <a:latin typeface="Arial"/>
              </a:rPr>
              <a:t>GPTQ 3-bit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32040" y="561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0.15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97600" y="680400"/>
            <a:ext cx="464463" cy="100800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08000" y="6876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1C7345"/>
                </a:solidFill>
                <a:latin typeface="Arial"/>
              </a:rPr>
              <a:t>corrected 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83664" y="687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1C7345"/>
                </a:solidFill>
                <a:latin typeface="Arial"/>
              </a:rPr>
              <a:t>0.64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197600" y="288000"/>
            <a:ext cx="0" cy="5004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3708000" y="8964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MMLU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97600" y="1018800"/>
            <a:ext cx="559376" cy="100800"/>
          </a:xfrm>
          <a:prstGeom prst="rect">
            <a:avLst/>
          </a:prstGeom>
          <a:solidFill>
            <a:srgbClr val="3B7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08000" y="10260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24588C"/>
                </a:solidFill>
                <a:latin typeface="Arial"/>
              </a:rPr>
              <a:t>fp16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78577" y="10260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4588C"/>
                </a:solidFill>
                <a:latin typeface="Arial"/>
              </a:rPr>
              <a:t>0.68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97600" y="1144800"/>
            <a:ext cx="340703" cy="10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08000" y="11520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6B6B"/>
                </a:solidFill>
                <a:latin typeface="Arial"/>
              </a:rPr>
              <a:t>RTN 3-bit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59904" y="11520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6B6B6B"/>
                </a:solidFill>
                <a:latin typeface="Arial"/>
              </a:rPr>
              <a:t>0.42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97600" y="1270800"/>
            <a:ext cx="429155" cy="10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708000" y="12780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A92C21"/>
                </a:solidFill>
                <a:latin typeface="Arial"/>
              </a:rPr>
              <a:t>GPTQ 3-bit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648356" y="12780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0.52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97600" y="1396800"/>
            <a:ext cx="420965" cy="100800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708000" y="14040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1C7345"/>
                </a:solidFill>
                <a:latin typeface="Arial"/>
              </a:rPr>
              <a:t>corrected 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40166" y="14040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1C7345"/>
                </a:solidFill>
                <a:latin typeface="Arial"/>
              </a:rPr>
              <a:t>0.51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197600" y="1004400"/>
            <a:ext cx="0" cy="5004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3708000" y="15624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1C7345"/>
                </a:solidFill>
                <a:latin typeface="Arial"/>
              </a:rPr>
              <a:t>corrected H:  GPTQ 3-bit with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97600" y="16488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1C7345"/>
                </a:solidFill>
                <a:latin typeface="Arial"/>
              </a:rPr>
              <a:t>wₜ = gₜ / ‖xₜ‖²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08000" y="17568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Llama-3.1-8B-Instruct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20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400" y="7200"/>
            <a:ext cx="1339200" cy="2073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00400" y="7200"/>
            <a:ext cx="2239200" cy="2073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86400" y="7200"/>
            <a:ext cx="1339200" cy="2073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sink-forming layer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853200" y="1882799"/>
            <a:ext cx="0" cy="1404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9200" y="1753200"/>
            <a:ext cx="46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53200" y="1666800"/>
            <a:ext cx="0" cy="864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5200" y="1666800"/>
            <a:ext cx="5760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4400" y="1537200"/>
            <a:ext cx="28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gate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98400" y="1652400"/>
            <a:ext cx="0" cy="144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98400" y="1465199"/>
            <a:ext cx="0" cy="720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4000" y="1537200"/>
            <a:ext cx="28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up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007999" y="1652400"/>
            <a:ext cx="0" cy="144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7999" y="1465199"/>
            <a:ext cx="0" cy="720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9200" y="1335600"/>
            <a:ext cx="46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SiLU  ×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53200" y="1256400"/>
            <a:ext cx="0" cy="792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9200" y="1126800"/>
            <a:ext cx="468000" cy="122400"/>
          </a:xfrm>
          <a:prstGeom prst="roundRect">
            <a:avLst>
              <a:gd name="adj" fmla="val 18000"/>
            </a:avLst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53200" y="1011600"/>
            <a:ext cx="0" cy="1152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06400" y="910800"/>
            <a:ext cx="93600" cy="93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200" y="903600"/>
            <a:ext cx="10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7A7A7A"/>
                </a:solidFill>
                <a:latin typeface="Arial"/>
              </a:rPr>
              <a:t>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1200" y="1083600"/>
            <a:ext cx="777600" cy="6192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892800" y="1321200"/>
            <a:ext cx="619200" cy="14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MLP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3200" y="2005200"/>
            <a:ext cx="4500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03200" y="237600"/>
            <a:ext cx="0" cy="17676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00000" y="957600"/>
            <a:ext cx="4032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00000" y="237600"/>
            <a:ext cx="4032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290600" y="945000"/>
            <a:ext cx="25200" cy="25200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53200" y="795600"/>
            <a:ext cx="0" cy="1152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8400" y="849600"/>
            <a:ext cx="1173600" cy="0"/>
          </a:xfrm>
          <a:prstGeom prst="line">
            <a:avLst/>
          </a:prstGeom>
          <a:ln w="6350">
            <a:solidFill>
              <a:srgbClr val="7A7A7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9200" y="666000"/>
            <a:ext cx="4680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853200" y="583200"/>
            <a:ext cx="0" cy="82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19200" y="374400"/>
            <a:ext cx="468000" cy="2016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attention</a:t>
            </a:r>
          </a:p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Q K V · 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1200" y="331200"/>
            <a:ext cx="777600" cy="2880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1058400" y="403200"/>
            <a:ext cx="288000" cy="14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attn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853200" y="291600"/>
            <a:ext cx="0" cy="82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3200" y="129600"/>
            <a:ext cx="0" cy="612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 rot="16200000">
            <a:off x="-493200" y="1400400"/>
            <a:ext cx="1152000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current layer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-266400" y="432000"/>
            <a:ext cx="698400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next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800" y="1213199"/>
            <a:ext cx="4248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input xₜ</a:t>
            </a:r>
          </a:p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builds 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6000" y="1292400"/>
            <a:ext cx="255600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36800" y="986399"/>
            <a:ext cx="4248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output ‖h‖</a:t>
            </a:r>
          </a:p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475 at BOS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6000" y="1065600"/>
            <a:ext cx="255600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22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2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two sides of the objective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0000" y="165600"/>
            <a:ext cx="2034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gₜ   what the loss depends 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0000" y="1800000"/>
            <a:ext cx="2034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‖xₜ‖²   what the objective weights by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494000" y="979200"/>
            <a:ext cx="2106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494000" y="1173600"/>
            <a:ext cx="21060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530000" y="968400"/>
            <a:ext cx="171000" cy="1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530000" y="1173600"/>
            <a:ext cx="171000" cy="5976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82300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37000" y="797408"/>
            <a:ext cx="171000" cy="181791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737000" y="11736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89300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start</a:t>
            </a:r>
          </a:p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4000" y="798136"/>
            <a:ext cx="171000" cy="181063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1944000" y="11736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96300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user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51000" y="396000"/>
            <a:ext cx="171000" cy="5832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2151000" y="11736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03300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end</a:t>
            </a:r>
          </a:p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58000" y="968400"/>
            <a:ext cx="171000" cy="108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2358000" y="11736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10300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\n\n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5000" y="968400"/>
            <a:ext cx="171000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2565000" y="11736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17300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Write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71999" y="968400"/>
            <a:ext cx="171000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771999" y="11736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24299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78999" y="955164"/>
            <a:ext cx="171000" cy="24035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2978999" y="11736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1300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poem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86000" y="967228"/>
            <a:ext cx="171000" cy="11971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3186000" y="11736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38300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93000" y="967672"/>
            <a:ext cx="171000" cy="11527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3393000" y="1173600"/>
            <a:ext cx="17100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45300" y="9864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eot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17500" y="856800"/>
            <a:ext cx="396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BOS 0.1%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737000" y="360000"/>
            <a:ext cx="584999" cy="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737000" y="3600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321999" y="3600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453499" y="259200"/>
            <a:ext cx="1152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86208"/>
                </a:solidFill>
                <a:latin typeface="Arial"/>
              </a:rPr>
              <a:t>three header tokens 82%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55000" y="1389600"/>
            <a:ext cx="12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BOS 99.99%</a:t>
            </a:r>
          </a:p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every other token below 0.01%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30000" y="1962000"/>
            <a:ext cx="93600" cy="576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52400" y="19440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sink token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60000" y="1962000"/>
            <a:ext cx="93600" cy="576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2400" y="19440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format tokens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90000" y="1962000"/>
            <a:ext cx="93600" cy="576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12400" y="19440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user text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708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(c)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88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Effect and repair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08000" y="1800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IFEval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97600" y="302400"/>
            <a:ext cx="559103" cy="100800"/>
          </a:xfrm>
          <a:prstGeom prst="rect">
            <a:avLst/>
          </a:prstGeom>
          <a:solidFill>
            <a:srgbClr val="3B7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08000" y="3096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24588C"/>
                </a:solidFill>
                <a:latin typeface="Arial"/>
              </a:rPr>
              <a:t>fp16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78304" y="309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4588C"/>
                </a:solidFill>
                <a:latin typeface="Arial"/>
              </a:rPr>
              <a:t>0.77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97600" y="428400"/>
            <a:ext cx="411319" cy="10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08000" y="4356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6B6B"/>
                </a:solidFill>
                <a:latin typeface="Arial"/>
              </a:rPr>
              <a:t>RTN 3-bit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30520" y="435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6B6B6B"/>
                </a:solidFill>
                <a:latin typeface="Arial"/>
              </a:rPr>
              <a:t>0.56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97600" y="554400"/>
            <a:ext cx="112839" cy="10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08000" y="5616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A92C21"/>
                </a:solidFill>
                <a:latin typeface="Arial"/>
              </a:rPr>
              <a:t>GPTQ 3-bit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32040" y="561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0.15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97600" y="680400"/>
            <a:ext cx="464463" cy="100800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08000" y="6876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1C7345"/>
                </a:solidFill>
                <a:latin typeface="Arial"/>
              </a:rPr>
              <a:t>corrected H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83664" y="687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1C7345"/>
                </a:solidFill>
                <a:latin typeface="Arial"/>
              </a:rPr>
              <a:t>0.64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4197600" y="288000"/>
            <a:ext cx="0" cy="5004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708000" y="8964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MMLU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97600" y="1018800"/>
            <a:ext cx="559376" cy="100800"/>
          </a:xfrm>
          <a:prstGeom prst="rect">
            <a:avLst/>
          </a:prstGeom>
          <a:solidFill>
            <a:srgbClr val="3B7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08000" y="10260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24588C"/>
                </a:solidFill>
                <a:latin typeface="Arial"/>
              </a:rPr>
              <a:t>fp16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78577" y="10260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4588C"/>
                </a:solidFill>
                <a:latin typeface="Arial"/>
              </a:rPr>
              <a:t>0.68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97600" y="1144800"/>
            <a:ext cx="340703" cy="10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708000" y="11520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6B6B6B"/>
                </a:solidFill>
                <a:latin typeface="Arial"/>
              </a:rPr>
              <a:t>RTN 3-bit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59904" y="11520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6B6B6B"/>
                </a:solidFill>
                <a:latin typeface="Arial"/>
              </a:rPr>
              <a:t>0.42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97600" y="1270800"/>
            <a:ext cx="429155" cy="10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708000" y="12780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A92C21"/>
                </a:solidFill>
                <a:latin typeface="Arial"/>
              </a:rPr>
              <a:t>GPTQ 3-bit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48356" y="12780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0.52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197600" y="1396800"/>
            <a:ext cx="420965" cy="100800"/>
          </a:xfrm>
          <a:prstGeom prst="rect">
            <a:avLst/>
          </a:prstGeom>
          <a:solidFill>
            <a:srgbClr val="2F9E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708000" y="1404000"/>
            <a:ext cx="46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 i="0">
                <a:solidFill>
                  <a:srgbClr val="1C7345"/>
                </a:solidFill>
                <a:latin typeface="Arial"/>
              </a:rPr>
              <a:t>corrected H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40166" y="14040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1C7345"/>
                </a:solidFill>
                <a:latin typeface="Arial"/>
              </a:rPr>
              <a:t>0.51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197600" y="1004400"/>
            <a:ext cx="0" cy="5004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3708000" y="15624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1C7345"/>
                </a:solidFill>
                <a:latin typeface="Arial"/>
              </a:rPr>
              <a:t>corrected H:  GPTQ 3-bit with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197600" y="16488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1C7345"/>
                </a:solidFill>
                <a:latin typeface="Arial"/>
              </a:rPr>
              <a:t>wₜ = gₜ / ‖xₜ‖²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708000" y="17568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Llama-3.1-8B-Instruct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8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400" y="7200"/>
            <a:ext cx="1339200" cy="1857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00400" y="7200"/>
            <a:ext cx="2041200" cy="1857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8400" y="7200"/>
            <a:ext cx="1537200" cy="1857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sink-forming layer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853200" y="1677600"/>
            <a:ext cx="0" cy="129599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9200" y="15552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53200" y="1483199"/>
            <a:ext cx="0" cy="72001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5200" y="1483199"/>
            <a:ext cx="5760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4400" y="1360800"/>
            <a:ext cx="28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gate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98400" y="1468800"/>
            <a:ext cx="0" cy="14399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98400" y="1303200"/>
            <a:ext cx="0" cy="576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4000" y="1360800"/>
            <a:ext cx="28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up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007999" y="1468800"/>
            <a:ext cx="0" cy="14399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07999" y="1303200"/>
            <a:ext cx="0" cy="576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9200" y="11808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SiLU  ×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53200" y="1123200"/>
            <a:ext cx="0" cy="576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9200" y="1000799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53200" y="914400"/>
            <a:ext cx="0" cy="86399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10000" y="820799"/>
            <a:ext cx="86400" cy="8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200" y="810000"/>
            <a:ext cx="10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7A7A7A"/>
                </a:solidFill>
                <a:latin typeface="Arial"/>
              </a:rPr>
              <a:t>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1200" y="961200"/>
            <a:ext cx="777600" cy="5544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925200" y="1166400"/>
            <a:ext cx="554400" cy="14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MLP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3200" y="1789200"/>
            <a:ext cx="4500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303200" y="223200"/>
            <a:ext cx="0" cy="15660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400" y="864000"/>
            <a:ext cx="4068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96400" y="223200"/>
            <a:ext cx="4068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290600" y="851399"/>
            <a:ext cx="25200" cy="25200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53200" y="720000"/>
            <a:ext cx="0" cy="100799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8400" y="763200"/>
            <a:ext cx="1173600" cy="0"/>
          </a:xfrm>
          <a:prstGeom prst="line">
            <a:avLst/>
          </a:prstGeom>
          <a:ln w="6350">
            <a:solidFill>
              <a:srgbClr val="7A7A7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9200" y="5976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853200" y="532800"/>
            <a:ext cx="0" cy="64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19200" y="338400"/>
            <a:ext cx="468000" cy="187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attention</a:t>
            </a:r>
          </a:p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Q K V · 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1200" y="298800"/>
            <a:ext cx="777600" cy="2664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1069200" y="360000"/>
            <a:ext cx="266400" cy="14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attn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853200" y="273600"/>
            <a:ext cx="0" cy="64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3200" y="122400"/>
            <a:ext cx="0" cy="576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 rot="16200000">
            <a:off x="-428399" y="1249200"/>
            <a:ext cx="1022399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current layer</a:t>
            </a:r>
          </a:p>
        </p:txBody>
      </p:sp>
      <p:sp>
        <p:nvSpPr>
          <p:cNvPr id="41" name="TextBox 40"/>
          <p:cNvSpPr txBox="1"/>
          <p:nvPr/>
        </p:nvSpPr>
        <p:spPr>
          <a:xfrm rot="16200000">
            <a:off x="-226800" y="385199"/>
            <a:ext cx="619200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next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800" y="1069200"/>
            <a:ext cx="4248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input xₜ</a:t>
            </a:r>
          </a:p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builds 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6000" y="1148400"/>
            <a:ext cx="255600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36800" y="885599"/>
            <a:ext cx="4248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output ‖h‖</a:t>
            </a:r>
          </a:p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475 at BOS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6000" y="964799"/>
            <a:ext cx="255600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22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2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two sides of the objective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0000" y="158400"/>
            <a:ext cx="1835999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gₜ   what the loss depends 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0000" y="1605600"/>
            <a:ext cx="1835999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‖xₜ‖²   what the objective weights by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494000" y="885600"/>
            <a:ext cx="1907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494000" y="1065600"/>
            <a:ext cx="1907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530000" y="874800"/>
            <a:ext cx="151199" cy="1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530000" y="1065600"/>
            <a:ext cx="151199" cy="5184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72400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17199" y="724007"/>
            <a:ext cx="151199" cy="161592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717199" y="1065600"/>
            <a:ext cx="15119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59599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start</a:t>
            </a:r>
          </a:p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04400" y="724655"/>
            <a:ext cx="151199" cy="160944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1904400" y="1065600"/>
            <a:ext cx="15119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46800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user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91599" y="367200"/>
            <a:ext cx="151199" cy="5184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2091599" y="1065600"/>
            <a:ext cx="15119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33999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end</a:t>
            </a:r>
          </a:p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78800" y="874800"/>
            <a:ext cx="151199" cy="108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2278800" y="1065600"/>
            <a:ext cx="15119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21200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\n\n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66000" y="874800"/>
            <a:ext cx="151199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2466000" y="1065600"/>
            <a:ext cx="15119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08400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Write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53199" y="874800"/>
            <a:ext cx="151199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53199" y="1065600"/>
            <a:ext cx="15119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5599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40399" y="864234"/>
            <a:ext cx="151199" cy="21365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2840399" y="1065600"/>
            <a:ext cx="15119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82799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poem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27600" y="874800"/>
            <a:ext cx="151199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3027600" y="1065600"/>
            <a:ext cx="15119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70000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14800" y="874800"/>
            <a:ext cx="151199" cy="108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3214800" y="1065600"/>
            <a:ext cx="15119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57200" y="885600"/>
            <a:ext cx="2664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eot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07600" y="770399"/>
            <a:ext cx="396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BOS 0.1%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717199" y="331200"/>
            <a:ext cx="525601" cy="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717199" y="3312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242800" y="3312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404000" y="230400"/>
            <a:ext cx="1152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86208"/>
                </a:solidFill>
                <a:latin typeface="Arial"/>
              </a:rPr>
              <a:t>three header tokens 82%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35199" y="1245600"/>
            <a:ext cx="1224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BOS 99.99%</a:t>
            </a:r>
          </a:p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every other token below 0.01%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30000" y="1753200"/>
            <a:ext cx="93600" cy="576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52400" y="17352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sink token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42000" y="1753200"/>
            <a:ext cx="93600" cy="576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64400" y="17352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format tokens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54000" y="1753200"/>
            <a:ext cx="93600" cy="576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76400" y="17352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user text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510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(c)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90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What the compensation does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3733199" y="280800"/>
            <a:ext cx="0" cy="907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733199" y="1188000"/>
            <a:ext cx="1227601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707999" y="1188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733199" y="1188000"/>
            <a:ext cx="1227601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272400" y="1148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¼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707999" y="10368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733199" y="1036800"/>
            <a:ext cx="1227601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3272400" y="9972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½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707999" y="8856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733199" y="885600"/>
            <a:ext cx="1227601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3272400" y="8460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3707999" y="7344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3733199" y="734400"/>
            <a:ext cx="1227601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3272400" y="694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3707999" y="5832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733199" y="583200"/>
            <a:ext cx="1227601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3272400" y="5435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4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707999" y="432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33199" y="432000"/>
            <a:ext cx="1227601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3272400" y="392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3707999" y="2808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33199" y="280800"/>
            <a:ext cx="1227601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3272400" y="2412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3733199" y="885600"/>
            <a:ext cx="1227601" cy="0"/>
          </a:xfrm>
          <a:prstGeom prst="line">
            <a:avLst/>
          </a:prstGeom>
          <a:ln w="7620">
            <a:solidFill>
              <a:srgbClr val="7A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4492800" y="9000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7A7A7A"/>
                </a:solidFill>
                <a:latin typeface="Arial"/>
              </a:rPr>
              <a:t>same as RTN</a:t>
            </a:r>
          </a:p>
        </p:txBody>
      </p:sp>
      <p:sp>
        <p:nvSpPr>
          <p:cNvPr id="121" name="TextBox 120"/>
          <p:cNvSpPr txBox="1"/>
          <p:nvPr/>
        </p:nvSpPr>
        <p:spPr>
          <a:xfrm rot="16200000">
            <a:off x="3117600" y="680400"/>
            <a:ext cx="907199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GPTQ error ÷ RTN error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774120" y="885600"/>
            <a:ext cx="122760" cy="183694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715200" y="1076494"/>
            <a:ext cx="240600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92C21"/>
                </a:solidFill>
                <a:latin typeface="Arial"/>
              </a:rPr>
              <a:t>0.43×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79200" y="1188000"/>
            <a:ext cx="3126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978720" y="693479"/>
            <a:ext cx="122760" cy="19212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19800" y="607079"/>
            <a:ext cx="240600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86208"/>
                </a:solidFill>
                <a:latin typeface="Arial"/>
              </a:rPr>
              <a:t>2.4×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83800" y="1188000"/>
            <a:ext cx="3126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start</a:t>
            </a:r>
          </a:p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183320" y="526527"/>
            <a:ext cx="122760" cy="359072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124400" y="440127"/>
            <a:ext cx="240600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B6B6B"/>
                </a:solidFill>
                <a:latin typeface="Arial"/>
              </a:rPr>
              <a:t>5.2×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088400" y="1188000"/>
            <a:ext cx="3126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system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387920" y="526189"/>
            <a:ext cx="122760" cy="35941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329000" y="439789"/>
            <a:ext cx="240600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86208"/>
                </a:solidFill>
                <a:latin typeface="Arial"/>
              </a:rPr>
              <a:t>5.2×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293000" y="1188000"/>
            <a:ext cx="3126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end</a:t>
            </a:r>
          </a:p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92520" y="377946"/>
            <a:ext cx="122760" cy="507653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533600" y="291546"/>
            <a:ext cx="240600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86208"/>
                </a:solidFill>
                <a:latin typeface="Arial"/>
              </a:rPr>
              <a:t>10.2×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97600" y="1188000"/>
            <a:ext cx="3126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\n\n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797120" y="620841"/>
            <a:ext cx="122760" cy="26475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38200" y="534441"/>
            <a:ext cx="240600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B6B6B"/>
                </a:solidFill>
                <a:latin typeface="Arial"/>
              </a:rPr>
              <a:t>3.4×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702200" y="1188000"/>
            <a:ext cx="3126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Cutting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553199" y="1368000"/>
            <a:ext cx="14076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layer-1 down_proj, by prompt position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53199" y="1468800"/>
            <a:ext cx="14076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BOS protected, format tokens pay</a:t>
            </a:r>
          </a:p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→ IFEval collapses (Fig. 2)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553199" y="1663200"/>
            <a:ext cx="14076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1C7345"/>
                </a:solidFill>
                <a:latin typeface="Arial"/>
              </a:rPr>
              <a:t>repair:  wₜ = gₜ / ‖xₜ‖²  (Sec. 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655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400" y="7200"/>
            <a:ext cx="1087200" cy="1641599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52000" y="7200"/>
            <a:ext cx="3873600" cy="1641599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2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layer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32800" y="1490400"/>
            <a:ext cx="0" cy="1116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3200" y="1360800"/>
            <a:ext cx="6192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32800" y="1238400"/>
            <a:ext cx="0" cy="1224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3200" y="1108800"/>
            <a:ext cx="619200" cy="122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gate · up · SiLU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32800" y="986399"/>
            <a:ext cx="0" cy="122401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1600" y="1000799"/>
            <a:ext cx="28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A92C21"/>
                </a:solidFill>
                <a:latin typeface="Arial"/>
              </a:rPr>
              <a:t>xₜ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3200" y="856800"/>
            <a:ext cx="619200" cy="122400"/>
          </a:xfrm>
          <a:prstGeom prst="roundRect">
            <a:avLst>
              <a:gd name="adj" fmla="val 18000"/>
            </a:avLst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32800" y="716400"/>
            <a:ext cx="0" cy="1404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1600" y="741600"/>
            <a:ext cx="324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1">
                <a:solidFill>
                  <a:srgbClr val="A92C21"/>
                </a:solidFill>
                <a:latin typeface="Arial"/>
              </a:rPr>
              <a:t>h</a:t>
            </a:r>
          </a:p>
        </p:txBody>
      </p:sp>
      <p:sp>
        <p:nvSpPr>
          <p:cNvPr id="16" name="Oval 15"/>
          <p:cNvSpPr/>
          <p:nvPr/>
        </p:nvSpPr>
        <p:spPr>
          <a:xfrm>
            <a:off x="489599" y="622800"/>
            <a:ext cx="86400" cy="8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800" y="612000"/>
            <a:ext cx="10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7A7A7A"/>
                </a:solidFill>
                <a:latin typeface="Arial"/>
              </a:rPr>
              <a:t>+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32800" y="378000"/>
            <a:ext cx="0" cy="244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2800" y="1584000"/>
            <a:ext cx="439199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71999" y="666000"/>
            <a:ext cx="0" cy="9180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76000" y="666000"/>
            <a:ext cx="395999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22399" y="813599"/>
            <a:ext cx="820800" cy="4608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600" y="1278000"/>
            <a:ext cx="32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i="0">
                <a:solidFill>
                  <a:srgbClr val="7A7A7A"/>
                </a:solidFill>
                <a:latin typeface="Arial"/>
              </a:rPr>
              <a:t>MLP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" y="223200"/>
            <a:ext cx="1044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hₜ  →  next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" y="1540800"/>
            <a:ext cx="288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>
                <a:solidFill>
                  <a:srgbClr val="6B6B6B"/>
                </a:solidFill>
                <a:latin typeface="Arial"/>
              </a:rPr>
              <a:t>hₜ₋₁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8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One chat prompt,  disc area = value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91599" y="223200"/>
            <a:ext cx="316800" cy="165600"/>
          </a:xfrm>
          <a:prstGeom prst="roundRect">
            <a:avLst>
              <a:gd name="adj" fmla="val 12000"/>
            </a:avLst>
          </a:prstGeom>
          <a:solidFill>
            <a:srgbClr val="F9DBD7"/>
          </a:solidFill>
          <a:ln w="5080">
            <a:solidFill>
              <a:srgbClr val="D23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51600" y="223200"/>
            <a:ext cx="316800" cy="1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start</a:t>
            </a:r>
          </a:p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1600" y="223200"/>
            <a:ext cx="316800" cy="1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role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71600" y="223200"/>
            <a:ext cx="316800" cy="1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end</a:t>
            </a:r>
          </a:p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31600" y="223200"/>
            <a:ext cx="316800" cy="1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\n\n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91600" y="223200"/>
            <a:ext cx="316800" cy="1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text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600" y="223200"/>
            <a:ext cx="316800" cy="1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1600" y="223200"/>
            <a:ext cx="316800" cy="165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text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070000" y="583200"/>
            <a:ext cx="2880000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88000" y="496800"/>
            <a:ext cx="864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‖xₜ‖²   weight in 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000" y="590400"/>
            <a:ext cx="86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share of the row</a:t>
            </a:r>
          </a:p>
        </p:txBody>
      </p:sp>
      <p:sp>
        <p:nvSpPr>
          <p:cNvPr id="39" name="Oval 38"/>
          <p:cNvSpPr/>
          <p:nvPr/>
        </p:nvSpPr>
        <p:spPr>
          <a:xfrm>
            <a:off x="2131204" y="464404"/>
            <a:ext cx="237591" cy="237591"/>
          </a:xfrm>
          <a:prstGeom prst="ellipse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0" name="Oval 39"/>
          <p:cNvSpPr/>
          <p:nvPr/>
        </p:nvSpPr>
        <p:spPr>
          <a:xfrm>
            <a:off x="2597400" y="570600"/>
            <a:ext cx="25200" cy="25200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2957400" y="570600"/>
            <a:ext cx="25200" cy="25200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3317400" y="570600"/>
            <a:ext cx="25200" cy="25200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3677400" y="570600"/>
            <a:ext cx="25200" cy="25200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" name="Oval 43"/>
          <p:cNvSpPr/>
          <p:nvPr/>
        </p:nvSpPr>
        <p:spPr>
          <a:xfrm>
            <a:off x="4037400" y="570600"/>
            <a:ext cx="25200" cy="25200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5" name="Oval 44"/>
          <p:cNvSpPr/>
          <p:nvPr/>
        </p:nvSpPr>
        <p:spPr>
          <a:xfrm>
            <a:off x="4397400" y="570600"/>
            <a:ext cx="25200" cy="25200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4757400" y="570600"/>
            <a:ext cx="25200" cy="25200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070000" y="943200"/>
            <a:ext cx="2880000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88000" y="856800"/>
            <a:ext cx="864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gₜ   loss sensitivity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000" y="950400"/>
            <a:ext cx="86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share of the row</a:t>
            </a:r>
          </a:p>
        </p:txBody>
      </p:sp>
      <p:sp>
        <p:nvSpPr>
          <p:cNvPr id="50" name="Oval 49"/>
          <p:cNvSpPr/>
          <p:nvPr/>
        </p:nvSpPr>
        <p:spPr>
          <a:xfrm>
            <a:off x="2237400" y="930600"/>
            <a:ext cx="25200" cy="25200"/>
          </a:xfrm>
          <a:prstGeom prst="ellipse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1" name="Oval 50"/>
          <p:cNvSpPr/>
          <p:nvPr/>
        </p:nvSpPr>
        <p:spPr>
          <a:xfrm>
            <a:off x="2562917" y="896117"/>
            <a:ext cx="94165" cy="94165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2" name="Oval 51"/>
          <p:cNvSpPr/>
          <p:nvPr/>
        </p:nvSpPr>
        <p:spPr>
          <a:xfrm>
            <a:off x="2923011" y="896211"/>
            <a:ext cx="93976" cy="93976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3245669" y="858869"/>
            <a:ext cx="168660" cy="168660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Oval 53"/>
          <p:cNvSpPr/>
          <p:nvPr/>
        </p:nvSpPr>
        <p:spPr>
          <a:xfrm>
            <a:off x="3677400" y="930600"/>
            <a:ext cx="25200" cy="25200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5" name="Oval 54"/>
          <p:cNvSpPr/>
          <p:nvPr/>
        </p:nvSpPr>
        <p:spPr>
          <a:xfrm>
            <a:off x="4037400" y="930600"/>
            <a:ext cx="25200" cy="25200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6" name="Oval 55"/>
          <p:cNvSpPr/>
          <p:nvPr/>
        </p:nvSpPr>
        <p:spPr>
          <a:xfrm>
            <a:off x="4397400" y="930600"/>
            <a:ext cx="25200" cy="25200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7" name="Oval 56"/>
          <p:cNvSpPr/>
          <p:nvPr/>
        </p:nvSpPr>
        <p:spPr>
          <a:xfrm>
            <a:off x="4752880" y="926080"/>
            <a:ext cx="34239" cy="34239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90400" y="540000"/>
            <a:ext cx="432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99.99%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38000" y="439200"/>
            <a:ext cx="1224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every other position below 0.01%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0000" y="986400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0.1%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502000" y="822869"/>
            <a:ext cx="936000" cy="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502000" y="822869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438000" y="822869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682000" y="732869"/>
            <a:ext cx="576000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86208"/>
                </a:solidFill>
                <a:latin typeface="Arial"/>
              </a:rPr>
              <a:t>82%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070000" y="1324800"/>
            <a:ext cx="2880000" cy="0"/>
          </a:xfrm>
          <a:prstGeom prst="line">
            <a:avLst/>
          </a:prstGeom>
          <a:ln w="635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188000" y="1238400"/>
            <a:ext cx="864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262626"/>
                </a:solidFill>
                <a:latin typeface="Arial"/>
              </a:rPr>
              <a:t>GPTQ ÷ RTN error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8000" y="1332000"/>
            <a:ext cx="86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output of down_proj</a:t>
            </a:r>
          </a:p>
        </p:txBody>
      </p:sp>
      <p:sp>
        <p:nvSpPr>
          <p:cNvPr id="68" name="Oval 67"/>
          <p:cNvSpPr/>
          <p:nvPr/>
        </p:nvSpPr>
        <p:spPr>
          <a:xfrm>
            <a:off x="2225189" y="1299989"/>
            <a:ext cx="49620" cy="49620"/>
          </a:xfrm>
          <a:prstGeom prst="ellipse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24000" y="1209989"/>
            <a:ext cx="251999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92C21"/>
                </a:solidFill>
                <a:latin typeface="Arial"/>
              </a:rPr>
              <a:t>0.4×</a:t>
            </a:r>
          </a:p>
        </p:txBody>
      </p:sp>
      <p:sp>
        <p:nvSpPr>
          <p:cNvPr id="70" name="Oval 69"/>
          <p:cNvSpPr/>
          <p:nvPr/>
        </p:nvSpPr>
        <p:spPr>
          <a:xfrm>
            <a:off x="2551285" y="1266085"/>
            <a:ext cx="117428" cy="117428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84000" y="1387114"/>
            <a:ext cx="251999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A86208"/>
                </a:solidFill>
                <a:latin typeface="Arial"/>
              </a:rPr>
              <a:t>2.4×</a:t>
            </a:r>
          </a:p>
        </p:txBody>
      </p:sp>
      <p:sp>
        <p:nvSpPr>
          <p:cNvPr id="72" name="Oval 71"/>
          <p:cNvSpPr/>
          <p:nvPr/>
        </p:nvSpPr>
        <p:spPr>
          <a:xfrm>
            <a:off x="2883913" y="1238713"/>
            <a:ext cx="172173" cy="172173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62000" y="1281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5.2×</a:t>
            </a:r>
          </a:p>
        </p:txBody>
      </p:sp>
      <p:sp>
        <p:nvSpPr>
          <p:cNvPr id="74" name="Oval 73"/>
          <p:cNvSpPr/>
          <p:nvPr/>
        </p:nvSpPr>
        <p:spPr>
          <a:xfrm>
            <a:off x="3243846" y="1238646"/>
            <a:ext cx="172307" cy="172307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21999" y="1281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5.2×</a:t>
            </a:r>
          </a:p>
        </p:txBody>
      </p:sp>
      <p:sp>
        <p:nvSpPr>
          <p:cNvPr id="76" name="Oval 75"/>
          <p:cNvSpPr/>
          <p:nvPr/>
        </p:nvSpPr>
        <p:spPr>
          <a:xfrm>
            <a:off x="3568983" y="1203783"/>
            <a:ext cx="242033" cy="242033"/>
          </a:xfrm>
          <a:prstGeom prst="ellipse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81999" y="1281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10×</a:t>
            </a:r>
          </a:p>
        </p:txBody>
      </p:sp>
      <p:sp>
        <p:nvSpPr>
          <p:cNvPr id="78" name="Oval 77"/>
          <p:cNvSpPr/>
          <p:nvPr/>
        </p:nvSpPr>
        <p:spPr>
          <a:xfrm>
            <a:off x="3980649" y="1255449"/>
            <a:ext cx="138701" cy="138701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24000" y="1397750"/>
            <a:ext cx="251999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B6B6B"/>
                </a:solidFill>
                <a:latin typeface="Arial"/>
              </a:rPr>
              <a:t>3.4×</a:t>
            </a:r>
          </a:p>
        </p:txBody>
      </p:sp>
      <p:sp>
        <p:nvSpPr>
          <p:cNvPr id="80" name="Oval 79"/>
          <p:cNvSpPr/>
          <p:nvPr/>
        </p:nvSpPr>
        <p:spPr>
          <a:xfrm>
            <a:off x="4344127" y="1258927"/>
            <a:ext cx="131744" cy="131744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84000" y="1394272"/>
            <a:ext cx="251999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B6B6B"/>
                </a:solidFill>
                <a:latin typeface="Arial"/>
              </a:rPr>
              <a:t>3.0×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70000" y="1407600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A92C21"/>
                </a:solidFill>
                <a:latin typeface="Arial"/>
              </a:rPr>
              <a:t>protected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62000" y="1281600"/>
            <a:ext cx="216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Arial"/>
              </a:rPr>
              <a:t>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70000" y="1512000"/>
            <a:ext cx="144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IFEval  0.77 → 0.15   (Fig. 2)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10000" y="1512000"/>
            <a:ext cx="144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1C7345"/>
                </a:solidFill>
                <a:latin typeface="Arial"/>
              </a:rPr>
              <a:t>repair:  wₜ = gₜ / ‖xₜ‖²   (Sec. 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94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400" y="7200"/>
            <a:ext cx="1339200" cy="1929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00400" y="7200"/>
            <a:ext cx="3625199" cy="1929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sink-forming layer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53200" y="1742400"/>
            <a:ext cx="0" cy="1296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19200" y="16200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53200" y="1548000"/>
            <a:ext cx="0" cy="720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5200" y="1548000"/>
            <a:ext cx="5760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4400" y="1425600"/>
            <a:ext cx="28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gate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98400" y="1533600"/>
            <a:ext cx="0" cy="144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98400" y="1360800"/>
            <a:ext cx="0" cy="64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4000" y="1425600"/>
            <a:ext cx="28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up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007999" y="1533600"/>
            <a:ext cx="0" cy="144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07999" y="1360800"/>
            <a:ext cx="0" cy="64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9200" y="12384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SiLU  ×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53200" y="1173600"/>
            <a:ext cx="0" cy="648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9200" y="10512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53200" y="964800"/>
            <a:ext cx="0" cy="864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0000" y="871200"/>
            <a:ext cx="86400" cy="8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860400"/>
            <a:ext cx="10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7A7A7A"/>
                </a:solidFill>
                <a:latin typeface="Arial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1200" y="1011600"/>
            <a:ext cx="777600" cy="5688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 rot="16200000">
            <a:off x="917999" y="1224000"/>
            <a:ext cx="568800" cy="14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MLP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3200" y="1854000"/>
            <a:ext cx="4500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303200" y="251999"/>
            <a:ext cx="0" cy="1602001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96400" y="914400"/>
            <a:ext cx="4068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896400" y="251999"/>
            <a:ext cx="4068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290600" y="901800"/>
            <a:ext cx="25200" cy="25200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853200" y="763200"/>
            <a:ext cx="0" cy="1080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8400" y="806400"/>
            <a:ext cx="1173600" cy="0"/>
          </a:xfrm>
          <a:prstGeom prst="line">
            <a:avLst/>
          </a:prstGeom>
          <a:ln w="6350">
            <a:solidFill>
              <a:srgbClr val="7A7A7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9200" y="6408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853200" y="568800"/>
            <a:ext cx="0" cy="720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9200" y="374400"/>
            <a:ext cx="468000" cy="187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attention</a:t>
            </a:r>
          </a:p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Q K V · 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1200" y="334800"/>
            <a:ext cx="777600" cy="2664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1069200" y="396000"/>
            <a:ext cx="266400" cy="14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attn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853200" y="302400"/>
            <a:ext cx="0" cy="720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3200" y="144000"/>
            <a:ext cx="0" cy="64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16200000">
            <a:off x="-439200" y="1303200"/>
            <a:ext cx="1044000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current layer</a:t>
            </a:r>
          </a:p>
        </p:txBody>
      </p:sp>
      <p:sp>
        <p:nvSpPr>
          <p:cNvPr id="40" name="TextBox 39"/>
          <p:cNvSpPr txBox="1"/>
          <p:nvPr/>
        </p:nvSpPr>
        <p:spPr>
          <a:xfrm rot="16200000">
            <a:off x="-237600" y="417600"/>
            <a:ext cx="640800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next layer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6800" y="1159200"/>
            <a:ext cx="4248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>
                <a:solidFill>
                  <a:srgbClr val="A92C21"/>
                </a:solidFill>
                <a:latin typeface="Arial"/>
              </a:rPr>
              <a:t>xₜ → 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76000" y="1202400"/>
            <a:ext cx="255600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36800" y="936000"/>
            <a:ext cx="424800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‖h‖ = 475</a:t>
            </a:r>
          </a:p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at BOS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6000" y="1015200"/>
            <a:ext cx="255600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22000" y="288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2000" y="288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two sides of the objective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48000" y="165600"/>
            <a:ext cx="1512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gₜ   what the loss depends 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48000" y="1677600"/>
            <a:ext cx="1512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‖xₜ‖²   what the objective weights by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12000" y="943200"/>
            <a:ext cx="3437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512000" y="1130400"/>
            <a:ext cx="3437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548000" y="932400"/>
            <a:ext cx="284759" cy="1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1548000" y="1130400"/>
            <a:ext cx="284759" cy="5184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9200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90359" y="763652"/>
            <a:ext cx="284759" cy="179547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890359" y="1130400"/>
            <a:ext cx="28475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61559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start</a:t>
            </a:r>
          </a:p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32720" y="764372"/>
            <a:ext cx="284759" cy="178827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2232720" y="1130400"/>
            <a:ext cx="28475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03920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user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75080" y="367200"/>
            <a:ext cx="284759" cy="5760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2575080" y="1130400"/>
            <a:ext cx="28475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6280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end</a:t>
            </a:r>
          </a:p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17439" y="932400"/>
            <a:ext cx="284759" cy="108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2917439" y="1130400"/>
            <a:ext cx="28475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8639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\n\n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59800" y="932400"/>
            <a:ext cx="284759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3259800" y="1130400"/>
            <a:ext cx="28475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31000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Write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02160" y="932400"/>
            <a:ext cx="284759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3602160" y="1130400"/>
            <a:ext cx="28475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73360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44519" y="919461"/>
            <a:ext cx="284759" cy="2373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3944519" y="1130400"/>
            <a:ext cx="28475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15719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poem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86879" y="931376"/>
            <a:ext cx="284759" cy="11823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4286879" y="1130400"/>
            <a:ext cx="28475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58079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29239" y="931814"/>
            <a:ext cx="284759" cy="11385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4629239" y="1130400"/>
            <a:ext cx="284759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00439" y="946800"/>
            <a:ext cx="342359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eot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74380" y="827999"/>
            <a:ext cx="432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0.1%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890359" y="331200"/>
            <a:ext cx="969480" cy="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890359" y="3312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859839" y="3312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907099" y="230400"/>
            <a:ext cx="936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86208"/>
                </a:solidFill>
                <a:latin typeface="Arial"/>
              </a:rPr>
              <a:t>header tokens 82%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08359" y="1238400"/>
            <a:ext cx="1152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BOS 99.99%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08359" y="1324800"/>
            <a:ext cx="1152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every other token below 0.01%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5800" y="558000"/>
            <a:ext cx="16181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A86208"/>
                </a:solidFill>
                <a:latin typeface="Arial"/>
              </a:rPr>
              <a:t>GPTQ writes its error here:</a:t>
            </a:r>
          </a:p>
          <a:p>
            <a:pPr algn="r"/>
            <a:r>
              <a:rPr sz="650" b="1" i="0">
                <a:solidFill>
                  <a:srgbClr val="A86208"/>
                </a:solidFill>
                <a:latin typeface="Arial"/>
              </a:rPr>
              <a:t>2 to 5 × the RTN error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95800" y="1422000"/>
            <a:ext cx="1618199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GPTQ protects BOS:</a:t>
            </a:r>
          </a:p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0.4 × the RTN error</a:t>
            </a:r>
          </a:p>
        </p:txBody>
      </p:sp>
      <p:cxnSp>
        <p:nvCxnSpPr>
          <p:cNvPr id="90" name="Connector 89"/>
          <p:cNvCxnSpPr/>
          <p:nvPr/>
        </p:nvCxnSpPr>
        <p:spPr>
          <a:xfrm flipH="1">
            <a:off x="2903039" y="727200"/>
            <a:ext cx="1112761" cy="0"/>
          </a:xfrm>
          <a:prstGeom prst="line">
            <a:avLst/>
          </a:prstGeom>
          <a:ln w="7620">
            <a:solidFill>
              <a:srgbClr val="A8620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1883159" y="1530000"/>
            <a:ext cx="1988640" cy="0"/>
          </a:xfrm>
          <a:prstGeom prst="line">
            <a:avLst/>
          </a:prstGeom>
          <a:ln w="7620">
            <a:solidFill>
              <a:srgbClr val="A92C2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1548000" y="1825199"/>
            <a:ext cx="93600" cy="576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70400" y="1807199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sink token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178000" y="1825199"/>
            <a:ext cx="93600" cy="576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00400" y="1807199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format tokens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808000" y="1825199"/>
            <a:ext cx="93600" cy="576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30400" y="1807199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user text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93999" y="1807199"/>
            <a:ext cx="162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1C7345"/>
                </a:solidFill>
                <a:latin typeface="Arial"/>
              </a:rPr>
              <a:t>repair:  weight each token by  gₜ / ‖xₜ‖²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400" y="7200"/>
            <a:ext cx="1555200" cy="1785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6400" y="7200"/>
            <a:ext cx="3409199" cy="1785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sink-forming layer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25200" y="1663200"/>
            <a:ext cx="0" cy="792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91200" y="15408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925200" y="1519200"/>
            <a:ext cx="0" cy="216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4000" y="1519200"/>
            <a:ext cx="3024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00" y="1346400"/>
            <a:ext cx="2808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gate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74000" y="1468799"/>
            <a:ext cx="0" cy="504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74000" y="1310400"/>
            <a:ext cx="0" cy="360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5999" y="1346400"/>
            <a:ext cx="2808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up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076400" y="1468799"/>
            <a:ext cx="0" cy="504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76400" y="1310400"/>
            <a:ext cx="0" cy="360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1200" y="11880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SiLU  ×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25200" y="1152000"/>
            <a:ext cx="0" cy="360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1200" y="10296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925200" y="943200"/>
            <a:ext cx="0" cy="864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81999" y="849600"/>
            <a:ext cx="86400" cy="8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200" y="838800"/>
            <a:ext cx="10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7A7A7A"/>
                </a:solidFill>
                <a:latin typeface="Arial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4800" y="990000"/>
            <a:ext cx="727199" cy="5112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 rot="16200000">
            <a:off x="1000799" y="1184400"/>
            <a:ext cx="511200" cy="12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MLP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5200" y="1724400"/>
            <a:ext cx="5868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12000" y="223200"/>
            <a:ext cx="0" cy="15012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68400" y="892800"/>
            <a:ext cx="5436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68400" y="223200"/>
            <a:ext cx="5436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499400" y="880200"/>
            <a:ext cx="25200" cy="25200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925200" y="770400"/>
            <a:ext cx="0" cy="792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8400" y="806400"/>
            <a:ext cx="1389600" cy="0"/>
          </a:xfrm>
          <a:prstGeom prst="line">
            <a:avLst/>
          </a:prstGeom>
          <a:ln w="6350">
            <a:solidFill>
              <a:srgbClr val="7A7A7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1200" y="648000"/>
            <a:ext cx="468000" cy="115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25200" y="565200"/>
            <a:ext cx="0" cy="82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1200" y="370800"/>
            <a:ext cx="468000" cy="187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attention</a:t>
            </a:r>
          </a:p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Q K V · 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4800" y="331200"/>
            <a:ext cx="727199" cy="2664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1123199" y="403200"/>
            <a:ext cx="266400" cy="12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attn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925200" y="273600"/>
            <a:ext cx="0" cy="972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81999" y="180000"/>
            <a:ext cx="86400" cy="8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200" y="169200"/>
            <a:ext cx="10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7A7A7A"/>
                </a:solidFill>
                <a:latin typeface="Arial"/>
              </a:rPr>
              <a:t>+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925200" y="100800"/>
            <a:ext cx="0" cy="792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16200000">
            <a:off x="-374399" y="1238400"/>
            <a:ext cx="914399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current layer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-259200" y="396000"/>
            <a:ext cx="684000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next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400" y="1072800"/>
            <a:ext cx="417599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xₜ → H</a:t>
            </a:r>
          </a:p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‖xₜ‖ = 475</a:t>
            </a:r>
          </a:p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at BOS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3200" y="1166400"/>
            <a:ext cx="320399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4000" y="917999"/>
            <a:ext cx="431999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writes sink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3200" y="961200"/>
            <a:ext cx="320399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638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8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two sides of the objective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63999" y="1440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gₜ :  sensitivity of the loss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63999" y="15480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‖xₜ‖² :  weight in the objective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728000" y="871200"/>
            <a:ext cx="3221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728000" y="1051200"/>
            <a:ext cx="3221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763999" y="860400"/>
            <a:ext cx="263160" cy="1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763999" y="1051200"/>
            <a:ext cx="263160" cy="467999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5199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84759" y="702874"/>
            <a:ext cx="263160" cy="168325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084759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5959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start</a:t>
            </a:r>
          </a:p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05520" y="703549"/>
            <a:ext cx="263160" cy="16765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240552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672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user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26280" y="331200"/>
            <a:ext cx="263160" cy="5400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72628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9748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end</a:t>
            </a:r>
          </a:p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47040" y="860400"/>
            <a:ext cx="263160" cy="108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304704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1824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\n\n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67800" y="860400"/>
            <a:ext cx="263160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336780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3900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Write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88560" y="860400"/>
            <a:ext cx="263160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368856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976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09320" y="848944"/>
            <a:ext cx="263160" cy="22255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400932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8052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poem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30080" y="860115"/>
            <a:ext cx="263160" cy="11084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433008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0128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50840" y="860400"/>
            <a:ext cx="263160" cy="108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465084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2204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eot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79580" y="755999"/>
            <a:ext cx="432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0.1%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084759" y="288000"/>
            <a:ext cx="904681" cy="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84759" y="2880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989440" y="2880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032640" y="244800"/>
            <a:ext cx="129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86208"/>
                </a:solidFill>
                <a:latin typeface="Arial"/>
              </a:rPr>
              <a:t>82% on the header tokens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02759" y="1094400"/>
            <a:ext cx="1152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BOS 99.99%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02759" y="1180800"/>
            <a:ext cx="1152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every other token below 0.01%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67800" y="536400"/>
            <a:ext cx="1546199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A86208"/>
                </a:solidFill>
                <a:latin typeface="Arial"/>
              </a:rPr>
              <a:t>GPTQ error here: 2 to 5 × RTN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3032640" y="583200"/>
            <a:ext cx="691920" cy="0"/>
          </a:xfrm>
          <a:prstGeom prst="line">
            <a:avLst/>
          </a:prstGeom>
          <a:ln w="7620">
            <a:solidFill>
              <a:srgbClr val="A8620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367800" y="1292400"/>
            <a:ext cx="1546199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GPTQ error at BOS: 0.4 × RTN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2077559" y="1339200"/>
            <a:ext cx="1647001" cy="0"/>
          </a:xfrm>
          <a:prstGeom prst="line">
            <a:avLst/>
          </a:prstGeom>
          <a:ln w="7620">
            <a:solidFill>
              <a:srgbClr val="A92C2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1763999" y="1681200"/>
            <a:ext cx="93600" cy="576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86399" y="16632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sink token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0" y="1681200"/>
            <a:ext cx="93600" cy="576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08400" y="16632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format tokens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16000" y="1681200"/>
            <a:ext cx="93600" cy="576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38400" y="16632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user text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73999" y="1663200"/>
            <a:ext cx="144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1C7345"/>
                </a:solidFill>
                <a:latin typeface="Arial"/>
              </a:rPr>
              <a:t>repair:  weight tokens by  gₜ / ‖xₜ‖²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400" y="7200"/>
            <a:ext cx="1555200" cy="1785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16400" y="7200"/>
            <a:ext cx="3409199" cy="178560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sink-forming layer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25200" y="1688399"/>
            <a:ext cx="0" cy="828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91200" y="1584000"/>
            <a:ext cx="468000" cy="97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925200" y="1526400"/>
            <a:ext cx="0" cy="576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4000" y="1526400"/>
            <a:ext cx="3024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00" y="1357199"/>
            <a:ext cx="280800" cy="97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gate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74000" y="1461599"/>
            <a:ext cx="0" cy="648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74000" y="1285200"/>
            <a:ext cx="0" cy="71999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5999" y="1357199"/>
            <a:ext cx="280800" cy="97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up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076400" y="1461599"/>
            <a:ext cx="0" cy="64801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76400" y="1285200"/>
            <a:ext cx="0" cy="71999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1200" y="1180800"/>
            <a:ext cx="468000" cy="97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SiLU  ×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25200" y="1108799"/>
            <a:ext cx="0" cy="72001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91200" y="1004400"/>
            <a:ext cx="468000" cy="97200"/>
          </a:xfrm>
          <a:prstGeom prst="roundRect">
            <a:avLst>
              <a:gd name="adj" fmla="val 18000"/>
            </a:avLst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down_proj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925200" y="936000"/>
            <a:ext cx="0" cy="68400"/>
          </a:xfrm>
          <a:prstGeom prst="line">
            <a:avLst/>
          </a:prstGeom>
          <a:ln w="12700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81999" y="842400"/>
            <a:ext cx="86400" cy="8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200" y="831600"/>
            <a:ext cx="10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7A7A7A"/>
                </a:solidFill>
                <a:latin typeface="Arial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4800" y="975600"/>
            <a:ext cx="727199" cy="5184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 rot="16200000">
            <a:off x="997199" y="1173600"/>
            <a:ext cx="518400" cy="12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MLP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5200" y="1753200"/>
            <a:ext cx="586800" cy="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512000" y="216000"/>
            <a:ext cx="0" cy="1537200"/>
          </a:xfrm>
          <a:prstGeom prst="line">
            <a:avLst/>
          </a:prstGeom>
          <a:ln w="9525">
            <a:solidFill>
              <a:srgbClr val="7A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968400" y="885600"/>
            <a:ext cx="5436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68400" y="216000"/>
            <a:ext cx="543600" cy="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499400" y="872999"/>
            <a:ext cx="25200" cy="25200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925200" y="759600"/>
            <a:ext cx="0" cy="82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8400" y="799200"/>
            <a:ext cx="1389600" cy="0"/>
          </a:xfrm>
          <a:prstGeom prst="line">
            <a:avLst/>
          </a:prstGeom>
          <a:ln w="6350">
            <a:solidFill>
              <a:srgbClr val="7A7A7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1200" y="655200"/>
            <a:ext cx="468000" cy="972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RMSNorm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25200" y="532800"/>
            <a:ext cx="0" cy="1224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1200" y="367200"/>
            <a:ext cx="468000" cy="158400"/>
          </a:xfrm>
          <a:prstGeom prst="roundRect">
            <a:avLst>
              <a:gd name="adj" fmla="val 18000"/>
            </a:avLst>
          </a:prstGeom>
          <a:solidFill>
            <a:srgbClr val="DD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attention</a:t>
            </a:r>
          </a:p>
          <a:p>
            <a:pPr algn="ctr"/>
            <a:r>
              <a:rPr sz="650" b="0" i="0">
                <a:solidFill>
                  <a:srgbClr val="1F3A5C"/>
                </a:solidFill>
                <a:latin typeface="Arial"/>
              </a:rPr>
              <a:t>Q K V · 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4800" y="316800"/>
            <a:ext cx="727199" cy="259200"/>
          </a:xfrm>
          <a:prstGeom prst="rect">
            <a:avLst/>
          </a:prstGeom>
          <a:noFill/>
          <a:ln w="6350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1126800" y="385200"/>
            <a:ext cx="259200" cy="12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7A7A7A"/>
                </a:solidFill>
                <a:latin typeface="Arial"/>
              </a:rPr>
              <a:t>attn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925200" y="266400"/>
            <a:ext cx="0" cy="100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81999" y="172800"/>
            <a:ext cx="86400" cy="86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200" y="161999"/>
            <a:ext cx="108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7A7A7A"/>
                </a:solidFill>
                <a:latin typeface="Arial"/>
              </a:rPr>
              <a:t>+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925200" y="108000"/>
            <a:ext cx="0" cy="64800"/>
          </a:xfrm>
          <a:prstGeom prst="line">
            <a:avLst/>
          </a:prstGeom>
          <a:ln w="9525">
            <a:solidFill>
              <a:srgbClr val="7A7A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16200000">
            <a:off x="-392399" y="1249200"/>
            <a:ext cx="950399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current layer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-252000" y="396000"/>
            <a:ext cx="669600" cy="9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7A7A7A"/>
                </a:solidFill>
                <a:latin typeface="Arial"/>
              </a:rPr>
              <a:t>next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400" y="1047600"/>
            <a:ext cx="417599" cy="25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xₜ → H</a:t>
            </a:r>
          </a:p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‖xₜ‖ = 475</a:t>
            </a:r>
          </a:p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at BOS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83200" y="1141200"/>
            <a:ext cx="320399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44000" y="903599"/>
            <a:ext cx="431999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 i="0">
                <a:solidFill>
                  <a:srgbClr val="A92C21"/>
                </a:solidFill>
                <a:latin typeface="Arial"/>
              </a:rPr>
              <a:t>writes sink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3200" y="946800"/>
            <a:ext cx="320399" cy="0"/>
          </a:xfrm>
          <a:prstGeom prst="line">
            <a:avLst/>
          </a:prstGeom>
          <a:ln w="9525">
            <a:solidFill>
              <a:srgbClr val="D23F3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638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18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Loss sensitivity against objective weight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63999" y="144000"/>
            <a:ext cx="1296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gₜ :  what the loss depends 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63999" y="1548000"/>
            <a:ext cx="1728000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262626"/>
                </a:solidFill>
                <a:latin typeface="Arial"/>
              </a:rPr>
              <a:t>‖xₜ‖² :  what the objective weights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728000" y="871200"/>
            <a:ext cx="3221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728000" y="1051200"/>
            <a:ext cx="3221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763999" y="860400"/>
            <a:ext cx="263160" cy="108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763999" y="1051200"/>
            <a:ext cx="263160" cy="467999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5199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84759" y="702874"/>
            <a:ext cx="263160" cy="168325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084759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5959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start</a:t>
            </a:r>
          </a:p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05520" y="703549"/>
            <a:ext cx="263160" cy="16765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240552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672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user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26280" y="331200"/>
            <a:ext cx="263160" cy="5400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72628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9748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end</a:t>
            </a:r>
          </a:p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header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47040" y="860400"/>
            <a:ext cx="263160" cy="108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304704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1824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\n\n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67800" y="860400"/>
            <a:ext cx="263160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336780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3900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Write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88560" y="860400"/>
            <a:ext cx="263160" cy="108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368856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976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09320" y="848944"/>
            <a:ext cx="263160" cy="22255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400932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8052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poem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30080" y="860115"/>
            <a:ext cx="263160" cy="11084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433008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0128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6B6B6B"/>
                </a:solidFill>
                <a:latin typeface="Arial"/>
              </a:rPr>
              <a:t>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50840" y="860400"/>
            <a:ext cx="263160" cy="108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4650840" y="1051200"/>
            <a:ext cx="263160" cy="10800"/>
          </a:xfrm>
          <a:prstGeom prst="rect">
            <a:avLst/>
          </a:prstGeom>
          <a:solidFill>
            <a:srgbClr val="F9D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22040" y="871200"/>
            <a:ext cx="32076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eot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79580" y="755999"/>
            <a:ext cx="432000" cy="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>
                <a:solidFill>
                  <a:srgbClr val="A92C21"/>
                </a:solidFill>
                <a:latin typeface="Arial"/>
              </a:rPr>
              <a:t>0.1%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084759" y="288000"/>
            <a:ext cx="904681" cy="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84759" y="2880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989440" y="288000"/>
            <a:ext cx="0" cy="28800"/>
          </a:xfrm>
          <a:prstGeom prst="line">
            <a:avLst/>
          </a:prstGeom>
          <a:ln w="7620">
            <a:solidFill>
              <a:srgbClr val="A862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032640" y="244800"/>
            <a:ext cx="1296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86208"/>
                </a:solidFill>
                <a:latin typeface="Arial"/>
              </a:rPr>
              <a:t>82% on the header tokens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02759" y="1094400"/>
            <a:ext cx="1152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A92C21"/>
                </a:solidFill>
                <a:latin typeface="Arial"/>
              </a:rPr>
              <a:t>BOS 99.99%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02759" y="1180800"/>
            <a:ext cx="1152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every other token below 0.01%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47040" y="446400"/>
            <a:ext cx="1866959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A86208"/>
                </a:solidFill>
                <a:latin typeface="Arial"/>
              </a:rPr>
              <a:t>GPTQ writes its error here: 2 to 5 × RTN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3032640" y="583200"/>
            <a:ext cx="1827359" cy="0"/>
          </a:xfrm>
          <a:prstGeom prst="line">
            <a:avLst/>
          </a:prstGeom>
          <a:ln w="7620">
            <a:solidFill>
              <a:srgbClr val="A8620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3047040" y="1202400"/>
            <a:ext cx="1866959" cy="9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A92C21"/>
                </a:solidFill>
                <a:latin typeface="Arial"/>
              </a:rPr>
              <a:t>GPTQ protects BOS: error 0.4 × RTN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2077559" y="1339200"/>
            <a:ext cx="2782440" cy="0"/>
          </a:xfrm>
          <a:prstGeom prst="line">
            <a:avLst/>
          </a:prstGeom>
          <a:ln w="7620">
            <a:solidFill>
              <a:srgbClr val="A92C2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1763999" y="1681200"/>
            <a:ext cx="93600" cy="57600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86399" y="16632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sink token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0" y="1681200"/>
            <a:ext cx="93600" cy="57600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408400" y="16632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format tokens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16000" y="1681200"/>
            <a:ext cx="93600" cy="576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38400" y="1663200"/>
            <a:ext cx="503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user text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73999" y="1663200"/>
            <a:ext cx="144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i="0">
                <a:solidFill>
                  <a:srgbClr val="1C7345"/>
                </a:solidFill>
                <a:latin typeface="Arial"/>
              </a:rPr>
              <a:t>repair:  weight tokens by  gₜ / ‖xₜ‖²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