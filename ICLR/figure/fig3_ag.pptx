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3096000" cy="19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2026-09-22: labels clear, linear A_BOS, log G_BOS, diagonal as a curve, legend bottom-left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 2026-09-22: 6.7 x 5.2, larger markers, family legend bottom-left, five labels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 2026-09-22: 8.6 x 5.4 for Section 7, larger markers and labels, legend in the empty lower-left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 2026-09-22: as v5, shorter labels (blind spot, collapses)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2000" cy="201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108000"/>
            <a:ext cx="1944000" cy="15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90857" y="1638000"/>
            <a:ext cx="0" cy="252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57" y="1670400"/>
            <a:ext cx="28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6571" y="1638000"/>
            <a:ext cx="0" cy="252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2571" y="1670400"/>
            <a:ext cx="28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0.25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2285" y="1638000"/>
            <a:ext cx="0" cy="252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18285" y="1670400"/>
            <a:ext cx="28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0.5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48000" y="1638000"/>
            <a:ext cx="0" cy="252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4000" y="1670400"/>
            <a:ext cx="28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0.75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33714" y="1638000"/>
            <a:ext cx="0" cy="252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9714" y="1670400"/>
            <a:ext cx="28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4800" y="1638000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000" y="1602000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10⁻⁵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4800" y="1332000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000" y="1295999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10⁻⁴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4800" y="1025999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000" y="989999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10⁻³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4800" y="720000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000" y="684000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10⁻²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4800" y="413999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000" y="377999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10⁻¹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4800" y="107999"/>
            <a:ext cx="252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000" y="71999"/>
            <a:ext cx="30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707070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1753200"/>
            <a:ext cx="194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333333"/>
                </a:solidFill>
                <a:latin typeface="Arial"/>
              </a:rPr>
              <a:t>input-side share of the sink token,  A_BOS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-696600" y="811800"/>
            <a:ext cx="15300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333333"/>
                </a:solidFill>
                <a:latin typeface="Arial"/>
              </a:rPr>
              <a:t>output-side share,  G_BOS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90872" y="1612500"/>
            <a:ext cx="3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0875" y="1587000"/>
            <a:ext cx="4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0879" y="1561499"/>
            <a:ext cx="5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0884" y="1536000"/>
            <a:ext cx="6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0890" y="1510499"/>
            <a:ext cx="7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0897" y="1485000"/>
            <a:ext cx="8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0905" y="1459500"/>
            <a:ext cx="11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0916" y="1433999"/>
            <a:ext cx="12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928" y="1408499"/>
            <a:ext cx="15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0943" y="1383000"/>
            <a:ext cx="19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0962" y="1357500"/>
            <a:ext cx="22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0984" y="1332000"/>
            <a:ext cx="27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1011" y="1306500"/>
            <a:ext cx="33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91044" y="1280999"/>
            <a:ext cx="39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91083" y="1255500"/>
            <a:ext cx="48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1131" y="1230000"/>
            <a:ext cx="58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1189" y="1204500"/>
            <a:ext cx="70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59" y="1179000"/>
            <a:ext cx="86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1345" y="1153500"/>
            <a:ext cx="103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91448" y="1127999"/>
            <a:ext cx="125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91573" y="1102500"/>
            <a:ext cx="151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1724" y="1077000"/>
            <a:ext cx="184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1908" y="1051499"/>
            <a:ext cx="222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2130" y="1025999"/>
            <a:ext cx="270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2400" y="1000499"/>
            <a:ext cx="326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2726" y="974999"/>
            <a:ext cx="395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3121" y="949499"/>
            <a:ext cx="479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93600" y="923999"/>
            <a:ext cx="581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94181" y="898500"/>
            <a:ext cx="703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4884" y="872999"/>
            <a:ext cx="852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5736" y="847499"/>
            <a:ext cx="1032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96768" y="822000"/>
            <a:ext cx="1250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98018" y="796499"/>
            <a:ext cx="1515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99533" y="771000"/>
            <a:ext cx="1835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01368" y="745500"/>
            <a:ext cx="2223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03591" y="720000"/>
            <a:ext cx="2694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06285" y="694499"/>
            <a:ext cx="3264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09549" y="669000"/>
            <a:ext cx="3954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13503" y="643499"/>
            <a:ext cx="4790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18293" y="617999"/>
            <a:ext cx="5803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24096" y="592499"/>
            <a:ext cx="7032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31128" y="567000"/>
            <a:ext cx="8518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39646" y="541499"/>
            <a:ext cx="10320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49966" y="516000"/>
            <a:ext cx="12504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2470" y="490499"/>
            <a:ext cx="15148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7618" y="464999"/>
            <a:ext cx="18352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95970" y="439499"/>
            <a:ext cx="22235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8205" y="413999"/>
            <a:ext cx="26937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45142" y="388500"/>
            <a:ext cx="32636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7778" y="362999"/>
            <a:ext cx="39539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17317" y="337500"/>
            <a:ext cx="47903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65220" y="312000"/>
            <a:ext cx="58035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23255" y="286499"/>
            <a:ext cx="70312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93567" y="260999"/>
            <a:ext cx="85184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78751" y="235500"/>
            <a:ext cx="103203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1954" y="209999"/>
            <a:ext cx="125033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106987" y="184500"/>
            <a:ext cx="151482" cy="25499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58469" y="159000"/>
            <a:ext cx="183524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41993" y="133499"/>
            <a:ext cx="222344" cy="25501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664337" y="107999"/>
            <a:ext cx="269377" cy="2550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933714" y="107999"/>
            <a:ext cx="0" cy="0"/>
          </a:xfrm>
          <a:prstGeom prst="line">
            <a:avLst/>
          </a:prstGeom>
          <a:ln w="762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08000" y="265769"/>
            <a:ext cx="57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8A8A8A"/>
                </a:solidFill>
                <a:latin typeface="Arial"/>
              </a:rPr>
              <a:t>A = G:  no mismatch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62285" y="720000"/>
            <a:ext cx="1141714" cy="917999"/>
          </a:xfrm>
          <a:prstGeom prst="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91085" y="1544400"/>
            <a:ext cx="122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the blind spot:  A_BOS ≥ 0.5,  G_BOS ≤ 0.01</a:t>
            </a:r>
          </a:p>
        </p:txBody>
      </p:sp>
      <p:sp>
        <p:nvSpPr>
          <p:cNvPr id="92" name="Oval 91"/>
          <p:cNvSpPr/>
          <p:nvPr/>
        </p:nvSpPr>
        <p:spPr>
          <a:xfrm>
            <a:off x="1133691" y="808603"/>
            <a:ext cx="61200" cy="612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3" name="Oval 92"/>
          <p:cNvSpPr/>
          <p:nvPr/>
        </p:nvSpPr>
        <p:spPr>
          <a:xfrm>
            <a:off x="1200651" y="824251"/>
            <a:ext cx="61200" cy="612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4" name="Oval 93"/>
          <p:cNvSpPr/>
          <p:nvPr/>
        </p:nvSpPr>
        <p:spPr>
          <a:xfrm>
            <a:off x="364287" y="415366"/>
            <a:ext cx="61200" cy="61200"/>
          </a:xfrm>
          <a:prstGeom prst="ellipse">
            <a:avLst/>
          </a:prstGeom>
          <a:solidFill>
            <a:srgbClr val="3CA3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368602" y="628610"/>
            <a:ext cx="61200" cy="61200"/>
          </a:xfrm>
          <a:prstGeom prst="ellipse">
            <a:avLst/>
          </a:prstGeom>
          <a:solidFill>
            <a:srgbClr val="3CA3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6" name="Oval 95"/>
          <p:cNvSpPr/>
          <p:nvPr/>
        </p:nvSpPr>
        <p:spPr>
          <a:xfrm>
            <a:off x="1889537" y="1348553"/>
            <a:ext cx="61200" cy="612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7" name="Oval 96"/>
          <p:cNvSpPr/>
          <p:nvPr/>
        </p:nvSpPr>
        <p:spPr>
          <a:xfrm>
            <a:off x="1899411" y="1071744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8" name="Oval 97"/>
          <p:cNvSpPr/>
          <p:nvPr/>
        </p:nvSpPr>
        <p:spPr>
          <a:xfrm>
            <a:off x="1899720" y="1097789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9" name="Oval 98"/>
          <p:cNvSpPr/>
          <p:nvPr/>
        </p:nvSpPr>
        <p:spPr>
          <a:xfrm>
            <a:off x="1901571" y="1226273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1900182" y="1021805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1899411" y="1020482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1869737" y="1124358"/>
            <a:ext cx="122400" cy="122400"/>
          </a:xfrm>
          <a:prstGeom prst="ellipse">
            <a:avLst/>
          </a:prstGeom>
          <a:noFill/>
          <a:ln w="12700">
            <a:solidFill>
              <a:srgbClr val="B5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1900337" y="1154958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4" name="Oval 103"/>
          <p:cNvSpPr/>
          <p:nvPr/>
        </p:nvSpPr>
        <p:spPr>
          <a:xfrm>
            <a:off x="1686188" y="1188932"/>
            <a:ext cx="61200" cy="61200"/>
          </a:xfrm>
          <a:prstGeom prst="ellipse">
            <a:avLst/>
          </a:prstGeom>
          <a:solidFill>
            <a:srgbClr val="E08A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1638205" y="1179949"/>
            <a:ext cx="61200" cy="61200"/>
          </a:xfrm>
          <a:prstGeom prst="ellipse">
            <a:avLst/>
          </a:prstGeom>
          <a:solidFill>
            <a:srgbClr val="E08A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1837080" y="929253"/>
            <a:ext cx="61200" cy="61200"/>
          </a:xfrm>
          <a:prstGeom prst="ellipse">
            <a:avLst/>
          </a:prstGeom>
          <a:solidFill>
            <a:srgbClr val="E08A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7" name="Oval 106"/>
          <p:cNvSpPr/>
          <p:nvPr/>
        </p:nvSpPr>
        <p:spPr>
          <a:xfrm>
            <a:off x="1787708" y="1181881"/>
            <a:ext cx="61200" cy="61200"/>
          </a:xfrm>
          <a:prstGeom prst="ellipse">
            <a:avLst/>
          </a:prstGeom>
          <a:solidFill>
            <a:srgbClr val="E08A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8" name="Oval 107"/>
          <p:cNvSpPr/>
          <p:nvPr/>
        </p:nvSpPr>
        <p:spPr>
          <a:xfrm>
            <a:off x="1871742" y="1173728"/>
            <a:ext cx="122400" cy="122400"/>
          </a:xfrm>
          <a:prstGeom prst="ellipse">
            <a:avLst/>
          </a:prstGeom>
          <a:noFill/>
          <a:ln w="12700">
            <a:solidFill>
              <a:srgbClr val="B5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9" name="Oval 108"/>
          <p:cNvSpPr/>
          <p:nvPr/>
        </p:nvSpPr>
        <p:spPr>
          <a:xfrm>
            <a:off x="1902342" y="1204328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0" name="Oval 109"/>
          <p:cNvSpPr/>
          <p:nvPr/>
        </p:nvSpPr>
        <p:spPr>
          <a:xfrm>
            <a:off x="1900182" y="1155091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1" name="Oval 110"/>
          <p:cNvSpPr/>
          <p:nvPr/>
        </p:nvSpPr>
        <p:spPr>
          <a:xfrm>
            <a:off x="1884445" y="978571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2" name="Oval 111"/>
          <p:cNvSpPr/>
          <p:nvPr/>
        </p:nvSpPr>
        <p:spPr>
          <a:xfrm>
            <a:off x="1671531" y="1241285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3" name="Oval 112"/>
          <p:cNvSpPr/>
          <p:nvPr/>
        </p:nvSpPr>
        <p:spPr>
          <a:xfrm>
            <a:off x="1800514" y="1244971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4" name="Oval 113"/>
          <p:cNvSpPr/>
          <p:nvPr/>
        </p:nvSpPr>
        <p:spPr>
          <a:xfrm>
            <a:off x="1902034" y="1096788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5" name="Oval 114"/>
          <p:cNvSpPr/>
          <p:nvPr/>
        </p:nvSpPr>
        <p:spPr>
          <a:xfrm>
            <a:off x="1898948" y="1018507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6" name="Oval 115"/>
          <p:cNvSpPr/>
          <p:nvPr/>
        </p:nvSpPr>
        <p:spPr>
          <a:xfrm>
            <a:off x="1901262" y="1095342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7" name="Oval 116"/>
          <p:cNvSpPr/>
          <p:nvPr/>
        </p:nvSpPr>
        <p:spPr>
          <a:xfrm>
            <a:off x="1900954" y="998969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8" name="Oval 117"/>
          <p:cNvSpPr/>
          <p:nvPr/>
        </p:nvSpPr>
        <p:spPr>
          <a:xfrm>
            <a:off x="1680017" y="1485789"/>
            <a:ext cx="61200" cy="612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9" name="Oval 118"/>
          <p:cNvSpPr/>
          <p:nvPr/>
        </p:nvSpPr>
        <p:spPr>
          <a:xfrm>
            <a:off x="1882748" y="814295"/>
            <a:ext cx="61200" cy="612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0" name="Oval 119"/>
          <p:cNvSpPr/>
          <p:nvPr/>
        </p:nvSpPr>
        <p:spPr>
          <a:xfrm>
            <a:off x="1893394" y="713046"/>
            <a:ext cx="61200" cy="612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1" name="Oval 120"/>
          <p:cNvSpPr/>
          <p:nvPr/>
        </p:nvSpPr>
        <p:spPr>
          <a:xfrm>
            <a:off x="1899411" y="1039555"/>
            <a:ext cx="61200" cy="612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10137" y="1099158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Llama-3.1-8B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12142" y="1249328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2E5C8A"/>
                </a:solidFill>
                <a:latin typeface="Arial"/>
              </a:rPr>
              <a:t>Qwen2.5-14B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6802" y="637610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gemma-2-9b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2487" y="424366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gemma-2-2b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1091" y="803203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5E3F8A"/>
                </a:solidFill>
                <a:latin typeface="Arial"/>
              </a:rPr>
              <a:t>Falcon3-7B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33588" y="1111532"/>
            <a:ext cx="54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A9660C"/>
                </a:solidFill>
                <a:latin typeface="Arial"/>
              </a:rPr>
              <a:t>Mistral-7B-v0.3</a:t>
            </a:r>
          </a:p>
        </p:txBody>
      </p:sp>
      <p:sp>
        <p:nvSpPr>
          <p:cNvPr id="128" name="Oval 127"/>
          <p:cNvSpPr/>
          <p:nvPr/>
        </p:nvSpPr>
        <p:spPr>
          <a:xfrm>
            <a:off x="417600" y="1029600"/>
            <a:ext cx="50400" cy="50400"/>
          </a:xfrm>
          <a:prstGeom prst="ellipse">
            <a:avLst/>
          </a:prstGeom>
          <a:solidFill>
            <a:srgbClr val="D6453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00399" y="10188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Llama family</a:t>
            </a:r>
          </a:p>
        </p:txBody>
      </p:sp>
      <p:sp>
        <p:nvSpPr>
          <p:cNvPr id="130" name="Oval 129"/>
          <p:cNvSpPr/>
          <p:nvPr/>
        </p:nvSpPr>
        <p:spPr>
          <a:xfrm>
            <a:off x="417600" y="1116000"/>
            <a:ext cx="50400" cy="50400"/>
          </a:xfrm>
          <a:prstGeom prst="ellipse">
            <a:avLst/>
          </a:prstGeom>
          <a:solidFill>
            <a:srgbClr val="5B8D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0399" y="11052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2E5C8A"/>
                </a:solidFill>
                <a:latin typeface="Arial"/>
              </a:rPr>
              <a:t>Qwen family</a:t>
            </a:r>
          </a:p>
        </p:txBody>
      </p:sp>
      <p:sp>
        <p:nvSpPr>
          <p:cNvPr id="132" name="Oval 131"/>
          <p:cNvSpPr/>
          <p:nvPr/>
        </p:nvSpPr>
        <p:spPr>
          <a:xfrm>
            <a:off x="417600" y="1202400"/>
            <a:ext cx="50400" cy="50400"/>
          </a:xfrm>
          <a:prstGeom prst="ellipse">
            <a:avLst/>
          </a:prstGeom>
          <a:solidFill>
            <a:srgbClr val="E08A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0399" y="11916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A9660C"/>
                </a:solidFill>
                <a:latin typeface="Arial"/>
              </a:rPr>
              <a:t>Mistral family</a:t>
            </a:r>
          </a:p>
        </p:txBody>
      </p:sp>
      <p:sp>
        <p:nvSpPr>
          <p:cNvPr id="134" name="Oval 133"/>
          <p:cNvSpPr/>
          <p:nvPr/>
        </p:nvSpPr>
        <p:spPr>
          <a:xfrm>
            <a:off x="417600" y="1288800"/>
            <a:ext cx="50400" cy="50400"/>
          </a:xfrm>
          <a:prstGeom prst="ellipse">
            <a:avLst/>
          </a:prstGeom>
          <a:solidFill>
            <a:srgbClr val="8E6C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0399" y="12780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5E3F8A"/>
                </a:solidFill>
                <a:latin typeface="Arial"/>
              </a:rPr>
              <a:t>Falcon, SmolLM, granite</a:t>
            </a:r>
          </a:p>
        </p:txBody>
      </p:sp>
      <p:sp>
        <p:nvSpPr>
          <p:cNvPr id="136" name="Oval 135"/>
          <p:cNvSpPr/>
          <p:nvPr/>
        </p:nvSpPr>
        <p:spPr>
          <a:xfrm>
            <a:off x="417600" y="1375200"/>
            <a:ext cx="50400" cy="50400"/>
          </a:xfrm>
          <a:prstGeom prst="ellipse">
            <a:avLst/>
          </a:prstGeom>
          <a:solidFill>
            <a:srgbClr val="3CA3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0399" y="13644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gemma-2 (no sink)</a:t>
            </a:r>
          </a:p>
        </p:txBody>
      </p:sp>
      <p:sp>
        <p:nvSpPr>
          <p:cNvPr id="138" name="Oval 137"/>
          <p:cNvSpPr/>
          <p:nvPr/>
        </p:nvSpPr>
        <p:spPr>
          <a:xfrm>
            <a:off x="399599" y="1443600"/>
            <a:ext cx="86400" cy="86400"/>
          </a:xfrm>
          <a:prstGeom prst="ellipse">
            <a:avLst/>
          </a:prstGeom>
          <a:noFill/>
          <a:ln w="12700">
            <a:solidFill>
              <a:srgbClr val="B5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0399" y="1450800"/>
            <a:ext cx="79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collapses under this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2000" cy="18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2000" y="125999"/>
            <a:ext cx="0" cy="144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2000" y="1565999"/>
            <a:ext cx="1980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93652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7652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4086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8086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54521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8521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84956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68956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5391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9391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799" y="1565999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000" y="1565999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-118799" y="1526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6799" y="1278000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000" y="1278000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118799" y="123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6799" y="990000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2000" y="990000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-118799" y="950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6799" y="702000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000" y="702000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118799" y="662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6799" y="413999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2000" y="413999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-118799" y="374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6799" y="126000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2000" y="126000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-118799" y="86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00" y="1695600"/>
            <a:ext cx="1980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A_BOS   input-side share of BOS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-647999" y="791999"/>
            <a:ext cx="1439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G_BOS   output-side share of BOS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54521" y="702000"/>
            <a:ext cx="904069" cy="863999"/>
          </a:xfrm>
          <a:prstGeom prst="rect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3321" y="1472400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blind spot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93669" y="1530000"/>
            <a:ext cx="6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3675" y="1493999"/>
            <a:ext cx="7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3682" y="1458000"/>
            <a:ext cx="11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3693" y="1422000"/>
            <a:ext cx="13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93706" y="1385999"/>
            <a:ext cx="18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93724" y="1350000"/>
            <a:ext cx="24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3748" y="1314000"/>
            <a:ext cx="33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781" y="1278000"/>
            <a:ext cx="43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3824" y="1242000"/>
            <a:ext cx="57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3881" y="1205999"/>
            <a:ext cx="77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93958" y="1170000"/>
            <a:ext cx="102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94060" y="1134000"/>
            <a:ext cx="136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4196" y="1098000"/>
            <a:ext cx="18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4378" y="1062000"/>
            <a:ext cx="24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4620" y="1025999"/>
            <a:ext cx="323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4943" y="990000"/>
            <a:ext cx="430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5373" y="954000"/>
            <a:ext cx="575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5948" y="917999"/>
            <a:ext cx="765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96713" y="882000"/>
            <a:ext cx="1022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97735" y="845999"/>
            <a:ext cx="1361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9096" y="810000"/>
            <a:ext cx="1816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00912" y="774000"/>
            <a:ext cx="242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03334" y="738000"/>
            <a:ext cx="3229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06563" y="702000"/>
            <a:ext cx="4306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0869" y="666000"/>
            <a:ext cx="574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6611" y="630000"/>
            <a:ext cx="7658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24269" y="594000"/>
            <a:ext cx="1021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4481" y="558000"/>
            <a:ext cx="13617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8098" y="522000"/>
            <a:ext cx="18159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66257" y="486000"/>
            <a:ext cx="24215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90472" y="450000"/>
            <a:ext cx="32292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22764" y="413999"/>
            <a:ext cx="43062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65826" y="378000"/>
            <a:ext cx="57423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23249" y="342000"/>
            <a:ext cx="76576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99825" y="306000"/>
            <a:ext cx="102115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1940" y="270000"/>
            <a:ext cx="136173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38113" y="233999"/>
            <a:ext cx="181590" cy="3600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19703" y="198000"/>
            <a:ext cx="242154" cy="3599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361857" y="162000"/>
            <a:ext cx="322917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684774" y="126000"/>
            <a:ext cx="430617" cy="360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96260" y="286108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7A7A7A"/>
                </a:solidFill>
                <a:latin typeface="Arial"/>
              </a:rPr>
              <a:t>A = G</a:t>
            </a:r>
          </a:p>
        </p:txBody>
      </p:sp>
      <p:sp>
        <p:nvSpPr>
          <p:cNvPr id="78" name="Oval 77"/>
          <p:cNvSpPr/>
          <p:nvPr/>
        </p:nvSpPr>
        <p:spPr>
          <a:xfrm>
            <a:off x="1220759" y="778191"/>
            <a:ext cx="72000" cy="720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Oval 78"/>
          <p:cNvSpPr/>
          <p:nvPr/>
        </p:nvSpPr>
        <p:spPr>
          <a:xfrm>
            <a:off x="1295483" y="792919"/>
            <a:ext cx="72000" cy="720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Oval 79"/>
          <p:cNvSpPr/>
          <p:nvPr/>
        </p:nvSpPr>
        <p:spPr>
          <a:xfrm>
            <a:off x="362149" y="408086"/>
            <a:ext cx="72000" cy="720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366965" y="608786"/>
            <a:ext cx="72000" cy="720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Oval 81"/>
          <p:cNvSpPr/>
          <p:nvPr/>
        </p:nvSpPr>
        <p:spPr>
          <a:xfrm>
            <a:off x="2064239" y="1286379"/>
            <a:ext cx="72000" cy="720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Oval 82"/>
          <p:cNvSpPr/>
          <p:nvPr/>
        </p:nvSpPr>
        <p:spPr>
          <a:xfrm>
            <a:off x="2075259" y="1025853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2075603" y="1050366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Oval 84"/>
          <p:cNvSpPr/>
          <p:nvPr/>
        </p:nvSpPr>
        <p:spPr>
          <a:xfrm>
            <a:off x="2077669" y="1171292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Oval 85"/>
          <p:cNvSpPr/>
          <p:nvPr/>
        </p:nvSpPr>
        <p:spPr>
          <a:xfrm>
            <a:off x="2076120" y="978852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Oval 86"/>
          <p:cNvSpPr/>
          <p:nvPr/>
        </p:nvSpPr>
        <p:spPr>
          <a:xfrm>
            <a:off x="2075259" y="977607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Oval 87"/>
          <p:cNvSpPr/>
          <p:nvPr/>
        </p:nvSpPr>
        <p:spPr>
          <a:xfrm>
            <a:off x="2040292" y="1068172"/>
            <a:ext cx="144000" cy="1440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Oval 88"/>
          <p:cNvSpPr/>
          <p:nvPr/>
        </p:nvSpPr>
        <p:spPr>
          <a:xfrm>
            <a:off x="2076292" y="1104172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Oval 89"/>
          <p:cNvSpPr/>
          <p:nvPr/>
        </p:nvSpPr>
        <p:spPr>
          <a:xfrm>
            <a:off x="1837314" y="1136147"/>
            <a:ext cx="72000" cy="720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Oval 90"/>
          <p:cNvSpPr/>
          <p:nvPr/>
        </p:nvSpPr>
        <p:spPr>
          <a:xfrm>
            <a:off x="1783768" y="1127693"/>
            <a:ext cx="72000" cy="720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2005700" y="891744"/>
            <a:ext cx="72000" cy="720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Oval 92"/>
          <p:cNvSpPr/>
          <p:nvPr/>
        </p:nvSpPr>
        <p:spPr>
          <a:xfrm>
            <a:off x="1950605" y="1129512"/>
            <a:ext cx="72000" cy="720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Oval 93"/>
          <p:cNvSpPr/>
          <p:nvPr/>
        </p:nvSpPr>
        <p:spPr>
          <a:xfrm>
            <a:off x="2042530" y="1114638"/>
            <a:ext cx="144000" cy="1440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2078530" y="1150638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Oval 95"/>
          <p:cNvSpPr/>
          <p:nvPr/>
        </p:nvSpPr>
        <p:spPr>
          <a:xfrm>
            <a:off x="2076120" y="1104297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Oval 96"/>
          <p:cNvSpPr/>
          <p:nvPr/>
        </p:nvSpPr>
        <p:spPr>
          <a:xfrm>
            <a:off x="2058558" y="938161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Oval 97"/>
          <p:cNvSpPr/>
          <p:nvPr/>
        </p:nvSpPr>
        <p:spPr>
          <a:xfrm>
            <a:off x="1820958" y="1185421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Oval 98"/>
          <p:cNvSpPr/>
          <p:nvPr/>
        </p:nvSpPr>
        <p:spPr>
          <a:xfrm>
            <a:off x="1964895" y="1188890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2078186" y="1049424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2074742" y="975748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2077325" y="1048063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2076980" y="957359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Oval 103"/>
          <p:cNvSpPr/>
          <p:nvPr/>
        </p:nvSpPr>
        <p:spPr>
          <a:xfrm>
            <a:off x="1830427" y="1415543"/>
            <a:ext cx="72000" cy="720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2056664" y="783549"/>
            <a:ext cx="72000" cy="720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2068544" y="688255"/>
            <a:ext cx="72000" cy="720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Oval 106"/>
          <p:cNvSpPr/>
          <p:nvPr/>
        </p:nvSpPr>
        <p:spPr>
          <a:xfrm>
            <a:off x="2075259" y="995558"/>
            <a:ext cx="72000" cy="720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874347" y="957184"/>
            <a:ext cx="158745" cy="182988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354695" y="917584"/>
            <a:ext cx="501652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92C21"/>
                </a:solidFill>
                <a:latin typeface="Arial"/>
              </a:rPr>
              <a:t>Llama-3.1-8B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874347" y="1186638"/>
            <a:ext cx="160983" cy="7944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354695" y="1226478"/>
            <a:ext cx="501652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4588C"/>
                </a:solidFill>
                <a:latin typeface="Arial"/>
              </a:rPr>
              <a:t>Qwen2.5-14B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5749" y="404486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B6E70"/>
                </a:solidFill>
                <a:latin typeface="Arial"/>
              </a:rPr>
              <a:t>gemma-2-2b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0565" y="605186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B6E70"/>
                </a:solidFill>
                <a:latin typeface="Arial"/>
              </a:rPr>
              <a:t>gemma-2-9b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0759" y="684591"/>
            <a:ext cx="64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5E408A"/>
                </a:solidFill>
                <a:latin typeface="Arial"/>
              </a:rPr>
              <a:t>Falcon3-7B / 10B</a:t>
            </a:r>
          </a:p>
        </p:txBody>
      </p:sp>
      <p:sp>
        <p:nvSpPr>
          <p:cNvPr id="115" name="Oval 114"/>
          <p:cNvSpPr/>
          <p:nvPr/>
        </p:nvSpPr>
        <p:spPr>
          <a:xfrm>
            <a:off x="469721" y="891299"/>
            <a:ext cx="57600" cy="576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0521" y="88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Llama family</a:t>
            </a:r>
          </a:p>
        </p:txBody>
      </p:sp>
      <p:sp>
        <p:nvSpPr>
          <p:cNvPr id="117" name="Oval 116"/>
          <p:cNvSpPr/>
          <p:nvPr/>
        </p:nvSpPr>
        <p:spPr>
          <a:xfrm>
            <a:off x="469721" y="981299"/>
            <a:ext cx="57600" cy="576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0521" y="97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Qwen family</a:t>
            </a:r>
          </a:p>
        </p:txBody>
      </p:sp>
      <p:sp>
        <p:nvSpPr>
          <p:cNvPr id="119" name="Oval 118"/>
          <p:cNvSpPr/>
          <p:nvPr/>
        </p:nvSpPr>
        <p:spPr>
          <a:xfrm>
            <a:off x="469721" y="1071299"/>
            <a:ext cx="57600" cy="576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0521" y="106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Mistral family</a:t>
            </a:r>
          </a:p>
        </p:txBody>
      </p:sp>
      <p:sp>
        <p:nvSpPr>
          <p:cNvPr id="121" name="Oval 120"/>
          <p:cNvSpPr/>
          <p:nvPr/>
        </p:nvSpPr>
        <p:spPr>
          <a:xfrm>
            <a:off x="469721" y="1161299"/>
            <a:ext cx="57600" cy="576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0521" y="115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E408A"/>
                </a:solidFill>
                <a:latin typeface="Arial"/>
              </a:rPr>
              <a:t>Falcon / SmolLM / granite</a:t>
            </a:r>
          </a:p>
        </p:txBody>
      </p:sp>
      <p:sp>
        <p:nvSpPr>
          <p:cNvPr id="123" name="Oval 122"/>
          <p:cNvSpPr/>
          <p:nvPr/>
        </p:nvSpPr>
        <p:spPr>
          <a:xfrm>
            <a:off x="469721" y="1251299"/>
            <a:ext cx="57600" cy="576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0521" y="124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B6E70"/>
                </a:solidFill>
                <a:latin typeface="Arial"/>
              </a:rPr>
              <a:t>gemma-2 (no sink)</a:t>
            </a:r>
          </a:p>
        </p:txBody>
      </p:sp>
      <p:sp>
        <p:nvSpPr>
          <p:cNvPr id="125" name="Oval 124"/>
          <p:cNvSpPr/>
          <p:nvPr/>
        </p:nvSpPr>
        <p:spPr>
          <a:xfrm>
            <a:off x="451721" y="1323299"/>
            <a:ext cx="93600" cy="936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0521" y="1330499"/>
            <a:ext cx="1007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collapses (short documents)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60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0000" y="108000"/>
            <a:ext cx="0" cy="153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0000" y="1638000"/>
            <a:ext cx="264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0247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4247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15646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9646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1044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85044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6442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0442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1840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55840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4800" y="163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0000" y="1638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-100799" y="159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4800" y="1332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0000" y="1332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100799" y="1292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4800" y="1025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000" y="1025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-100799" y="986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4800" y="720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0000" y="720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100799" y="680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" y="413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0000" y="413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-100799" y="374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4800" y="107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000" y="107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-100799" y="6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1767600"/>
            <a:ext cx="264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A_BOS:  input-side share of BOS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-693000" y="819000"/>
            <a:ext cx="153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G_BOS:  output-side share of BOS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1044" y="720000"/>
            <a:ext cx="1404955" cy="917999"/>
          </a:xfrm>
          <a:prstGeom prst="rect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37044" y="1537199"/>
            <a:ext cx="1655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2C21"/>
                </a:solidFill>
                <a:latin typeface="Arial"/>
              </a:rPr>
              <a:t>blind spot:  A_BOS ≥ 0.5,  G_BOS ≤ 0.01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30271" y="1599749"/>
            <a:ext cx="8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0279" y="1561499"/>
            <a:ext cx="10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289" y="1523250"/>
            <a:ext cx="14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0303" y="1485000"/>
            <a:ext cx="1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30321" y="1446750"/>
            <a:ext cx="2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30346" y="1408499"/>
            <a:ext cx="33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30379" y="1370250"/>
            <a:ext cx="44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30423" y="1332000"/>
            <a:ext cx="5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30481" y="1293750"/>
            <a:ext cx="7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30560" y="1255500"/>
            <a:ext cx="10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0664" y="1217249"/>
            <a:ext cx="139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30803" y="1179000"/>
            <a:ext cx="185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0988" y="1140750"/>
            <a:ext cx="247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1235" y="1102500"/>
            <a:ext cx="32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31564" y="1064250"/>
            <a:ext cx="43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2003" y="1025999"/>
            <a:ext cx="586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2589" y="987750"/>
            <a:ext cx="781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3370" y="949499"/>
            <a:ext cx="1041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4411" y="911250"/>
            <a:ext cx="1389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5800" y="872999"/>
            <a:ext cx="1852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37652" y="834749"/>
            <a:ext cx="2470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0122" y="796499"/>
            <a:ext cx="3293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43415" y="758250"/>
            <a:ext cx="4392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7807" y="720000"/>
            <a:ext cx="5856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53663" y="681749"/>
            <a:ext cx="7810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61473" y="643499"/>
            <a:ext cx="1041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71887" y="605249"/>
            <a:ext cx="1388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5775" y="567000"/>
            <a:ext cx="18520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04295" y="528750"/>
            <a:ext cx="24696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28991" y="490499"/>
            <a:ext cx="32934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1925" y="452249"/>
            <a:ext cx="43917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05842" y="413999"/>
            <a:ext cx="5856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4407" y="375750"/>
            <a:ext cx="78097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42504" y="337500"/>
            <a:ext cx="10414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6648" y="299249"/>
            <a:ext cx="138878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5526" y="260999"/>
            <a:ext cx="18519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70724" y="222749"/>
            <a:ext cx="24696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17689" y="184500"/>
            <a:ext cx="329333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747022" y="146250"/>
            <a:ext cx="439172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186194" y="107999"/>
            <a:ext cx="585646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366884" y="251369"/>
            <a:ext cx="79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7A7A7A"/>
                </a:solidFill>
                <a:latin typeface="Arial"/>
              </a:rPr>
              <a:t>A_BOS = G_BOS</a:t>
            </a:r>
          </a:p>
        </p:txBody>
      </p:sp>
      <p:sp>
        <p:nvSpPr>
          <p:cNvPr id="78" name="Oval 77"/>
          <p:cNvSpPr/>
          <p:nvPr/>
        </p:nvSpPr>
        <p:spPr>
          <a:xfrm>
            <a:off x="1564488" y="799603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Oval 78"/>
          <p:cNvSpPr/>
          <p:nvPr/>
        </p:nvSpPr>
        <p:spPr>
          <a:xfrm>
            <a:off x="1666113" y="815251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Oval 79"/>
          <p:cNvSpPr/>
          <p:nvPr/>
        </p:nvSpPr>
        <p:spPr>
          <a:xfrm>
            <a:off x="396764" y="406366"/>
            <a:ext cx="79200" cy="792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403313" y="619610"/>
            <a:ext cx="79200" cy="792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Oval 81"/>
          <p:cNvSpPr/>
          <p:nvPr/>
        </p:nvSpPr>
        <p:spPr>
          <a:xfrm>
            <a:off x="2711634" y="1339553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Oval 82"/>
          <p:cNvSpPr/>
          <p:nvPr/>
        </p:nvSpPr>
        <p:spPr>
          <a:xfrm>
            <a:off x="2726620" y="1062744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2727089" y="1088789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Oval 84"/>
          <p:cNvSpPr/>
          <p:nvPr/>
        </p:nvSpPr>
        <p:spPr>
          <a:xfrm>
            <a:off x="2729899" y="1217273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Oval 85"/>
          <p:cNvSpPr/>
          <p:nvPr/>
        </p:nvSpPr>
        <p:spPr>
          <a:xfrm>
            <a:off x="2727791" y="1012805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Oval 86"/>
          <p:cNvSpPr/>
          <p:nvPr/>
        </p:nvSpPr>
        <p:spPr>
          <a:xfrm>
            <a:off x="2726620" y="1011482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Oval 87"/>
          <p:cNvSpPr/>
          <p:nvPr/>
        </p:nvSpPr>
        <p:spPr>
          <a:xfrm>
            <a:off x="2688425" y="1106358"/>
            <a:ext cx="158400" cy="1584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Oval 88"/>
          <p:cNvSpPr/>
          <p:nvPr/>
        </p:nvSpPr>
        <p:spPr>
          <a:xfrm>
            <a:off x="2728025" y="1145958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Oval 89"/>
          <p:cNvSpPr/>
          <p:nvPr/>
        </p:nvSpPr>
        <p:spPr>
          <a:xfrm>
            <a:off x="2403012" y="1179932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Oval 90"/>
          <p:cNvSpPr/>
          <p:nvPr/>
        </p:nvSpPr>
        <p:spPr>
          <a:xfrm>
            <a:off x="2330189" y="1170949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2632020" y="920253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Oval 92"/>
          <p:cNvSpPr/>
          <p:nvPr/>
        </p:nvSpPr>
        <p:spPr>
          <a:xfrm>
            <a:off x="2557089" y="1172881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Oval 93"/>
          <p:cNvSpPr/>
          <p:nvPr/>
        </p:nvSpPr>
        <p:spPr>
          <a:xfrm>
            <a:off x="2691469" y="1155728"/>
            <a:ext cx="158400" cy="1584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2731069" y="1195328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Oval 95"/>
          <p:cNvSpPr/>
          <p:nvPr/>
        </p:nvSpPr>
        <p:spPr>
          <a:xfrm>
            <a:off x="2727791" y="114609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Oval 96"/>
          <p:cNvSpPr/>
          <p:nvPr/>
        </p:nvSpPr>
        <p:spPr>
          <a:xfrm>
            <a:off x="2703907" y="96957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Oval 97"/>
          <p:cNvSpPr/>
          <p:nvPr/>
        </p:nvSpPr>
        <p:spPr>
          <a:xfrm>
            <a:off x="2380767" y="1232285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Oval 98"/>
          <p:cNvSpPr/>
          <p:nvPr/>
        </p:nvSpPr>
        <p:spPr>
          <a:xfrm>
            <a:off x="2576524" y="123597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2730601" y="1087788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2725918" y="1009507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2729430" y="1086342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2728962" y="989969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Oval 103"/>
          <p:cNvSpPr/>
          <p:nvPr/>
        </p:nvSpPr>
        <p:spPr>
          <a:xfrm>
            <a:off x="2393646" y="1476789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2701331" y="805295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2717488" y="704046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Oval 106"/>
          <p:cNvSpPr/>
          <p:nvPr/>
        </p:nvSpPr>
        <p:spPr>
          <a:xfrm>
            <a:off x="2726620" y="1030555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467433" y="981284"/>
            <a:ext cx="213792" cy="204274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718123" y="941684"/>
            <a:ext cx="74930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Llama-3.1-8B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2467433" y="1234928"/>
            <a:ext cx="216836" cy="84405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718123" y="1279733"/>
            <a:ext cx="74930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Qwen2.5-14B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1164" y="406366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gemma-2-2b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713" y="619610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gemma-2-9b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52088" y="702403"/>
            <a:ext cx="72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E408A"/>
                </a:solidFill>
                <a:latin typeface="Arial"/>
              </a:rPr>
              <a:t>Falcon3-7B / 10B</a:t>
            </a:r>
          </a:p>
        </p:txBody>
      </p:sp>
      <p:sp>
        <p:nvSpPr>
          <p:cNvPr id="115" name="Oval 114"/>
          <p:cNvSpPr/>
          <p:nvPr/>
        </p:nvSpPr>
        <p:spPr>
          <a:xfrm>
            <a:off x="531111" y="909818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9111" y="8990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92C21"/>
                </a:solidFill>
                <a:latin typeface="Arial"/>
              </a:rPr>
              <a:t>Llama family</a:t>
            </a:r>
          </a:p>
        </p:txBody>
      </p:sp>
      <p:sp>
        <p:nvSpPr>
          <p:cNvPr id="117" name="Oval 116"/>
          <p:cNvSpPr/>
          <p:nvPr/>
        </p:nvSpPr>
        <p:spPr>
          <a:xfrm>
            <a:off x="531111" y="1007018"/>
            <a:ext cx="64800" cy="648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9111" y="9962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24588C"/>
                </a:solidFill>
                <a:latin typeface="Arial"/>
              </a:rPr>
              <a:t>Qwen family</a:t>
            </a:r>
          </a:p>
        </p:txBody>
      </p:sp>
      <p:sp>
        <p:nvSpPr>
          <p:cNvPr id="119" name="Oval 118"/>
          <p:cNvSpPr/>
          <p:nvPr/>
        </p:nvSpPr>
        <p:spPr>
          <a:xfrm>
            <a:off x="531111" y="1104218"/>
            <a:ext cx="64800" cy="648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9111" y="10934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86208"/>
                </a:solidFill>
                <a:latin typeface="Arial"/>
              </a:rPr>
              <a:t>Mistral family</a:t>
            </a:r>
          </a:p>
        </p:txBody>
      </p:sp>
      <p:sp>
        <p:nvSpPr>
          <p:cNvPr id="121" name="Oval 120"/>
          <p:cNvSpPr/>
          <p:nvPr/>
        </p:nvSpPr>
        <p:spPr>
          <a:xfrm>
            <a:off x="531111" y="1201418"/>
            <a:ext cx="64800" cy="648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9111" y="11906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5E408A"/>
                </a:solidFill>
                <a:latin typeface="Arial"/>
              </a:rPr>
              <a:t>Falcon, SmolLM, granite</a:t>
            </a:r>
          </a:p>
        </p:txBody>
      </p:sp>
      <p:sp>
        <p:nvSpPr>
          <p:cNvPr id="123" name="Oval 122"/>
          <p:cNvSpPr/>
          <p:nvPr/>
        </p:nvSpPr>
        <p:spPr>
          <a:xfrm>
            <a:off x="531111" y="1298618"/>
            <a:ext cx="64800" cy="648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9111" y="12878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 (no sink)</a:t>
            </a:r>
          </a:p>
        </p:txBody>
      </p:sp>
      <p:sp>
        <p:nvSpPr>
          <p:cNvPr id="125" name="Oval 124"/>
          <p:cNvSpPr/>
          <p:nvPr/>
        </p:nvSpPr>
        <p:spPr>
          <a:xfrm>
            <a:off x="513111" y="1377818"/>
            <a:ext cx="100800" cy="1008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9111" y="1385018"/>
            <a:ext cx="129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92C21"/>
                </a:solidFill>
                <a:latin typeface="Arial"/>
              </a:rPr>
              <a:t>collapses under short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60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0000" y="108000"/>
            <a:ext cx="0" cy="153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0000" y="1638000"/>
            <a:ext cx="264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0247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4247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15646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9646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1044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85044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6442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0442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1840" y="1638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55840" y="1666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4800" y="163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0000" y="1638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-100799" y="159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4800" y="1332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0000" y="1332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100799" y="1292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4800" y="1025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000" y="1025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-100799" y="986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4800" y="720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0000" y="720000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100799" y="680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" y="413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0000" y="413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-100799" y="374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10⁻¹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4800" y="107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000" y="107999"/>
            <a:ext cx="2646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-100799" y="6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1767600"/>
            <a:ext cx="264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A_BOS:  input-side share of BOS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-693000" y="819000"/>
            <a:ext cx="153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G_BOS:  output-side share of BOS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1044" y="720000"/>
            <a:ext cx="1404955" cy="917999"/>
          </a:xfrm>
          <a:prstGeom prst="rect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37044" y="1537199"/>
            <a:ext cx="1655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blind spot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30271" y="1599749"/>
            <a:ext cx="8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0279" y="1561499"/>
            <a:ext cx="10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289" y="1523250"/>
            <a:ext cx="14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0303" y="1485000"/>
            <a:ext cx="1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30321" y="1446750"/>
            <a:ext cx="2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30346" y="1408499"/>
            <a:ext cx="33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30379" y="1370250"/>
            <a:ext cx="44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30423" y="1332000"/>
            <a:ext cx="5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30481" y="1293750"/>
            <a:ext cx="7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30560" y="1255500"/>
            <a:ext cx="10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0664" y="1217249"/>
            <a:ext cx="139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30803" y="1179000"/>
            <a:ext cx="185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0988" y="1140750"/>
            <a:ext cx="247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1235" y="1102500"/>
            <a:ext cx="32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31564" y="1064250"/>
            <a:ext cx="439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2003" y="1025999"/>
            <a:ext cx="586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2589" y="987750"/>
            <a:ext cx="781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3370" y="949499"/>
            <a:ext cx="1041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4411" y="911250"/>
            <a:ext cx="1389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5800" y="872999"/>
            <a:ext cx="1852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37652" y="834749"/>
            <a:ext cx="2470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0122" y="796499"/>
            <a:ext cx="3293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43415" y="758250"/>
            <a:ext cx="4392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7807" y="720000"/>
            <a:ext cx="5856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53663" y="681749"/>
            <a:ext cx="7810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61473" y="643499"/>
            <a:ext cx="1041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71887" y="605249"/>
            <a:ext cx="1388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5775" y="567000"/>
            <a:ext cx="18520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04295" y="528750"/>
            <a:ext cx="24696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28991" y="490499"/>
            <a:ext cx="32934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1925" y="452249"/>
            <a:ext cx="43917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05842" y="413999"/>
            <a:ext cx="5856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4407" y="375750"/>
            <a:ext cx="78097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42504" y="337500"/>
            <a:ext cx="104144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6648" y="299249"/>
            <a:ext cx="138878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5526" y="260999"/>
            <a:ext cx="185198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70724" y="222749"/>
            <a:ext cx="246965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17689" y="184500"/>
            <a:ext cx="329333" cy="38249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747022" y="146250"/>
            <a:ext cx="439172" cy="3825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186194" y="107999"/>
            <a:ext cx="585646" cy="38251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73221" y="265371"/>
            <a:ext cx="115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7A7A7A"/>
                </a:solidFill>
                <a:latin typeface="Arial"/>
              </a:rPr>
              <a:t>no mismatch:  A_BOS = G_BOS</a:t>
            </a:r>
          </a:p>
        </p:txBody>
      </p:sp>
      <p:sp>
        <p:nvSpPr>
          <p:cNvPr id="78" name="Oval 77"/>
          <p:cNvSpPr/>
          <p:nvPr/>
        </p:nvSpPr>
        <p:spPr>
          <a:xfrm>
            <a:off x="1564488" y="799603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Oval 78"/>
          <p:cNvSpPr/>
          <p:nvPr/>
        </p:nvSpPr>
        <p:spPr>
          <a:xfrm>
            <a:off x="1666113" y="815251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Oval 79"/>
          <p:cNvSpPr/>
          <p:nvPr/>
        </p:nvSpPr>
        <p:spPr>
          <a:xfrm>
            <a:off x="396764" y="406366"/>
            <a:ext cx="79200" cy="792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403313" y="619610"/>
            <a:ext cx="79200" cy="792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Oval 81"/>
          <p:cNvSpPr/>
          <p:nvPr/>
        </p:nvSpPr>
        <p:spPr>
          <a:xfrm>
            <a:off x="2711634" y="1339553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Oval 82"/>
          <p:cNvSpPr/>
          <p:nvPr/>
        </p:nvSpPr>
        <p:spPr>
          <a:xfrm>
            <a:off x="2726620" y="1062744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2727089" y="1088789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Oval 84"/>
          <p:cNvSpPr/>
          <p:nvPr/>
        </p:nvSpPr>
        <p:spPr>
          <a:xfrm>
            <a:off x="2729899" y="1217273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Oval 85"/>
          <p:cNvSpPr/>
          <p:nvPr/>
        </p:nvSpPr>
        <p:spPr>
          <a:xfrm>
            <a:off x="2727791" y="1012805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Oval 86"/>
          <p:cNvSpPr/>
          <p:nvPr/>
        </p:nvSpPr>
        <p:spPr>
          <a:xfrm>
            <a:off x="2726620" y="1011482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Oval 87"/>
          <p:cNvSpPr/>
          <p:nvPr/>
        </p:nvSpPr>
        <p:spPr>
          <a:xfrm>
            <a:off x="2688425" y="1106358"/>
            <a:ext cx="158400" cy="1584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Oval 88"/>
          <p:cNvSpPr/>
          <p:nvPr/>
        </p:nvSpPr>
        <p:spPr>
          <a:xfrm>
            <a:off x="2728025" y="1145958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Oval 89"/>
          <p:cNvSpPr/>
          <p:nvPr/>
        </p:nvSpPr>
        <p:spPr>
          <a:xfrm>
            <a:off x="2403012" y="1179932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Oval 90"/>
          <p:cNvSpPr/>
          <p:nvPr/>
        </p:nvSpPr>
        <p:spPr>
          <a:xfrm>
            <a:off x="2330189" y="1170949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2632020" y="920253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Oval 92"/>
          <p:cNvSpPr/>
          <p:nvPr/>
        </p:nvSpPr>
        <p:spPr>
          <a:xfrm>
            <a:off x="2557089" y="1172881"/>
            <a:ext cx="79200" cy="792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Oval 93"/>
          <p:cNvSpPr/>
          <p:nvPr/>
        </p:nvSpPr>
        <p:spPr>
          <a:xfrm>
            <a:off x="2691469" y="1155728"/>
            <a:ext cx="158400" cy="1584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2731069" y="1195328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Oval 95"/>
          <p:cNvSpPr/>
          <p:nvPr/>
        </p:nvSpPr>
        <p:spPr>
          <a:xfrm>
            <a:off x="2727791" y="114609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Oval 96"/>
          <p:cNvSpPr/>
          <p:nvPr/>
        </p:nvSpPr>
        <p:spPr>
          <a:xfrm>
            <a:off x="2703907" y="96957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Oval 97"/>
          <p:cNvSpPr/>
          <p:nvPr/>
        </p:nvSpPr>
        <p:spPr>
          <a:xfrm>
            <a:off x="2380767" y="1232285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Oval 98"/>
          <p:cNvSpPr/>
          <p:nvPr/>
        </p:nvSpPr>
        <p:spPr>
          <a:xfrm>
            <a:off x="2576524" y="1235971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2730601" y="1087788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2725918" y="1009507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2729430" y="1086342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2728962" y="989969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Oval 103"/>
          <p:cNvSpPr/>
          <p:nvPr/>
        </p:nvSpPr>
        <p:spPr>
          <a:xfrm>
            <a:off x="2393646" y="1476789"/>
            <a:ext cx="79200" cy="792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2701331" y="805295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2717488" y="704046"/>
            <a:ext cx="79200" cy="792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Oval 106"/>
          <p:cNvSpPr/>
          <p:nvPr/>
        </p:nvSpPr>
        <p:spPr>
          <a:xfrm>
            <a:off x="2726620" y="1030555"/>
            <a:ext cx="79200" cy="792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467433" y="981284"/>
            <a:ext cx="213792" cy="204274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718123" y="941684"/>
            <a:ext cx="74930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Llama-3.1-8B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2467433" y="1234928"/>
            <a:ext cx="216836" cy="84405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718123" y="1279733"/>
            <a:ext cx="74930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Qwen2.5-14B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1164" y="406366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gemma-2-2b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713" y="619610"/>
            <a:ext cx="54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gemma-2-9b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52088" y="702403"/>
            <a:ext cx="72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E408A"/>
                </a:solidFill>
                <a:latin typeface="Arial"/>
              </a:rPr>
              <a:t>Falcon3-7B / 10B</a:t>
            </a:r>
          </a:p>
        </p:txBody>
      </p:sp>
      <p:sp>
        <p:nvSpPr>
          <p:cNvPr id="115" name="Oval 114"/>
          <p:cNvSpPr/>
          <p:nvPr/>
        </p:nvSpPr>
        <p:spPr>
          <a:xfrm>
            <a:off x="531111" y="909818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9111" y="8990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92C21"/>
                </a:solidFill>
                <a:latin typeface="Arial"/>
              </a:rPr>
              <a:t>Llama family</a:t>
            </a:r>
          </a:p>
        </p:txBody>
      </p:sp>
      <p:sp>
        <p:nvSpPr>
          <p:cNvPr id="117" name="Oval 116"/>
          <p:cNvSpPr/>
          <p:nvPr/>
        </p:nvSpPr>
        <p:spPr>
          <a:xfrm>
            <a:off x="531111" y="1007018"/>
            <a:ext cx="64800" cy="64800"/>
          </a:xfrm>
          <a:prstGeom prst="ellipse">
            <a:avLst/>
          </a:prstGeom>
          <a:solidFill>
            <a:srgbClr val="3B7D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9111" y="9962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24588C"/>
                </a:solidFill>
                <a:latin typeface="Arial"/>
              </a:rPr>
              <a:t>Qwen family</a:t>
            </a:r>
          </a:p>
        </p:txBody>
      </p:sp>
      <p:sp>
        <p:nvSpPr>
          <p:cNvPr id="119" name="Oval 118"/>
          <p:cNvSpPr/>
          <p:nvPr/>
        </p:nvSpPr>
        <p:spPr>
          <a:xfrm>
            <a:off x="531111" y="1104218"/>
            <a:ext cx="64800" cy="64800"/>
          </a:xfrm>
          <a:prstGeom prst="ellipse">
            <a:avLst/>
          </a:prstGeom>
          <a:solidFill>
            <a:srgbClr val="E88E1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9111" y="10934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86208"/>
                </a:solidFill>
                <a:latin typeface="Arial"/>
              </a:rPr>
              <a:t>Mistral family</a:t>
            </a:r>
          </a:p>
        </p:txBody>
      </p:sp>
      <p:sp>
        <p:nvSpPr>
          <p:cNvPr id="121" name="Oval 120"/>
          <p:cNvSpPr/>
          <p:nvPr/>
        </p:nvSpPr>
        <p:spPr>
          <a:xfrm>
            <a:off x="531111" y="1201418"/>
            <a:ext cx="64800" cy="64800"/>
          </a:xfrm>
          <a:prstGeom prst="ellipse">
            <a:avLst/>
          </a:prstGeom>
          <a:solidFill>
            <a:srgbClr val="8B6B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9111" y="11906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5E408A"/>
                </a:solidFill>
                <a:latin typeface="Arial"/>
              </a:rPr>
              <a:t>Falcon, SmolLM, granite</a:t>
            </a:r>
          </a:p>
        </p:txBody>
      </p:sp>
      <p:sp>
        <p:nvSpPr>
          <p:cNvPr id="123" name="Oval 122"/>
          <p:cNvSpPr/>
          <p:nvPr/>
        </p:nvSpPr>
        <p:spPr>
          <a:xfrm>
            <a:off x="531111" y="1298618"/>
            <a:ext cx="64800" cy="64800"/>
          </a:xfrm>
          <a:prstGeom prst="ellipse">
            <a:avLst/>
          </a:prstGeom>
          <a:solidFill>
            <a:srgbClr val="2A9D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9111" y="1287818"/>
            <a:ext cx="100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1B6E70"/>
                </a:solidFill>
                <a:latin typeface="Arial"/>
              </a:rPr>
              <a:t>gemma-2 (no sink)</a:t>
            </a:r>
          </a:p>
        </p:txBody>
      </p:sp>
      <p:sp>
        <p:nvSpPr>
          <p:cNvPr id="125" name="Oval 124"/>
          <p:cNvSpPr/>
          <p:nvPr/>
        </p:nvSpPr>
        <p:spPr>
          <a:xfrm>
            <a:off x="513111" y="1377818"/>
            <a:ext cx="100800" cy="100800"/>
          </a:xfrm>
          <a:prstGeom prst="ellipse">
            <a:avLst/>
          </a:prstGeom>
          <a:noFill/>
          <a:ln w="12700">
            <a:solidFill>
              <a:srgbClr val="A92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9111" y="1385018"/>
            <a:ext cx="129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A92C21"/>
                </a:solidFill>
                <a:latin typeface="Arial"/>
              </a:rPr>
              <a:t>collapses (short documents)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