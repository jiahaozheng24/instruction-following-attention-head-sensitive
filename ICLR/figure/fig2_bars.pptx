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5040000" cy="17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2026-09-22: parallel coordinates, Llama-3.1-8B, five arms x IFEval / MMLU / PPL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2026-09-22: scatter MMLU x IFEval, Llama (circles) and Qwen (squares), six arms, RTN-&gt;GPTQ arrows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2026-09-22: two dot plots, (a) GPTQ vs RTN by benchmark, (b) IFEval by calibration protocol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 2026-09-22: as v3, one-line note under (b), letters on the RTN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12000" cy="2015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4000" y="288000"/>
            <a:ext cx="0" cy="1367999"/>
          </a:xfrm>
          <a:prstGeom prst="line">
            <a:avLst/>
          </a:prstGeom>
          <a:ln w="9525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0000" y="136800"/>
            <a:ext cx="64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333333"/>
                </a:solidFill>
                <a:latin typeface="Arial"/>
              </a:rPr>
              <a:t>IFEval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6000" y="1447714"/>
            <a:ext cx="35999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56000" y="1067142"/>
            <a:ext cx="35999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6000" y="686571"/>
            <a:ext cx="35999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6000" y="306000"/>
            <a:ext cx="35999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4000" y="288000"/>
            <a:ext cx="0" cy="1367999"/>
          </a:xfrm>
          <a:prstGeom prst="line">
            <a:avLst/>
          </a:prstGeom>
          <a:ln w="9525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70000" y="136800"/>
            <a:ext cx="64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333333"/>
                </a:solidFill>
                <a:latin typeface="Arial"/>
              </a:rPr>
              <a:t>MMLU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76000" y="1638000"/>
            <a:ext cx="36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76000" y="1194000"/>
            <a:ext cx="36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76000" y="750000"/>
            <a:ext cx="36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76000" y="306000"/>
            <a:ext cx="36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60000" y="288000"/>
            <a:ext cx="0" cy="1367999"/>
          </a:xfrm>
          <a:prstGeom prst="line">
            <a:avLst/>
          </a:prstGeom>
          <a:ln w="9525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35999" y="136800"/>
            <a:ext cx="64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333333"/>
                </a:solidFill>
                <a:latin typeface="Arial"/>
              </a:rPr>
              <a:t>perplexity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42000" y="1638000"/>
            <a:ext cx="36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42000" y="1305000"/>
            <a:ext cx="36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42000" y="972000"/>
            <a:ext cx="36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42000" y="639000"/>
            <a:ext cx="36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2000" y="306000"/>
            <a:ext cx="36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3999" y="1695600"/>
            <a:ext cx="72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free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4000" y="1695600"/>
            <a:ext cx="72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likelihood-based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28000" y="1695600"/>
            <a:ext cx="66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lower is better, drawn up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4000" y="366891"/>
            <a:ext cx="720000" cy="14588"/>
          </a:xfrm>
          <a:prstGeom prst="line">
            <a:avLst/>
          </a:prstGeom>
          <a:ln w="1143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94000" y="381479"/>
            <a:ext cx="666000" cy="71041"/>
          </a:xfrm>
          <a:prstGeom prst="line">
            <a:avLst/>
          </a:prstGeom>
          <a:ln w="1143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45200" y="338091"/>
            <a:ext cx="57600" cy="57600"/>
          </a:xfrm>
          <a:prstGeom prst="ellipse">
            <a:avLst/>
          </a:prstGeom>
          <a:solidFill>
            <a:srgbClr val="33333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1465200" y="352679"/>
            <a:ext cx="57600" cy="57600"/>
          </a:xfrm>
          <a:prstGeom prst="ellipse">
            <a:avLst/>
          </a:prstGeom>
          <a:solidFill>
            <a:srgbClr val="33333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2131200" y="423720"/>
            <a:ext cx="57600" cy="57600"/>
          </a:xfrm>
          <a:prstGeom prst="ellipse">
            <a:avLst/>
          </a:prstGeom>
          <a:solidFill>
            <a:srgbClr val="33333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" y="327291"/>
            <a:ext cx="66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 i="0">
                <a:solidFill>
                  <a:srgbClr val="333333"/>
                </a:solidFill>
                <a:latin typeface="Arial"/>
              </a:rPr>
              <a:t>fp16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200" y="330891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333333"/>
                </a:solidFill>
                <a:latin typeface="Arial"/>
              </a:rPr>
              <a:t>0.77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7200" y="34547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333333"/>
                </a:solidFill>
                <a:latin typeface="Arial"/>
              </a:rPr>
              <a:t>0.68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3200" y="41652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333333"/>
                </a:solidFill>
                <a:latin typeface="Arial"/>
              </a:rPr>
              <a:t>7.2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4000" y="389725"/>
            <a:ext cx="720000" cy="98314"/>
          </a:xfrm>
          <a:prstGeom prst="line">
            <a:avLst/>
          </a:prstGeom>
          <a:ln w="11430">
            <a:solidFill>
              <a:srgbClr val="5B8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94000" y="488039"/>
            <a:ext cx="666000" cy="130981"/>
          </a:xfrm>
          <a:prstGeom prst="line">
            <a:avLst/>
          </a:prstGeom>
          <a:ln w="11430">
            <a:solidFill>
              <a:srgbClr val="5B8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45200" y="360925"/>
            <a:ext cx="57600" cy="57600"/>
          </a:xfrm>
          <a:prstGeom prst="ellipse">
            <a:avLst/>
          </a:prstGeom>
          <a:solidFill>
            <a:srgbClr val="5B8D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1465200" y="459239"/>
            <a:ext cx="57600" cy="57600"/>
          </a:xfrm>
          <a:prstGeom prst="ellipse">
            <a:avLst/>
          </a:prstGeom>
          <a:solidFill>
            <a:srgbClr val="5B8D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2131200" y="590220"/>
            <a:ext cx="57600" cy="57600"/>
          </a:xfrm>
          <a:prstGeom prst="ellipse">
            <a:avLst/>
          </a:prstGeom>
          <a:solidFill>
            <a:srgbClr val="5B8DB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" y="410091"/>
            <a:ext cx="66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 i="0">
                <a:solidFill>
                  <a:srgbClr val="2E5C8A"/>
                </a:solidFill>
                <a:latin typeface="Arial"/>
              </a:rPr>
              <a:t>GPTQ 4-bit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200" y="413691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2E5C8A"/>
                </a:solidFill>
                <a:latin typeface="Arial"/>
              </a:rPr>
              <a:t>0.76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7200" y="45203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2E5C8A"/>
                </a:solidFill>
                <a:latin typeface="Arial"/>
              </a:rPr>
              <a:t>0.66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03200" y="58302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2E5C8A"/>
                </a:solidFill>
                <a:latin typeface="Arial"/>
              </a:rPr>
              <a:t>9.7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4000" y="614262"/>
            <a:ext cx="720000" cy="517578"/>
          </a:xfrm>
          <a:prstGeom prst="line">
            <a:avLst/>
          </a:prstGeom>
          <a:ln w="11430">
            <a:solidFill>
              <a:srgbClr val="3CA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494000" y="798840"/>
            <a:ext cx="666000" cy="333000"/>
          </a:xfrm>
          <a:prstGeom prst="line">
            <a:avLst/>
          </a:prstGeom>
          <a:ln w="11430">
            <a:solidFill>
              <a:srgbClr val="3CA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745200" y="585462"/>
            <a:ext cx="57600" cy="57600"/>
          </a:xfrm>
          <a:prstGeom prst="ellipse">
            <a:avLst/>
          </a:prstGeom>
          <a:solidFill>
            <a:srgbClr val="3CA3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1465200" y="1103039"/>
            <a:ext cx="57600" cy="57600"/>
          </a:xfrm>
          <a:prstGeom prst="ellipse">
            <a:avLst/>
          </a:prstGeom>
          <a:solidFill>
            <a:srgbClr val="3CA3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2131200" y="770039"/>
            <a:ext cx="57600" cy="57600"/>
          </a:xfrm>
          <a:prstGeom prst="ellipse">
            <a:avLst/>
          </a:prstGeom>
          <a:solidFill>
            <a:srgbClr val="3CA3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0" y="574662"/>
            <a:ext cx="66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 i="0">
                <a:solidFill>
                  <a:srgbClr val="1E7A4A"/>
                </a:solidFill>
                <a:latin typeface="Arial"/>
              </a:rPr>
              <a:t>corrected 3-bit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7200" y="578262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1E7A4A"/>
                </a:solidFill>
                <a:latin typeface="Arial"/>
              </a:rPr>
              <a:t>0.64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7200" y="113423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1E7A4A"/>
                </a:solidFill>
                <a:latin typeface="Arial"/>
              </a:rPr>
              <a:t>0.51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03200" y="76283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1E7A4A"/>
                </a:solidFill>
                <a:latin typeface="Arial"/>
              </a:rPr>
              <a:t>12.4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74000" y="753171"/>
            <a:ext cx="720000" cy="813789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494000" y="1005300"/>
            <a:ext cx="666000" cy="561660"/>
          </a:xfrm>
          <a:prstGeom prst="line">
            <a:avLst/>
          </a:prstGeom>
          <a:ln w="11430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45200" y="724371"/>
            <a:ext cx="57600" cy="57600"/>
          </a:xfrm>
          <a:prstGeom prst="ellipse">
            <a:avLst/>
          </a:prstGeom>
          <a:solidFill>
            <a:srgbClr val="B8B8B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5" name="Oval 54"/>
          <p:cNvSpPr/>
          <p:nvPr/>
        </p:nvSpPr>
        <p:spPr>
          <a:xfrm>
            <a:off x="1465200" y="1538160"/>
            <a:ext cx="57600" cy="57600"/>
          </a:xfrm>
          <a:prstGeom prst="ellipse">
            <a:avLst/>
          </a:prstGeom>
          <a:solidFill>
            <a:srgbClr val="B8B8B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6" name="Oval 55"/>
          <p:cNvSpPr/>
          <p:nvPr/>
        </p:nvSpPr>
        <p:spPr>
          <a:xfrm>
            <a:off x="2131200" y="976500"/>
            <a:ext cx="57600" cy="57600"/>
          </a:xfrm>
          <a:prstGeom prst="ellipse">
            <a:avLst/>
          </a:prstGeom>
          <a:solidFill>
            <a:srgbClr val="B8B8B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00" y="713571"/>
            <a:ext cx="66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0" i="0">
                <a:solidFill>
                  <a:srgbClr val="707070"/>
                </a:solidFill>
                <a:latin typeface="Arial"/>
              </a:rPr>
              <a:t>RTN 3-bit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200" y="717171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707070"/>
                </a:solidFill>
                <a:latin typeface="Arial"/>
              </a:rPr>
              <a:t>0.56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37200" y="153096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707070"/>
                </a:solidFill>
                <a:latin typeface="Arial"/>
              </a:rPr>
              <a:t>0.42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03200" y="9693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707070"/>
                </a:solidFill>
                <a:latin typeface="Arial"/>
              </a:rPr>
              <a:t>15.5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774000" y="1087439"/>
            <a:ext cx="720000" cy="445903"/>
          </a:xfrm>
          <a:prstGeom prst="line">
            <a:avLst/>
          </a:prstGeom>
          <a:ln w="20320">
            <a:solidFill>
              <a:srgbClr val="D64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494000" y="1087439"/>
            <a:ext cx="666000" cy="377401"/>
          </a:xfrm>
          <a:prstGeom prst="line">
            <a:avLst/>
          </a:prstGeom>
          <a:ln w="20320">
            <a:solidFill>
              <a:srgbClr val="D64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745200" y="1504542"/>
            <a:ext cx="57600" cy="57600"/>
          </a:xfrm>
          <a:prstGeom prst="ellipse">
            <a:avLst/>
          </a:prstGeom>
          <a:solidFill>
            <a:srgbClr val="D6453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4" name="Oval 63"/>
          <p:cNvSpPr/>
          <p:nvPr/>
        </p:nvSpPr>
        <p:spPr>
          <a:xfrm>
            <a:off x="1465200" y="1058639"/>
            <a:ext cx="57600" cy="57600"/>
          </a:xfrm>
          <a:prstGeom prst="ellipse">
            <a:avLst/>
          </a:prstGeom>
          <a:solidFill>
            <a:srgbClr val="D6453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5" name="Oval 64"/>
          <p:cNvSpPr/>
          <p:nvPr/>
        </p:nvSpPr>
        <p:spPr>
          <a:xfrm>
            <a:off x="2131200" y="1436040"/>
            <a:ext cx="57600" cy="57600"/>
          </a:xfrm>
          <a:prstGeom prst="ellipse">
            <a:avLst/>
          </a:prstGeom>
          <a:solidFill>
            <a:srgbClr val="D6453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000" y="1493742"/>
            <a:ext cx="66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20" b="1" i="0">
                <a:solidFill>
                  <a:srgbClr val="B5342B"/>
                </a:solidFill>
                <a:latin typeface="Arial"/>
              </a:rPr>
              <a:t>GPTQ 3-bit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7200" y="1497342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B5342B"/>
                </a:solidFill>
                <a:latin typeface="Arial"/>
              </a:rPr>
              <a:t>0.15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37200" y="105143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B5342B"/>
                </a:solidFill>
                <a:latin typeface="Arial"/>
              </a:rPr>
              <a:t>0.52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03200" y="142884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B5342B"/>
                </a:solidFill>
                <a:latin typeface="Arial"/>
              </a:rPr>
              <a:t>22.4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000" y="1835999"/>
            <a:ext cx="230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" b="0" i="0">
                <a:solidFill>
                  <a:srgbClr val="B5342B"/>
                </a:solidFill>
                <a:latin typeface="Arial"/>
              </a:rPr>
              <a:t>GPTQ 3-bit: last on IFEval, ahead of RTN on MMLU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12000" cy="18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42000" y="125999"/>
            <a:ext cx="0" cy="1440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2000" y="1565999"/>
            <a:ext cx="1980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16799" y="1311882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42000" y="1311882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18799" y="1272282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6799" y="973058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2000" y="973058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18799" y="933458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6799" y="634235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2000" y="634235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118799" y="594635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6799" y="295411"/>
            <a:ext cx="252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2000" y="295411"/>
            <a:ext cx="19800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-118799" y="255811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0000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4000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6000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0000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32000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16000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28000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12000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24000" y="1565999"/>
            <a:ext cx="0" cy="25201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08000" y="15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000" y="1695600"/>
            <a:ext cx="1980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MMLU accuracy  (likelihood-based, 5-shot)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-647999" y="791999"/>
            <a:ext cx="1439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IFEval  (free generation)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360" y="693529"/>
            <a:ext cx="427680" cy="694588"/>
          </a:xfrm>
          <a:prstGeom prst="line">
            <a:avLst/>
          </a:prstGeom>
          <a:ln w="11430">
            <a:solidFill>
              <a:srgbClr val="D23F3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20079" y="469905"/>
            <a:ext cx="162361" cy="459106"/>
          </a:xfrm>
          <a:prstGeom prst="line">
            <a:avLst/>
          </a:prstGeom>
          <a:ln w="11430">
            <a:solidFill>
              <a:srgbClr val="D23F3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624680" y="313623"/>
            <a:ext cx="72000" cy="72000"/>
          </a:xfrm>
          <a:prstGeom prst="ellipse">
            <a:avLst/>
          </a:prstGeom>
          <a:solidFill>
            <a:srgbClr val="3B7DC0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1529640" y="333952"/>
            <a:ext cx="72000" cy="72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567360" y="657529"/>
            <a:ext cx="72000" cy="72000"/>
          </a:xfrm>
          <a:prstGeom prst="ellipse">
            <a:avLst/>
          </a:prstGeom>
          <a:solidFill>
            <a:srgbClr val="A0A0A0"/>
          </a:solidFill>
          <a:ln w="1143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995040" y="1352117"/>
            <a:ext cx="72000" cy="72000"/>
          </a:xfrm>
          <a:prstGeom prst="ellipse">
            <a:avLst/>
          </a:prstGeom>
          <a:solidFill>
            <a:srgbClr val="D23F31"/>
          </a:solidFill>
          <a:ln w="1143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" name="Oval 34"/>
          <p:cNvSpPr/>
          <p:nvPr/>
        </p:nvSpPr>
        <p:spPr>
          <a:xfrm>
            <a:off x="955440" y="533858"/>
            <a:ext cx="72000" cy="72000"/>
          </a:xfrm>
          <a:prstGeom prst="ellipse">
            <a:avLst/>
          </a:prstGeom>
          <a:solidFill>
            <a:srgbClr val="2F9E62"/>
          </a:solidFill>
          <a:ln w="11430">
            <a:solidFill>
              <a:srgbClr val="2F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1121760" y="544023"/>
            <a:ext cx="72000" cy="720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2F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2087640" y="229129"/>
            <a:ext cx="64800" cy="64800"/>
          </a:xfrm>
          <a:prstGeom prst="rect">
            <a:avLst/>
          </a:prstGeom>
          <a:solidFill>
            <a:srgbClr val="3B7DC0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040120" y="247764"/>
            <a:ext cx="64800" cy="6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1687680" y="437505"/>
            <a:ext cx="64800" cy="64800"/>
          </a:xfrm>
          <a:prstGeom prst="rect">
            <a:avLst/>
          </a:prstGeom>
          <a:solidFill>
            <a:srgbClr val="A0A0A0"/>
          </a:solidFill>
          <a:ln w="1143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850040" y="896611"/>
            <a:ext cx="64800" cy="64800"/>
          </a:xfrm>
          <a:prstGeom prst="rect">
            <a:avLst/>
          </a:prstGeom>
          <a:solidFill>
            <a:srgbClr val="D23F31"/>
          </a:solidFill>
          <a:ln w="1143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1802520" y="371435"/>
            <a:ext cx="64800" cy="64800"/>
          </a:xfrm>
          <a:prstGeom prst="rect">
            <a:avLst/>
          </a:prstGeom>
          <a:solidFill>
            <a:srgbClr val="2F9E62"/>
          </a:solidFill>
          <a:ln w="11430">
            <a:solidFill>
              <a:srgbClr val="2F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1806480" y="317223"/>
            <a:ext cx="64800" cy="6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2F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040" y="1236917"/>
            <a:ext cx="594000" cy="16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Llama  0.15</a:t>
            </a:r>
          </a:p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(RTN 0.56)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240" y="799411"/>
            <a:ext cx="468000" cy="16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A92C21"/>
                </a:solidFill>
                <a:latin typeface="Arial"/>
              </a:rPr>
              <a:t>Qwen  0.43</a:t>
            </a:r>
          </a:p>
          <a:p>
            <a:pPr algn="l"/>
            <a:r>
              <a:rPr sz="600" b="1" i="0">
                <a:solidFill>
                  <a:srgbClr val="A92C21"/>
                </a:solidFill>
                <a:latin typeface="Arial"/>
              </a:rPr>
              <a:t>(RTN 0.70)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08680" y="212823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4588C"/>
                </a:solidFill>
                <a:latin typeface="Arial"/>
              </a:rPr>
              <a:t>Llama-3.1-8B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68040" y="124729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4588C"/>
                </a:solidFill>
                <a:latin typeface="Arial"/>
              </a:rPr>
              <a:t>Qwen2.5-14B</a:t>
            </a:r>
          </a:p>
        </p:txBody>
      </p:sp>
      <p:sp>
        <p:nvSpPr>
          <p:cNvPr id="47" name="Oval 46"/>
          <p:cNvSpPr/>
          <p:nvPr/>
        </p:nvSpPr>
        <p:spPr>
          <a:xfrm>
            <a:off x="1242000" y="1031611"/>
            <a:ext cx="54000" cy="54000"/>
          </a:xfrm>
          <a:prstGeom prst="ellipse">
            <a:avLst/>
          </a:prstGeom>
          <a:solidFill>
            <a:srgbClr val="3B7DC0"/>
          </a:solidFill>
          <a:ln w="1016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40999" y="1019011"/>
            <a:ext cx="93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4588C"/>
                </a:solidFill>
                <a:latin typeface="Arial"/>
              </a:rPr>
              <a:t>fp16</a:t>
            </a:r>
          </a:p>
        </p:txBody>
      </p:sp>
      <p:sp>
        <p:nvSpPr>
          <p:cNvPr id="49" name="Oval 48"/>
          <p:cNvSpPr/>
          <p:nvPr/>
        </p:nvSpPr>
        <p:spPr>
          <a:xfrm>
            <a:off x="1242000" y="1112611"/>
            <a:ext cx="54000" cy="54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40999" y="1100011"/>
            <a:ext cx="93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4588C"/>
                </a:solidFill>
                <a:latin typeface="Arial"/>
              </a:rPr>
              <a:t>GPTQ 4-bit</a:t>
            </a:r>
          </a:p>
        </p:txBody>
      </p:sp>
      <p:sp>
        <p:nvSpPr>
          <p:cNvPr id="51" name="Oval 50"/>
          <p:cNvSpPr/>
          <p:nvPr/>
        </p:nvSpPr>
        <p:spPr>
          <a:xfrm>
            <a:off x="1242000" y="1193611"/>
            <a:ext cx="54000" cy="54000"/>
          </a:xfrm>
          <a:prstGeom prst="ellipse">
            <a:avLst/>
          </a:prstGeom>
          <a:solidFill>
            <a:srgbClr val="A0A0A0"/>
          </a:solidFill>
          <a:ln w="1016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0999" y="1181011"/>
            <a:ext cx="93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RTN 3-bit</a:t>
            </a:r>
          </a:p>
        </p:txBody>
      </p:sp>
      <p:sp>
        <p:nvSpPr>
          <p:cNvPr id="53" name="Oval 52"/>
          <p:cNvSpPr/>
          <p:nvPr/>
        </p:nvSpPr>
        <p:spPr>
          <a:xfrm>
            <a:off x="1242000" y="1274611"/>
            <a:ext cx="54000" cy="54000"/>
          </a:xfrm>
          <a:prstGeom prst="ellipse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40999" y="1262011"/>
            <a:ext cx="93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GPTQ 3-bit (short docs)</a:t>
            </a:r>
          </a:p>
        </p:txBody>
      </p:sp>
      <p:sp>
        <p:nvSpPr>
          <p:cNvPr id="55" name="Oval 54"/>
          <p:cNvSpPr/>
          <p:nvPr/>
        </p:nvSpPr>
        <p:spPr>
          <a:xfrm>
            <a:off x="1242000" y="1355611"/>
            <a:ext cx="54000" cy="54000"/>
          </a:xfrm>
          <a:prstGeom prst="ellipse">
            <a:avLst/>
          </a:prstGeom>
          <a:solidFill>
            <a:srgbClr val="2F9E62"/>
          </a:solidFill>
          <a:ln w="10160">
            <a:solidFill>
              <a:srgbClr val="2F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40999" y="1343011"/>
            <a:ext cx="93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1C7345"/>
                </a:solidFill>
                <a:latin typeface="Arial"/>
              </a:rPr>
              <a:t>corrected H (3-bit)</a:t>
            </a:r>
          </a:p>
        </p:txBody>
      </p:sp>
      <p:sp>
        <p:nvSpPr>
          <p:cNvPr id="57" name="Oval 56"/>
          <p:cNvSpPr/>
          <p:nvPr/>
        </p:nvSpPr>
        <p:spPr>
          <a:xfrm>
            <a:off x="1242000" y="1436611"/>
            <a:ext cx="54000" cy="54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F9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40999" y="1424011"/>
            <a:ext cx="93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1C7345"/>
                </a:solidFill>
                <a:latin typeface="Arial"/>
              </a:rPr>
              <a:t>lesion re-rounded (3-bit)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72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3-bit GPTQ against RTN, by benchmark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4000" y="216000"/>
            <a:ext cx="0" cy="1188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4000" y="1404000"/>
            <a:ext cx="1692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4000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7999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97000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0999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20000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04000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42999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6999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0.75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6000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50000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000" y="1526400"/>
            <a:ext cx="1691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accuracy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97000" y="216000"/>
            <a:ext cx="0" cy="1188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20000" y="216000"/>
            <a:ext cx="0" cy="1188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42999" y="216000"/>
            <a:ext cx="0" cy="1188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000" y="280800"/>
            <a:ext cx="45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IFEval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" y="2808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Llama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036259" y="320400"/>
            <a:ext cx="693720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041055" y="2880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1697579" y="2880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1003860" y="2880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000" y="403199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Qwen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494791" y="442800"/>
            <a:ext cx="458532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129040" y="410399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1920923" y="410399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1462392" y="410399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" y="576000"/>
            <a:ext cx="45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Multi-IF, turn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000" y="5760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Llama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907668" y="615600"/>
            <a:ext cx="686951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963223" y="5832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1562219" y="5832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875268" y="5832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000" y="6984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Qwen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372967" y="738000"/>
            <a:ext cx="495756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115504" y="7056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1836323" y="7056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1340568" y="7056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00" y="871200"/>
            <a:ext cx="45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GSM8K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000" y="8712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Llama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787535" y="910800"/>
            <a:ext cx="460225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167955" y="8784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1215360" y="8784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8" name="Oval 47"/>
          <p:cNvSpPr/>
          <p:nvPr/>
        </p:nvSpPr>
        <p:spPr>
          <a:xfrm>
            <a:off x="755136" y="8784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000" y="9936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Qwen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1066716" y="1033200"/>
            <a:ext cx="1089647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308392" y="10008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2" name="Oval 51"/>
          <p:cNvSpPr/>
          <p:nvPr/>
        </p:nvSpPr>
        <p:spPr>
          <a:xfrm>
            <a:off x="2123963" y="10008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1034316" y="10008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" y="1166400"/>
            <a:ext cx="45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MMLU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000" y="11664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Llama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477872" y="1206000"/>
            <a:ext cx="182736" cy="0"/>
          </a:xfrm>
          <a:prstGeom prst="line">
            <a:avLst/>
          </a:prstGeom>
          <a:ln w="15240">
            <a:solidFill>
              <a:srgbClr val="3B7D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897235" y="11736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Oval 57"/>
          <p:cNvSpPr/>
          <p:nvPr/>
        </p:nvSpPr>
        <p:spPr>
          <a:xfrm>
            <a:off x="1445472" y="11736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9" name="Oval 58"/>
          <p:cNvSpPr/>
          <p:nvPr/>
        </p:nvSpPr>
        <p:spPr>
          <a:xfrm>
            <a:off x="1628208" y="11736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4000" y="12888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Qwen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955015" y="1328400"/>
            <a:ext cx="69372" cy="0"/>
          </a:xfrm>
          <a:prstGeom prst="line">
            <a:avLst/>
          </a:prstGeom>
          <a:ln w="15240">
            <a:solidFill>
              <a:srgbClr val="3B7D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093508" y="12960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Oval 62"/>
          <p:cNvSpPr/>
          <p:nvPr/>
        </p:nvSpPr>
        <p:spPr>
          <a:xfrm>
            <a:off x="1922615" y="12960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4" name="Oval 63"/>
          <p:cNvSpPr/>
          <p:nvPr/>
        </p:nvSpPr>
        <p:spPr>
          <a:xfrm>
            <a:off x="1991987" y="12960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5" name="Oval 64"/>
          <p:cNvSpPr/>
          <p:nvPr/>
        </p:nvSpPr>
        <p:spPr>
          <a:xfrm>
            <a:off x="239400" y="142200"/>
            <a:ext cx="54000" cy="54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7600" y="129600"/>
            <a:ext cx="104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4588C"/>
                </a:solidFill>
                <a:latin typeface="Arial"/>
              </a:rPr>
              <a:t>fp16</a:t>
            </a:r>
          </a:p>
        </p:txBody>
      </p:sp>
      <p:sp>
        <p:nvSpPr>
          <p:cNvPr id="67" name="Oval 66"/>
          <p:cNvSpPr/>
          <p:nvPr/>
        </p:nvSpPr>
        <p:spPr>
          <a:xfrm>
            <a:off x="581400" y="142200"/>
            <a:ext cx="54000" cy="54000"/>
          </a:xfrm>
          <a:prstGeom prst="ellipse">
            <a:avLst/>
          </a:prstGeom>
          <a:solidFill>
            <a:srgbClr val="A0A0A0"/>
          </a:solidFill>
          <a:ln w="1016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600" y="129600"/>
            <a:ext cx="104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RTN 3-bit</a:t>
            </a:r>
          </a:p>
        </p:txBody>
      </p:sp>
      <p:sp>
        <p:nvSpPr>
          <p:cNvPr id="69" name="Oval 68"/>
          <p:cNvSpPr/>
          <p:nvPr/>
        </p:nvSpPr>
        <p:spPr>
          <a:xfrm>
            <a:off x="1049400" y="142200"/>
            <a:ext cx="54000" cy="54000"/>
          </a:xfrm>
          <a:prstGeom prst="ellipse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7600" y="129600"/>
            <a:ext cx="104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GPTQ 3-bit (short documents)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8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08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3-bit GPTQ IFEval, by calibration protocol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474000" y="280800"/>
            <a:ext cx="0" cy="9504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474000" y="1231200"/>
            <a:ext cx="1512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474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258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810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594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0.2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146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930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0.4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482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266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0.6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818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602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74000" y="1353600"/>
            <a:ext cx="1511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IFEval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810000" y="280800"/>
            <a:ext cx="0" cy="9504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146000" y="280800"/>
            <a:ext cx="0" cy="9504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82000" y="280800"/>
            <a:ext cx="0" cy="9504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818000" y="280800"/>
            <a:ext cx="0" cy="9504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423199" y="280800"/>
            <a:ext cx="0" cy="9504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315199" y="2088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L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644960" y="280800"/>
            <a:ext cx="0" cy="9504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36960" y="2088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Q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179600" y="280800"/>
            <a:ext cx="0" cy="9504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071599" y="2088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28000" y="3348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C4 short documents</a:t>
            </a:r>
          </a:p>
        </p:txBody>
      </p:sp>
      <p:sp>
        <p:nvSpPr>
          <p:cNvPr id="97" name="Oval 96"/>
          <p:cNvSpPr/>
          <p:nvPr/>
        </p:nvSpPr>
        <p:spPr>
          <a:xfrm>
            <a:off x="3700199" y="340200"/>
            <a:ext cx="68400" cy="68400"/>
          </a:xfrm>
          <a:prstGeom prst="ellipse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4159079" y="343800"/>
            <a:ext cx="61200" cy="61200"/>
          </a:xfrm>
          <a:prstGeom prst="rect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Diamond 98"/>
          <p:cNvSpPr/>
          <p:nvPr/>
        </p:nvSpPr>
        <p:spPr>
          <a:xfrm>
            <a:off x="4195440" y="334800"/>
            <a:ext cx="79200" cy="792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28000" y="464399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Pile short documents</a:t>
            </a:r>
          </a:p>
        </p:txBody>
      </p:sp>
      <p:sp>
        <p:nvSpPr>
          <p:cNvPr id="101" name="Oval 100"/>
          <p:cNvSpPr/>
          <p:nvPr/>
        </p:nvSpPr>
        <p:spPr>
          <a:xfrm>
            <a:off x="3698519" y="469800"/>
            <a:ext cx="68400" cy="68400"/>
          </a:xfrm>
          <a:prstGeom prst="ellipse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4001160" y="473400"/>
            <a:ext cx="61200" cy="61200"/>
          </a:xfrm>
          <a:prstGeom prst="rect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8000" y="5940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C4 windows</a:t>
            </a:r>
          </a:p>
        </p:txBody>
      </p:sp>
      <p:sp>
        <p:nvSpPr>
          <p:cNvPr id="104" name="Oval 103"/>
          <p:cNvSpPr/>
          <p:nvPr/>
        </p:nvSpPr>
        <p:spPr>
          <a:xfrm>
            <a:off x="4523400" y="599400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4730280" y="603000"/>
            <a:ext cx="61200" cy="6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6" name="Diamond 105"/>
          <p:cNvSpPr/>
          <p:nvPr/>
        </p:nvSpPr>
        <p:spPr>
          <a:xfrm>
            <a:off x="3748560" y="594000"/>
            <a:ext cx="79200" cy="79200"/>
          </a:xfrm>
          <a:prstGeom prst="diamond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28000" y="7236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Pile windows</a:t>
            </a:r>
          </a:p>
        </p:txBody>
      </p:sp>
      <p:sp>
        <p:nvSpPr>
          <p:cNvPr id="108" name="Oval 107"/>
          <p:cNvSpPr/>
          <p:nvPr/>
        </p:nvSpPr>
        <p:spPr>
          <a:xfrm>
            <a:off x="4478039" y="729000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3898680" y="732600"/>
            <a:ext cx="61200" cy="61200"/>
          </a:xfrm>
          <a:prstGeom prst="rect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28000" y="8532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WikiText windows</a:t>
            </a:r>
          </a:p>
        </p:txBody>
      </p:sp>
      <p:sp>
        <p:nvSpPr>
          <p:cNvPr id="111" name="Oval 110"/>
          <p:cNvSpPr/>
          <p:nvPr/>
        </p:nvSpPr>
        <p:spPr>
          <a:xfrm>
            <a:off x="4387320" y="858599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3811320" y="862200"/>
            <a:ext cx="61200" cy="61200"/>
          </a:xfrm>
          <a:prstGeom prst="rect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28000" y="9828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C4 in chat template</a:t>
            </a:r>
          </a:p>
        </p:txBody>
      </p:sp>
      <p:sp>
        <p:nvSpPr>
          <p:cNvPr id="114" name="Oval 113"/>
          <p:cNvSpPr/>
          <p:nvPr/>
        </p:nvSpPr>
        <p:spPr>
          <a:xfrm>
            <a:off x="4521720" y="988199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4743720" y="991800"/>
            <a:ext cx="61200" cy="6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6" name="Diamond 115"/>
          <p:cNvSpPr/>
          <p:nvPr/>
        </p:nvSpPr>
        <p:spPr>
          <a:xfrm>
            <a:off x="4210560" y="982800"/>
            <a:ext cx="79200" cy="792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28000" y="11124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UltraChat</a:t>
            </a:r>
          </a:p>
        </p:txBody>
      </p:sp>
      <p:sp>
        <p:nvSpPr>
          <p:cNvPr id="118" name="Oval 117"/>
          <p:cNvSpPr/>
          <p:nvPr/>
        </p:nvSpPr>
        <p:spPr>
          <a:xfrm>
            <a:off x="4570440" y="1117800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4736999" y="1121400"/>
            <a:ext cx="61200" cy="6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0" name="Diamond 119"/>
          <p:cNvSpPr/>
          <p:nvPr/>
        </p:nvSpPr>
        <p:spPr>
          <a:xfrm>
            <a:off x="4230720" y="1112400"/>
            <a:ext cx="79200" cy="792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1" name="Oval 120"/>
          <p:cNvSpPr/>
          <p:nvPr/>
        </p:nvSpPr>
        <p:spPr>
          <a:xfrm>
            <a:off x="3256200" y="127800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51600" y="122400"/>
            <a:ext cx="57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Llama (L)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99800" y="131400"/>
            <a:ext cx="61200" cy="6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91600" y="122400"/>
            <a:ext cx="57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Qwen (Q)</a:t>
            </a:r>
          </a:p>
        </p:txBody>
      </p:sp>
      <p:sp>
        <p:nvSpPr>
          <p:cNvPr id="125" name="Diamond 124"/>
          <p:cNvSpPr/>
          <p:nvPr/>
        </p:nvSpPr>
        <p:spPr>
          <a:xfrm>
            <a:off x="4330800" y="122400"/>
            <a:ext cx="79200" cy="792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431600" y="122400"/>
            <a:ext cx="57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Mistral (M)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28000" y="1454400"/>
            <a:ext cx="2358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dashed lines: RTN 3-bit of each model;  filled red: more than the</a:t>
            </a:r>
          </a:p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seed noise below the RTN score of the same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72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3-bit GPTQ against RTN, by benchmark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4000" y="216000"/>
            <a:ext cx="0" cy="1188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4000" y="1404000"/>
            <a:ext cx="1692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4000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7999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97000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0999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20000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04000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42999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6999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0.75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6000" y="1404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50000" y="1432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000" y="1526400"/>
            <a:ext cx="1691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accuracy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97000" y="216000"/>
            <a:ext cx="0" cy="1188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20000" y="216000"/>
            <a:ext cx="0" cy="1188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42999" y="216000"/>
            <a:ext cx="0" cy="1188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000" y="280800"/>
            <a:ext cx="45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IFEval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" y="2808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Llama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036259" y="320400"/>
            <a:ext cx="693720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041055" y="2880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1697579" y="2880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1003860" y="2880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000" y="403199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Qwen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494791" y="442800"/>
            <a:ext cx="458532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129040" y="410399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1920923" y="410399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1462392" y="410399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" y="576000"/>
            <a:ext cx="45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Multi-IF, turn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000" y="5760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Llama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907668" y="615600"/>
            <a:ext cx="686951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963223" y="5832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1562219" y="5832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875268" y="5832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000" y="6984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Qwen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372967" y="738000"/>
            <a:ext cx="495756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115504" y="7056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1836323" y="7056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1340568" y="7056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00" y="871200"/>
            <a:ext cx="45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GSM8K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000" y="8712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Llama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787535" y="910800"/>
            <a:ext cx="460225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167955" y="8784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1215360" y="8784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8" name="Oval 47"/>
          <p:cNvSpPr/>
          <p:nvPr/>
        </p:nvSpPr>
        <p:spPr>
          <a:xfrm>
            <a:off x="755136" y="8784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000" y="9936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Qwen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1066716" y="1033200"/>
            <a:ext cx="1089647" cy="0"/>
          </a:xfrm>
          <a:prstGeom prst="line">
            <a:avLst/>
          </a:prstGeom>
          <a:ln w="15240">
            <a:solidFill>
              <a:srgbClr val="D23F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308392" y="10008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2" name="Oval 51"/>
          <p:cNvSpPr/>
          <p:nvPr/>
        </p:nvSpPr>
        <p:spPr>
          <a:xfrm>
            <a:off x="2123963" y="10008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1034316" y="10008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" y="1166400"/>
            <a:ext cx="45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MMLU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4000" y="11664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Llama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477872" y="1206000"/>
            <a:ext cx="182736" cy="0"/>
          </a:xfrm>
          <a:prstGeom prst="line">
            <a:avLst/>
          </a:prstGeom>
          <a:ln w="15240">
            <a:solidFill>
              <a:srgbClr val="3B7D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897235" y="11736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Oval 57"/>
          <p:cNvSpPr/>
          <p:nvPr/>
        </p:nvSpPr>
        <p:spPr>
          <a:xfrm>
            <a:off x="1445472" y="11736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9" name="Oval 58"/>
          <p:cNvSpPr/>
          <p:nvPr/>
        </p:nvSpPr>
        <p:spPr>
          <a:xfrm>
            <a:off x="1628208" y="11736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4000" y="1288800"/>
            <a:ext cx="25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Qwen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955015" y="1328400"/>
            <a:ext cx="69372" cy="0"/>
          </a:xfrm>
          <a:prstGeom prst="line">
            <a:avLst/>
          </a:prstGeom>
          <a:ln w="15240">
            <a:solidFill>
              <a:srgbClr val="3B7D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093508" y="1296000"/>
            <a:ext cx="64800" cy="64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Oval 62"/>
          <p:cNvSpPr/>
          <p:nvPr/>
        </p:nvSpPr>
        <p:spPr>
          <a:xfrm>
            <a:off x="1922615" y="1296000"/>
            <a:ext cx="64800" cy="64800"/>
          </a:xfrm>
          <a:prstGeom prst="ellipse">
            <a:avLst/>
          </a:prstGeom>
          <a:solidFill>
            <a:srgbClr val="A0A0A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4" name="Oval 63"/>
          <p:cNvSpPr/>
          <p:nvPr/>
        </p:nvSpPr>
        <p:spPr>
          <a:xfrm>
            <a:off x="1991987" y="1296000"/>
            <a:ext cx="64800" cy="64800"/>
          </a:xfrm>
          <a:prstGeom prst="ellipse">
            <a:avLst/>
          </a:prstGeom>
          <a:solidFill>
            <a:srgbClr val="D23F3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5" name="Oval 64"/>
          <p:cNvSpPr/>
          <p:nvPr/>
        </p:nvSpPr>
        <p:spPr>
          <a:xfrm>
            <a:off x="239400" y="142200"/>
            <a:ext cx="54000" cy="54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B7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7600" y="129600"/>
            <a:ext cx="104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4588C"/>
                </a:solidFill>
                <a:latin typeface="Arial"/>
              </a:rPr>
              <a:t>fp16</a:t>
            </a:r>
          </a:p>
        </p:txBody>
      </p:sp>
      <p:sp>
        <p:nvSpPr>
          <p:cNvPr id="67" name="Oval 66"/>
          <p:cNvSpPr/>
          <p:nvPr/>
        </p:nvSpPr>
        <p:spPr>
          <a:xfrm>
            <a:off x="581400" y="142200"/>
            <a:ext cx="54000" cy="54000"/>
          </a:xfrm>
          <a:prstGeom prst="ellipse">
            <a:avLst/>
          </a:prstGeom>
          <a:solidFill>
            <a:srgbClr val="A0A0A0"/>
          </a:solidFill>
          <a:ln w="10160">
            <a:solidFill>
              <a:srgbClr val="A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600" y="129600"/>
            <a:ext cx="104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RTN 3-bit</a:t>
            </a:r>
          </a:p>
        </p:txBody>
      </p:sp>
      <p:sp>
        <p:nvSpPr>
          <p:cNvPr id="69" name="Oval 68"/>
          <p:cNvSpPr/>
          <p:nvPr/>
        </p:nvSpPr>
        <p:spPr>
          <a:xfrm>
            <a:off x="1049400" y="142200"/>
            <a:ext cx="54000" cy="54000"/>
          </a:xfrm>
          <a:prstGeom prst="ellipse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7600" y="129600"/>
            <a:ext cx="104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GPTQ 3-bit (short documents)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8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08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3-bit GPTQ IFEval, by calibration protocol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474000" y="280800"/>
            <a:ext cx="0" cy="9504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474000" y="1231200"/>
            <a:ext cx="1512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474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258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810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594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0.2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146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930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0.4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482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266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0.6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818000" y="12312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602000" y="1260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74000" y="1353600"/>
            <a:ext cx="1511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IFEval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810000" y="280800"/>
            <a:ext cx="0" cy="9504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146000" y="280800"/>
            <a:ext cx="0" cy="9504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82000" y="280800"/>
            <a:ext cx="0" cy="9504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818000" y="280800"/>
            <a:ext cx="0" cy="9504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423199" y="280800"/>
            <a:ext cx="0" cy="9504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315199" y="2088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L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644960" y="280800"/>
            <a:ext cx="0" cy="9504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36960" y="2088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Q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179600" y="280800"/>
            <a:ext cx="0" cy="95040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071599" y="2088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28000" y="3348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C4 short documents</a:t>
            </a:r>
          </a:p>
        </p:txBody>
      </p:sp>
      <p:sp>
        <p:nvSpPr>
          <p:cNvPr id="97" name="Oval 96"/>
          <p:cNvSpPr/>
          <p:nvPr/>
        </p:nvSpPr>
        <p:spPr>
          <a:xfrm>
            <a:off x="3700199" y="340200"/>
            <a:ext cx="68400" cy="68400"/>
          </a:xfrm>
          <a:prstGeom prst="ellipse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4159079" y="343800"/>
            <a:ext cx="61200" cy="61200"/>
          </a:xfrm>
          <a:prstGeom prst="rect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Diamond 98"/>
          <p:cNvSpPr/>
          <p:nvPr/>
        </p:nvSpPr>
        <p:spPr>
          <a:xfrm>
            <a:off x="4195440" y="334800"/>
            <a:ext cx="79200" cy="792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28000" y="464399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Pile short documents</a:t>
            </a:r>
          </a:p>
        </p:txBody>
      </p:sp>
      <p:sp>
        <p:nvSpPr>
          <p:cNvPr id="101" name="Oval 100"/>
          <p:cNvSpPr/>
          <p:nvPr/>
        </p:nvSpPr>
        <p:spPr>
          <a:xfrm>
            <a:off x="3698519" y="469800"/>
            <a:ext cx="68400" cy="68400"/>
          </a:xfrm>
          <a:prstGeom prst="ellipse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4001160" y="473400"/>
            <a:ext cx="61200" cy="61200"/>
          </a:xfrm>
          <a:prstGeom prst="rect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8000" y="5940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C4 windows</a:t>
            </a:r>
          </a:p>
        </p:txBody>
      </p:sp>
      <p:sp>
        <p:nvSpPr>
          <p:cNvPr id="104" name="Oval 103"/>
          <p:cNvSpPr/>
          <p:nvPr/>
        </p:nvSpPr>
        <p:spPr>
          <a:xfrm>
            <a:off x="4523400" y="599400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4730280" y="603000"/>
            <a:ext cx="61200" cy="6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6" name="Diamond 105"/>
          <p:cNvSpPr/>
          <p:nvPr/>
        </p:nvSpPr>
        <p:spPr>
          <a:xfrm>
            <a:off x="3748560" y="594000"/>
            <a:ext cx="79200" cy="79200"/>
          </a:xfrm>
          <a:prstGeom prst="diamond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28000" y="7236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Pile windows</a:t>
            </a:r>
          </a:p>
        </p:txBody>
      </p:sp>
      <p:sp>
        <p:nvSpPr>
          <p:cNvPr id="108" name="Oval 107"/>
          <p:cNvSpPr/>
          <p:nvPr/>
        </p:nvSpPr>
        <p:spPr>
          <a:xfrm>
            <a:off x="4478039" y="729000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3898680" y="732600"/>
            <a:ext cx="61200" cy="61200"/>
          </a:xfrm>
          <a:prstGeom prst="rect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28000" y="8532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WikiText windows</a:t>
            </a:r>
          </a:p>
        </p:txBody>
      </p:sp>
      <p:sp>
        <p:nvSpPr>
          <p:cNvPr id="111" name="Oval 110"/>
          <p:cNvSpPr/>
          <p:nvPr/>
        </p:nvSpPr>
        <p:spPr>
          <a:xfrm>
            <a:off x="4387320" y="858599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3811320" y="862200"/>
            <a:ext cx="61200" cy="61200"/>
          </a:xfrm>
          <a:prstGeom prst="rect">
            <a:avLst/>
          </a:prstGeom>
          <a:solidFill>
            <a:srgbClr val="D23F31"/>
          </a:solidFill>
          <a:ln w="1016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628000" y="9828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C4 in chat template</a:t>
            </a:r>
          </a:p>
        </p:txBody>
      </p:sp>
      <p:sp>
        <p:nvSpPr>
          <p:cNvPr id="114" name="Oval 113"/>
          <p:cNvSpPr/>
          <p:nvPr/>
        </p:nvSpPr>
        <p:spPr>
          <a:xfrm>
            <a:off x="4521720" y="988199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4743720" y="991800"/>
            <a:ext cx="61200" cy="6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6" name="Diamond 115"/>
          <p:cNvSpPr/>
          <p:nvPr/>
        </p:nvSpPr>
        <p:spPr>
          <a:xfrm>
            <a:off x="4210560" y="982800"/>
            <a:ext cx="79200" cy="792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28000" y="1112400"/>
            <a:ext cx="820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UltraChat</a:t>
            </a:r>
          </a:p>
        </p:txBody>
      </p:sp>
      <p:sp>
        <p:nvSpPr>
          <p:cNvPr id="118" name="Oval 117"/>
          <p:cNvSpPr/>
          <p:nvPr/>
        </p:nvSpPr>
        <p:spPr>
          <a:xfrm>
            <a:off x="4570440" y="1117800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4736999" y="1121400"/>
            <a:ext cx="61200" cy="6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0" name="Diamond 119"/>
          <p:cNvSpPr/>
          <p:nvPr/>
        </p:nvSpPr>
        <p:spPr>
          <a:xfrm>
            <a:off x="4230720" y="1112400"/>
            <a:ext cx="79200" cy="792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1" name="Oval 120"/>
          <p:cNvSpPr/>
          <p:nvPr/>
        </p:nvSpPr>
        <p:spPr>
          <a:xfrm>
            <a:off x="3256200" y="127800"/>
            <a:ext cx="68400" cy="68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51600" y="122400"/>
            <a:ext cx="57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Llama (L)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99800" y="131400"/>
            <a:ext cx="61200" cy="6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91600" y="122400"/>
            <a:ext cx="57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Qwen (Q)</a:t>
            </a:r>
          </a:p>
        </p:txBody>
      </p:sp>
      <p:sp>
        <p:nvSpPr>
          <p:cNvPr id="125" name="Diamond 124"/>
          <p:cNvSpPr/>
          <p:nvPr/>
        </p:nvSpPr>
        <p:spPr>
          <a:xfrm>
            <a:off x="4330800" y="122400"/>
            <a:ext cx="79200" cy="7920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431600" y="122400"/>
            <a:ext cx="576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Mistral (M)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28000" y="1454400"/>
            <a:ext cx="23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dashed: RTN of each model;   red: collapsed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