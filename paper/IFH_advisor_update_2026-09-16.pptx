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IFEval (instruction following)</c:v>
                </c:pt>
              </c:strCache>
            </c:strRef>
          </c:tx>
          <c:spPr>
            <a:solidFill>
              <a:srgbClr val="C8443C"/>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fp16</c:v>
                  </c:pt>
                  <c:pt idx="1">
                    <c:v>RTN 3-bit</c:v>
                  </c:pt>
                  <c:pt idx="2">
                    <c:v>GPTQ 3-bit</c:v>
                  </c:pt>
                  <c:pt idx="3">
                    <c:v>GPTQ 3-bit + our fix</c:v>
                  </c:pt>
                  <c:pt idx="4">
                    <c:v>GPTQ 4-bit</c:v>
                  </c:pt>
                </c:lvl>
              </c:multiLvlStrCache>
            </c:multiLvlStrRef>
          </c:cat>
          <c:val>
            <c:numRef>
              <c:f>Sheet1!$B$2:$B$6</c:f>
              <c:numCache>
                <c:formatCode>General</c:formatCode>
                <c:ptCount val="5"/>
                <c:pt idx="0">
                  <c:v>0.768</c:v>
                </c:pt>
                <c:pt idx="1">
                  <c:v>0.565</c:v>
                </c:pt>
                <c:pt idx="2">
                  <c:v>0.155</c:v>
                </c:pt>
                <c:pt idx="3">
                  <c:v>0.638</c:v>
                </c:pt>
                <c:pt idx="4">
                  <c:v>0.756</c:v>
                </c:pt>
              </c:numCache>
            </c:numRef>
          </c:val>
        </c:ser>
        <c:ser>
          <c:idx val="1"/>
          <c:order val="1"/>
          <c:tx>
            <c:strRef>
              <c:f>Sheet1!$C$1</c:f>
              <c:strCache>
                <c:ptCount val="1"/>
                <c:pt idx="0">
                  <c:v>MMLU (multiple choice)</c:v>
                </c:pt>
              </c:strCache>
            </c:strRef>
          </c:tx>
          <c:spPr>
            <a:solidFill>
              <a:srgbClr val="2F6DB5"/>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fp16</c:v>
                  </c:pt>
                  <c:pt idx="1">
                    <c:v>RTN 3-bit</c:v>
                  </c:pt>
                  <c:pt idx="2">
                    <c:v>GPTQ 3-bit</c:v>
                  </c:pt>
                  <c:pt idx="3">
                    <c:v>GPTQ 3-bit + our fix</c:v>
                  </c:pt>
                  <c:pt idx="4">
                    <c:v>GPTQ 4-bit</c:v>
                  </c:pt>
                </c:lvl>
              </c:multiLvlStrCache>
            </c:multiLvlStrRef>
          </c:cat>
          <c:val>
            <c:numRef>
              <c:f>Sheet1!$C$2:$C$6</c:f>
              <c:numCache>
                <c:formatCode>General</c:formatCode>
                <c:ptCount val="5"/>
                <c:pt idx="0">
                  <c:v>0.683</c:v>
                </c:pt>
                <c:pt idx="1">
                  <c:v>0.416</c:v>
                </c:pt>
                <c:pt idx="2">
                  <c:v>0.524</c:v>
                </c:pt>
                <c:pt idx="3">
                  <c:v>0.514</c:v>
                </c:pt>
                <c:pt idx="4">
                  <c:v>0.659</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F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A: points per token in GPTQ's exam</a:t>
            </a:r>
          </a:p>
        </c:rich>
      </c:tx>
      <c:layout/>
      <c:overlay val="0"/>
    </c:title>
    <c:autoTitleDeleted val="0"/>
    <c:plotArea>
      <c:layout/>
      <c:barChart>
        <c:barDir val="col"/>
        <c:grouping val="clustered"/>
        <c:varyColors val="0"/>
        <c:ser>
          <c:idx val="0"/>
          <c:order val="0"/>
          <c:tx>
            <c:strRef>
              <c:f>Sheet1!$B$1</c:f>
              <c:strCache>
                <c:ptCount val="1"/>
                <c:pt idx="0">
                  <c:v>A: input energy ||x||² (share)</c:v>
                </c:pt>
              </c:strCache>
            </c:strRef>
          </c:tx>
          <c:spPr>
            <a:solidFill>
              <a:srgbClr val="C844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BOS</c:v>
                  </c:pt>
                  <c:pt idx="1">
                    <c:v>&lt;hdr&gt;</c:v>
                  </c:pt>
                  <c:pt idx="2">
                    <c:v>user</c:v>
                  </c:pt>
                  <c:pt idx="3">
                    <c:v>&lt;/hdr&gt;</c:v>
                  </c:pt>
                  <c:pt idx="4">
                    <c:v>\n</c:v>
                  </c:pt>
                  <c:pt idx="5">
                    <c:v>Write</c:v>
                  </c:pt>
                  <c:pt idx="6">
                    <c:v>a</c:v>
                  </c:pt>
                  <c:pt idx="7">
                    <c:v>poem</c:v>
                  </c:pt>
                  <c:pt idx="8">
                    <c:v>&lt;eot&gt;</c:v>
                  </c:pt>
                  <c:pt idx="9">
                    <c:v>Roses</c:v>
                  </c:pt>
                  <c:pt idx="10">
                    <c:v>are</c:v>
                  </c:pt>
                </c:lvl>
              </c:multiLvlStrCache>
            </c:multiLvlStrRef>
          </c:cat>
          <c:val>
            <c:numRef>
              <c:f>Sheet1!$B$2:$B$12</c:f>
              <c:numCache>
                <c:formatCode>General</c:formatCode>
                <c:ptCount val="11"/>
                <c:pt idx="0">
                  <c:v>0.998</c:v>
                </c:pt>
                <c:pt idx="1">
                  <c:v>0.0003</c:v>
                </c:pt>
                <c:pt idx="2">
                  <c:v>0.0002</c:v>
                </c:pt>
                <c:pt idx="3">
                  <c:v>0.0003</c:v>
                </c:pt>
                <c:pt idx="4">
                  <c:v>0.0002</c:v>
                </c:pt>
                <c:pt idx="5">
                  <c:v>0.0002</c:v>
                </c:pt>
                <c:pt idx="6">
                  <c:v>0.0002</c:v>
                </c:pt>
                <c:pt idx="7">
                  <c:v>0.0002</c:v>
                </c:pt>
                <c:pt idx="8">
                  <c:v>0.0003</c:v>
                </c:pt>
                <c:pt idx="9">
                  <c:v>0.0002</c:v>
                </c:pt>
                <c:pt idx="10">
                  <c:v>0.0002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F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Arial"/>
              </a:defRPr>
            </a:pPr>
            <a:r>
              <a:rPr sz="1200" b="0" i="0" u="none" strike="noStrike">
                <a:solidFill>
                  <a:srgbClr val="1E2761"/>
                </a:solidFill>
                <a:latin typeface="Arial"/>
              </a:rPr>
              <a:t>G: points per token in the exam that matters</a:t>
            </a:r>
          </a:p>
        </c:rich>
      </c:tx>
      <c:layout/>
      <c:overlay val="0"/>
    </c:title>
    <c:autoTitleDeleted val="0"/>
    <c:plotArea>
      <c:layout/>
      <c:barChart>
        <c:barDir val="col"/>
        <c:grouping val="clustered"/>
        <c:varyColors val="0"/>
        <c:ser>
          <c:idx val="0"/>
          <c:order val="0"/>
          <c:tx>
            <c:strRef>
              <c:f>Sheet1!$B$1</c:f>
              <c:strCache>
                <c:ptCount val="1"/>
                <c:pt idx="0">
                  <c:v>G: loss sensitivity (share)</c:v>
                </c:pt>
              </c:strCache>
            </c:strRef>
          </c:tx>
          <c:spPr>
            <a:solidFill>
              <a:srgbClr val="E0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BOS</c:v>
                  </c:pt>
                  <c:pt idx="1">
                    <c:v>&lt;hdr&gt;</c:v>
                  </c:pt>
                  <c:pt idx="2">
                    <c:v>user</c:v>
                  </c:pt>
                  <c:pt idx="3">
                    <c:v>&lt;/hdr&gt;</c:v>
                  </c:pt>
                  <c:pt idx="4">
                    <c:v>\n</c:v>
                  </c:pt>
                  <c:pt idx="5">
                    <c:v>Write</c:v>
                  </c:pt>
                  <c:pt idx="6">
                    <c:v>a</c:v>
                  </c:pt>
                  <c:pt idx="7">
                    <c:v>poem</c:v>
                  </c:pt>
                  <c:pt idx="8">
                    <c:v>&lt;eot&gt;</c:v>
                  </c:pt>
                  <c:pt idx="9">
                    <c:v>Roses</c:v>
                  </c:pt>
                  <c:pt idx="10">
                    <c:v>are</c:v>
                  </c:pt>
                </c:lvl>
              </c:multiLvlStrCache>
            </c:multiLvlStrRef>
          </c:cat>
          <c:val>
            <c:numRef>
              <c:f>Sheet1!$B$2:$B$12</c:f>
              <c:numCache>
                <c:formatCode>General</c:formatCode>
                <c:ptCount val="11"/>
                <c:pt idx="0">
                  <c:v>0</c:v>
                </c:pt>
                <c:pt idx="1">
                  <c:v>0.18</c:v>
                </c:pt>
                <c:pt idx="2">
                  <c:v>0.09</c:v>
                </c:pt>
                <c:pt idx="3">
                  <c:v>0.25</c:v>
                </c:pt>
                <c:pt idx="4">
                  <c:v>0.15</c:v>
                </c:pt>
                <c:pt idx="5">
                  <c:v>0.03</c:v>
                </c:pt>
                <c:pt idx="6">
                  <c:v>0.02</c:v>
                </c:pt>
                <c:pt idx="7">
                  <c:v>0.03</c:v>
                </c:pt>
                <c:pt idx="8">
                  <c:v>0.13</c:v>
                </c:pt>
                <c:pt idx="9">
                  <c:v>0.01</c:v>
                </c:pt>
                <c:pt idx="10">
                  <c:v>0.01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F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IFEval after receiving the damaged matrix</c:v>
                </c:pt>
              </c:strCache>
            </c:strRef>
          </c:tx>
          <c:spPr>
            <a:solidFill>
              <a:srgbClr val="2E8B57"/>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2F6DB5"/>
              </a:solidFill>
              <a:effectLst/>
            </c:spPr>
          </c:dPt>
          <c:dPt>
            <c:idx val="2"/>
            <c:invertIfNegative val="0"/>
            <c:bubble3D val="0"/>
            <c:spPr>
              <a:solidFill>
                <a:srgbClr val="C8443C"/>
              </a:solidFill>
              <a:effectLst/>
            </c:spPr>
          </c:dPt>
          <c:dPt>
            <c:idx val="3"/>
            <c:invertIfNegative val="0"/>
            <c:bubble3D val="0"/>
            <c:spPr>
              <a:solidFill>
                <a:srgbClr val="C8443C"/>
              </a:solidFill>
              <a:effectLst/>
            </c:spPr>
          </c:dPt>
          <c:cat>
            <c:multiLvlStrRef>
              <c:f>Sheet1!$A$2:$A$5</c:f>
              <c:multiLvlStrCache>
                <c:ptCount val="4"/>
                <c:lvl>
                  <c:pt idx="0">
                    <c:v>into fp16 model (0.77 on its own)</c:v>
                  </c:pt>
                  <c:pt idx="1">
                    <c:v>into RTN model (0.57)</c:v>
                  </c:pt>
                  <c:pt idx="2">
                    <c:v>into GPTQ model, other calibration (0.65)</c:v>
                  </c:pt>
                  <c:pt idx="3">
                    <c:v>own GPTQ model (0.16)</c:v>
                  </c:pt>
                </c:lvl>
              </c:multiLvlStrCache>
            </c:multiLvlStrRef>
          </c:cat>
          <c:val>
            <c:numRef>
              <c:f>Sheet1!$B$2:$B$5</c:f>
              <c:numCache>
                <c:formatCode>General</c:formatCode>
                <c:ptCount val="4"/>
                <c:pt idx="0">
                  <c:v>0.764</c:v>
                </c:pt>
                <c:pt idx="1">
                  <c:v>0.528</c:v>
                </c:pt>
                <c:pt idx="2">
                  <c:v>0.174</c:v>
                </c:pt>
                <c:pt idx="3">
                  <c:v>0.155</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F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GPTQ</c:v>
                </c:pt>
              </c:strCache>
            </c:strRef>
          </c:tx>
          <c:spPr>
            <a:solidFill>
              <a:srgbClr val="C8443C"/>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Llama-3.1-8B</c:v>
                  </c:pt>
                  <c:pt idx="1">
                    <c:v>Qwen2.5-14B</c:v>
                  </c:pt>
                  <c:pt idx="2">
                    <c:v>Mistral-7B (windows)</c:v>
                  </c:pt>
                </c:lvl>
              </c:multiLvlStrCache>
            </c:multiLvlStrRef>
          </c:cat>
          <c:val>
            <c:numRef>
              <c:f>Sheet1!$B$2:$B$4</c:f>
              <c:numCache>
                <c:formatCode>General</c:formatCode>
                <c:ptCount val="3"/>
                <c:pt idx="0">
                  <c:v>0.155</c:v>
                </c:pt>
                <c:pt idx="1">
                  <c:v>0.426</c:v>
                </c:pt>
                <c:pt idx="2">
                  <c:v>0.187</c:v>
                </c:pt>
              </c:numCache>
            </c:numRef>
          </c:val>
        </c:ser>
        <c:ser>
          <c:idx val="1"/>
          <c:order val="1"/>
          <c:tx>
            <c:strRef>
              <c:f>Sheet1!$C$1</c:f>
              <c:strCache>
                <c:ptCount val="1"/>
                <c:pt idx="0">
                  <c:v>RTN</c:v>
                </c:pt>
              </c:strCache>
            </c:strRef>
          </c:tx>
          <c:spPr>
            <a:solidFill>
              <a:srgbClr val="9AA0A6"/>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Llama-3.1-8B</c:v>
                  </c:pt>
                  <c:pt idx="1">
                    <c:v>Qwen2.5-14B</c:v>
                  </c:pt>
                  <c:pt idx="2">
                    <c:v>Mistral-7B (windows)</c:v>
                  </c:pt>
                </c:lvl>
              </c:multiLvlStrCache>
            </c:multiLvlStrRef>
          </c:cat>
          <c:val>
            <c:numRef>
              <c:f>Sheet1!$C$2:$C$4</c:f>
              <c:numCache>
                <c:formatCode>General</c:formatCode>
                <c:ptCount val="3"/>
                <c:pt idx="0">
                  <c:v>0.565</c:v>
                </c:pt>
                <c:pt idx="1">
                  <c:v>0.697</c:v>
                </c:pt>
                <c:pt idx="2">
                  <c:v>0.42</c:v>
                </c:pt>
              </c:numCache>
            </c:numRef>
          </c:val>
        </c:ser>
        <c:ser>
          <c:idx val="2"/>
          <c:order val="2"/>
          <c:tx>
            <c:strRef>
              <c:f>Sheet1!$D$1</c:f>
              <c:strCache>
                <c:ptCount val="1"/>
                <c:pt idx="0">
                  <c:v>GPTQ + fix</c:v>
                </c:pt>
              </c:strCache>
            </c:strRef>
          </c:tx>
          <c:spPr>
            <a:solidFill>
              <a:srgbClr val="2E8B57"/>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Llama-3.1-8B</c:v>
                  </c:pt>
                  <c:pt idx="1">
                    <c:v>Qwen2.5-14B</c:v>
                  </c:pt>
                  <c:pt idx="2">
                    <c:v>Mistral-7B (windows)</c:v>
                  </c:pt>
                </c:lvl>
              </c:multiLvlStrCache>
            </c:multiLvlStrRef>
          </c:cat>
          <c:val>
            <c:numRef>
              <c:f>Sheet1!$D$2:$D$4</c:f>
              <c:numCache>
                <c:formatCode>General</c:formatCode>
                <c:ptCount val="3"/>
                <c:pt idx="0">
                  <c:v>0.638</c:v>
                </c:pt>
                <c:pt idx="1">
                  <c:v>0.736</c:v>
                </c:pt>
                <c:pt idx="2">
                  <c:v>0.433</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F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version: the standard way of compressing a language model to 3 bits optimises the wrong token at one layer, and that breaks instruction following while the usual metrics stay normal. We found why, and we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phrase is 'judged on a calibration set': GPTQ decides how to nudge weights by looking at how each layer responds to some text. That judgement is where the problem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still answers quiz questions, it just no longer follows what you ask. And you would not see it unless you let it generate. Qwen2.5-14B does the same: 0.82 to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facts to remember: the sink token is huge at exactly one layer, and the matrix that writes it is the one that carries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heights are schematic; the shares are the measured ones (A_BOS = 0.998, G_BOS = 0.000, G concentrated on the first 1.7% of positions). This slide is the whole idea: the true curvature of the loss has two factors, input times output; GPTQ keeps only the input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theory section of the paper: an exact closed form for the update when one token dominates, and three consequences that each match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boundary of the paper: we can derive the lesion, we can show by transplant that it is necessary and not sufficient, but when exactly the rest of the network amplifies it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the direct consequence of the diagnosis. It is not free on every model,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is universal among sink models, the lesion is universal, the collapse is rare. The fix is bounded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bug: it was in our propagation loop, it did not change the story, and everything was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280160"/>
            <a:ext cx="7863840" cy="12801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3-bit quantisation can silently break an instruction-following model</a:t>
            </a:r>
            <a:endParaRPr lang="en-US" sz="3200" dirty="0"/>
          </a:p>
        </p:txBody>
      </p:sp>
      <p:sp>
        <p:nvSpPr>
          <p:cNvPr id="3" name="Text 1"/>
          <p:cNvSpPr txBox="1"/>
          <p:nvPr/>
        </p:nvSpPr>
        <p:spPr>
          <a:xfrm>
            <a:off x="640080" y="2651760"/>
            <a:ext cx="786384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and a one-line change to the objective that repairs it</a:t>
            </a:r>
            <a:endParaRPr lang="en-US" sz="1800" dirty="0"/>
          </a:p>
        </p:txBody>
      </p:sp>
      <p:sp>
        <p:nvSpPr>
          <p:cNvPr id="4" name="Text 2"/>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Jiahao Zheng · advisor meeting · 2026-09-16 · ICLR 2027 draft, abstract due 09-18, paper due 09-25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Background in one slide</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what quantisation is and how GPTQ does it</a:t>
            </a:r>
            <a:endParaRPr lang="en-US" sz="1400" dirty="0"/>
          </a:p>
        </p:txBody>
      </p:sp>
      <p:sp>
        <p:nvSpPr>
          <p:cNvPr id="4" name="Shape 2"/>
          <p:cNvSpPr/>
          <p:nvPr/>
        </p:nvSpPr>
        <p:spPr>
          <a:xfrm>
            <a:off x="457200" y="1371600"/>
            <a:ext cx="2560320" cy="3291840"/>
          </a:xfrm>
          <a:prstGeom prst="roundRect">
            <a:avLst>
              <a:gd name="adj" fmla="val 2857"/>
            </a:avLst>
          </a:prstGeom>
          <a:solidFill>
            <a:srgbClr val="EEF1F8"/>
          </a:solidFill>
          <a:ln w="12700">
            <a:solidFill>
              <a:srgbClr val="EEF1F8"/>
            </a:solidFill>
            <a:prstDash val="solid"/>
          </a:ln>
        </p:spPr>
      </p:sp>
      <p:sp>
        <p:nvSpPr>
          <p:cNvPr id="5" name="Text 3"/>
          <p:cNvSpPr txBox="1"/>
          <p:nvPr/>
        </p:nvSpPr>
        <p:spPr>
          <a:xfrm>
            <a:off x="640080" y="1508760"/>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Quantisation</a:t>
            </a:r>
            <a:endParaRPr lang="en-US" sz="1600" dirty="0"/>
          </a:p>
        </p:txBody>
      </p:sp>
      <p:sp>
        <p:nvSpPr>
          <p:cNvPr id="6" name="Text 4"/>
          <p:cNvSpPr txBox="1"/>
          <p:nvPr/>
        </p:nvSpPr>
        <p:spPr>
          <a:xfrm>
            <a:off x="640080" y="1920240"/>
            <a:ext cx="2194560" cy="256032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Store each weight with 3 bits instead of 16. The model becomes 5x smaller and cheaper to run. Every weight is rounded to one of 8 values.</a:t>
            </a:r>
            <a:endParaRPr lang="en-US" sz="1300" dirty="0"/>
          </a:p>
        </p:txBody>
      </p:sp>
      <p:sp>
        <p:nvSpPr>
          <p:cNvPr id="7" name="Shape 5"/>
          <p:cNvSpPr/>
          <p:nvPr/>
        </p:nvSpPr>
        <p:spPr>
          <a:xfrm>
            <a:off x="3291840" y="1371600"/>
            <a:ext cx="2560320" cy="3291840"/>
          </a:xfrm>
          <a:prstGeom prst="roundRect">
            <a:avLst>
              <a:gd name="adj" fmla="val 2857"/>
            </a:avLst>
          </a:prstGeom>
          <a:solidFill>
            <a:srgbClr val="EEF1F8"/>
          </a:solidFill>
          <a:ln w="12700">
            <a:solidFill>
              <a:srgbClr val="EEF1F8"/>
            </a:solidFill>
            <a:prstDash val="solid"/>
          </a:ln>
        </p:spPr>
      </p:sp>
      <p:sp>
        <p:nvSpPr>
          <p:cNvPr id="8" name="Text 6"/>
          <p:cNvSpPr txBox="1"/>
          <p:nvPr/>
        </p:nvSpPr>
        <p:spPr>
          <a:xfrm>
            <a:off x="3474720" y="1508760"/>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GPTQ</a:t>
            </a:r>
            <a:endParaRPr lang="en-US" sz="1600" dirty="0"/>
          </a:p>
        </p:txBody>
      </p:sp>
      <p:sp>
        <p:nvSpPr>
          <p:cNvPr id="9" name="Text 7"/>
          <p:cNvSpPr txBox="1"/>
          <p:nvPr/>
        </p:nvSpPr>
        <p:spPr>
          <a:xfrm>
            <a:off x="3474720" y="1920240"/>
            <a:ext cx="2194560" cy="256032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Rounds one column at a time. After each rounding it nudges the remaining weights to cancel the error. To judge a nudge it runs 128 calibration documents through the layer and adds up the output error over all their tokens: an exam with one question per token. 'Round-to-nearest' (RTN) skips the nudging.</a:t>
            </a:r>
            <a:endParaRPr lang="en-US" sz="1250" dirty="0"/>
          </a:p>
        </p:txBody>
      </p:sp>
      <p:sp>
        <p:nvSpPr>
          <p:cNvPr id="10" name="Shape 8"/>
          <p:cNvSpPr/>
          <p:nvPr/>
        </p:nvSpPr>
        <p:spPr>
          <a:xfrm>
            <a:off x="6126480" y="1371600"/>
            <a:ext cx="2560320" cy="3291840"/>
          </a:xfrm>
          <a:prstGeom prst="roundRect">
            <a:avLst>
              <a:gd name="adj" fmla="val 2857"/>
            </a:avLst>
          </a:prstGeom>
          <a:solidFill>
            <a:srgbClr val="EEF1F8"/>
          </a:solidFill>
          <a:ln w="12700">
            <a:solidFill>
              <a:srgbClr val="EEF1F8"/>
            </a:solidFill>
            <a:prstDash val="solid"/>
          </a:ln>
        </p:spPr>
      </p:sp>
      <p:sp>
        <p:nvSpPr>
          <p:cNvPr id="11" name="Text 9"/>
          <p:cNvSpPr txBox="1"/>
          <p:nvPr/>
        </p:nvSpPr>
        <p:spPr>
          <a:xfrm>
            <a:off x="6309360" y="1508760"/>
            <a:ext cx="21945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How it is validated</a:t>
            </a:r>
            <a:endParaRPr lang="en-US" sz="1600" dirty="0"/>
          </a:p>
        </p:txBody>
      </p:sp>
      <p:sp>
        <p:nvSpPr>
          <p:cNvPr id="12" name="Text 10"/>
          <p:cNvSpPr txBox="1"/>
          <p:nvPr/>
        </p:nvSpPr>
        <p:spPr>
          <a:xfrm>
            <a:off x="6309360" y="1920240"/>
            <a:ext cx="2194560" cy="256032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Perplexity (how well it predicts given text) and MMLU (multiple choice). Both score the likelihood of text the model is shown. Neither lets the model write anything.</a:t>
            </a:r>
            <a:endParaRPr lang="en-US" sz="1300" dirty="0"/>
          </a:p>
        </p:txBody>
      </p:sp>
      <p:sp>
        <p:nvSpPr>
          <p:cNvPr id="13" name="Text 11"/>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Instructions ignored, the usual metrics unchanged</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Llama-3.1-8B-Instruct, 3-bit, default calibration protocol</a:t>
            </a:r>
            <a:endParaRPr lang="en-US" sz="1400" dirty="0"/>
          </a:p>
        </p:txBody>
      </p:sp>
      <p:graphicFrame>
        <p:nvGraphicFramePr>
          <p:cNvPr id="4" name="Chart 0" descr=""/>
          <p:cNvGraphicFramePr/>
          <p:nvPr/>
        </p:nvGraphicFramePr>
        <p:xfrm>
          <a:off x="457200" y="1325880"/>
          <a:ext cx="548640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17920" y="1371600"/>
            <a:ext cx="2468880" cy="3291840"/>
          </a:xfrm>
          <a:prstGeom prst="roundRect">
            <a:avLst>
              <a:gd name="adj" fmla="val 2963"/>
            </a:avLst>
          </a:prstGeom>
          <a:solidFill>
            <a:srgbClr val="EEF1F8"/>
          </a:solidFill>
          <a:ln w="12700">
            <a:solidFill>
              <a:srgbClr val="EEF1F8"/>
            </a:solidFill>
            <a:prstDash val="solid"/>
          </a:ln>
        </p:spPr>
      </p:sp>
      <p:sp>
        <p:nvSpPr>
          <p:cNvPr id="6" name="Text 3"/>
          <p:cNvSpPr txBox="1"/>
          <p:nvPr/>
        </p:nvSpPr>
        <p:spPr>
          <a:xfrm>
            <a:off x="6400800" y="1508760"/>
            <a:ext cx="2148840" cy="31089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GPTQ 3-bit: 0.77 → 0.15. RTN, which does no nudging, keeps 0.57.</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Same checkpoint: MMLU 0.52, above RTN's 0.42. Perplexity is ordinary.</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Responses become unformatted or truncated; GSM8K falls to 0.01.</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Rare: 2 of 18 models. Depends on how the calibration text is cut into samples.</a:t>
            </a:r>
            <a:endParaRPr lang="en-US" sz="1200" dirty="0"/>
          </a:p>
        </p:txBody>
      </p:sp>
      <p:sp>
        <p:nvSpPr>
          <p:cNvPr id="7" name="Text 4"/>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Where: one matrix, at the layer that forms the attention sink</a:t>
            </a:r>
            <a:endParaRPr lang="en-US" sz="2800" dirty="0"/>
          </a:p>
        </p:txBody>
      </p:sp>
      <p:sp>
        <p:nvSpPr>
          <p:cNvPr id="3" name="Shape 1"/>
          <p:cNvSpPr/>
          <p:nvPr/>
        </p:nvSpPr>
        <p:spPr>
          <a:xfrm>
            <a:off x="457200" y="1371600"/>
            <a:ext cx="694944" cy="384048"/>
          </a:xfrm>
          <a:prstGeom prst="rect">
            <a:avLst/>
          </a:prstGeom>
          <a:solidFill>
            <a:srgbClr val="C8443C"/>
          </a:solidFill>
          <a:ln w="12700">
            <a:solidFill>
              <a:srgbClr val="C8443C"/>
            </a:solidFill>
            <a:prstDash val="solid"/>
          </a:ln>
        </p:spPr>
      </p:sp>
      <p:sp>
        <p:nvSpPr>
          <p:cNvPr id="4" name="Text 2"/>
          <p:cNvSpPr txBox="1"/>
          <p:nvPr/>
        </p:nvSpPr>
        <p:spPr>
          <a:xfrm>
            <a:off x="457200"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BOS</a:t>
            </a:r>
            <a:endParaRPr lang="en-US" sz="1000" dirty="0"/>
          </a:p>
        </p:txBody>
      </p:sp>
      <p:sp>
        <p:nvSpPr>
          <p:cNvPr id="5" name="Shape 3"/>
          <p:cNvSpPr/>
          <p:nvPr/>
        </p:nvSpPr>
        <p:spPr>
          <a:xfrm>
            <a:off x="1207008" y="1371600"/>
            <a:ext cx="694944" cy="384048"/>
          </a:xfrm>
          <a:prstGeom prst="rect">
            <a:avLst/>
          </a:prstGeom>
          <a:solidFill>
            <a:srgbClr val="E08A1E"/>
          </a:solidFill>
          <a:ln w="12700">
            <a:solidFill>
              <a:srgbClr val="E08A1E"/>
            </a:solidFill>
            <a:prstDash val="solid"/>
          </a:ln>
        </p:spPr>
      </p:sp>
      <p:sp>
        <p:nvSpPr>
          <p:cNvPr id="6" name="Text 4"/>
          <p:cNvSpPr txBox="1"/>
          <p:nvPr/>
        </p:nvSpPr>
        <p:spPr>
          <a:xfrm>
            <a:off x="1207008"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&lt;hdr&gt;</a:t>
            </a:r>
            <a:endParaRPr lang="en-US" sz="1000" dirty="0"/>
          </a:p>
        </p:txBody>
      </p:sp>
      <p:sp>
        <p:nvSpPr>
          <p:cNvPr id="7" name="Shape 5"/>
          <p:cNvSpPr/>
          <p:nvPr/>
        </p:nvSpPr>
        <p:spPr>
          <a:xfrm>
            <a:off x="1956816" y="1371600"/>
            <a:ext cx="694944" cy="384048"/>
          </a:xfrm>
          <a:prstGeom prst="rect">
            <a:avLst/>
          </a:prstGeom>
          <a:solidFill>
            <a:srgbClr val="E08A1E"/>
          </a:solidFill>
          <a:ln w="12700">
            <a:solidFill>
              <a:srgbClr val="E08A1E"/>
            </a:solidFill>
            <a:prstDash val="solid"/>
          </a:ln>
        </p:spPr>
      </p:sp>
      <p:sp>
        <p:nvSpPr>
          <p:cNvPr id="8" name="Text 6"/>
          <p:cNvSpPr txBox="1"/>
          <p:nvPr/>
        </p:nvSpPr>
        <p:spPr>
          <a:xfrm>
            <a:off x="1956816"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user</a:t>
            </a:r>
            <a:endParaRPr lang="en-US" sz="1000" dirty="0"/>
          </a:p>
        </p:txBody>
      </p:sp>
      <p:sp>
        <p:nvSpPr>
          <p:cNvPr id="9" name="Shape 7"/>
          <p:cNvSpPr/>
          <p:nvPr/>
        </p:nvSpPr>
        <p:spPr>
          <a:xfrm>
            <a:off x="2706624" y="1371600"/>
            <a:ext cx="694944" cy="384048"/>
          </a:xfrm>
          <a:prstGeom prst="rect">
            <a:avLst/>
          </a:prstGeom>
          <a:solidFill>
            <a:srgbClr val="E08A1E"/>
          </a:solidFill>
          <a:ln w="12700">
            <a:solidFill>
              <a:srgbClr val="E08A1E"/>
            </a:solidFill>
            <a:prstDash val="solid"/>
          </a:ln>
        </p:spPr>
      </p:sp>
      <p:sp>
        <p:nvSpPr>
          <p:cNvPr id="10" name="Text 8"/>
          <p:cNvSpPr txBox="1"/>
          <p:nvPr/>
        </p:nvSpPr>
        <p:spPr>
          <a:xfrm>
            <a:off x="2706624"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&lt;/hdr&gt;</a:t>
            </a:r>
            <a:endParaRPr lang="en-US" sz="1000" dirty="0"/>
          </a:p>
        </p:txBody>
      </p:sp>
      <p:sp>
        <p:nvSpPr>
          <p:cNvPr id="11" name="Shape 9"/>
          <p:cNvSpPr/>
          <p:nvPr/>
        </p:nvSpPr>
        <p:spPr>
          <a:xfrm>
            <a:off x="3456432" y="1371600"/>
            <a:ext cx="694944" cy="384048"/>
          </a:xfrm>
          <a:prstGeom prst="rect">
            <a:avLst/>
          </a:prstGeom>
          <a:solidFill>
            <a:srgbClr val="E08A1E"/>
          </a:solidFill>
          <a:ln w="12700">
            <a:solidFill>
              <a:srgbClr val="E08A1E"/>
            </a:solidFill>
            <a:prstDash val="solid"/>
          </a:ln>
        </p:spPr>
      </p:sp>
      <p:sp>
        <p:nvSpPr>
          <p:cNvPr id="12" name="Text 10"/>
          <p:cNvSpPr txBox="1"/>
          <p:nvPr/>
        </p:nvSpPr>
        <p:spPr>
          <a:xfrm>
            <a:off x="3456432"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a:t>
            </a:r>
            <a:endParaRPr lang="en-US" sz="1000" dirty="0"/>
          </a:p>
        </p:txBody>
      </p:sp>
      <p:sp>
        <p:nvSpPr>
          <p:cNvPr id="13" name="Shape 11"/>
          <p:cNvSpPr/>
          <p:nvPr/>
        </p:nvSpPr>
        <p:spPr>
          <a:xfrm>
            <a:off x="4206240" y="1371600"/>
            <a:ext cx="694944" cy="384048"/>
          </a:xfrm>
          <a:prstGeom prst="rect">
            <a:avLst/>
          </a:prstGeom>
          <a:solidFill>
            <a:srgbClr val="9AA0A6"/>
          </a:solidFill>
          <a:ln w="12700">
            <a:solidFill>
              <a:srgbClr val="9AA0A6"/>
            </a:solidFill>
            <a:prstDash val="solid"/>
          </a:ln>
        </p:spPr>
      </p:sp>
      <p:sp>
        <p:nvSpPr>
          <p:cNvPr id="14" name="Text 12"/>
          <p:cNvSpPr txBox="1"/>
          <p:nvPr/>
        </p:nvSpPr>
        <p:spPr>
          <a:xfrm>
            <a:off x="4206240"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Write</a:t>
            </a:r>
            <a:endParaRPr lang="en-US" sz="1000" dirty="0"/>
          </a:p>
        </p:txBody>
      </p:sp>
      <p:sp>
        <p:nvSpPr>
          <p:cNvPr id="15" name="Shape 13"/>
          <p:cNvSpPr/>
          <p:nvPr/>
        </p:nvSpPr>
        <p:spPr>
          <a:xfrm>
            <a:off x="4956048" y="1371600"/>
            <a:ext cx="694944" cy="384048"/>
          </a:xfrm>
          <a:prstGeom prst="rect">
            <a:avLst/>
          </a:prstGeom>
          <a:solidFill>
            <a:srgbClr val="9AA0A6"/>
          </a:solidFill>
          <a:ln w="12700">
            <a:solidFill>
              <a:srgbClr val="9AA0A6"/>
            </a:solidFill>
            <a:prstDash val="solid"/>
          </a:ln>
        </p:spPr>
      </p:sp>
      <p:sp>
        <p:nvSpPr>
          <p:cNvPr id="16" name="Text 14"/>
          <p:cNvSpPr txBox="1"/>
          <p:nvPr/>
        </p:nvSpPr>
        <p:spPr>
          <a:xfrm>
            <a:off x="4956048"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a:t>
            </a:r>
            <a:endParaRPr lang="en-US" sz="1000" dirty="0"/>
          </a:p>
        </p:txBody>
      </p:sp>
      <p:sp>
        <p:nvSpPr>
          <p:cNvPr id="17" name="Shape 15"/>
          <p:cNvSpPr/>
          <p:nvPr/>
        </p:nvSpPr>
        <p:spPr>
          <a:xfrm>
            <a:off x="5705856" y="1371600"/>
            <a:ext cx="694944" cy="384048"/>
          </a:xfrm>
          <a:prstGeom prst="rect">
            <a:avLst/>
          </a:prstGeom>
          <a:solidFill>
            <a:srgbClr val="9AA0A6"/>
          </a:solidFill>
          <a:ln w="12700">
            <a:solidFill>
              <a:srgbClr val="9AA0A6"/>
            </a:solidFill>
            <a:prstDash val="solid"/>
          </a:ln>
        </p:spPr>
      </p:sp>
      <p:sp>
        <p:nvSpPr>
          <p:cNvPr id="18" name="Text 16"/>
          <p:cNvSpPr txBox="1"/>
          <p:nvPr/>
        </p:nvSpPr>
        <p:spPr>
          <a:xfrm>
            <a:off x="5705856"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poem</a:t>
            </a:r>
            <a:endParaRPr lang="en-US" sz="1000" dirty="0"/>
          </a:p>
        </p:txBody>
      </p:sp>
      <p:sp>
        <p:nvSpPr>
          <p:cNvPr id="19" name="Shape 17"/>
          <p:cNvSpPr/>
          <p:nvPr/>
        </p:nvSpPr>
        <p:spPr>
          <a:xfrm>
            <a:off x="6455664" y="1371600"/>
            <a:ext cx="694944" cy="384048"/>
          </a:xfrm>
          <a:prstGeom prst="rect">
            <a:avLst/>
          </a:prstGeom>
          <a:solidFill>
            <a:srgbClr val="E08A1E"/>
          </a:solidFill>
          <a:ln w="12700">
            <a:solidFill>
              <a:srgbClr val="E08A1E"/>
            </a:solidFill>
            <a:prstDash val="solid"/>
          </a:ln>
        </p:spPr>
      </p:sp>
      <p:sp>
        <p:nvSpPr>
          <p:cNvPr id="20" name="Text 18"/>
          <p:cNvSpPr txBox="1"/>
          <p:nvPr/>
        </p:nvSpPr>
        <p:spPr>
          <a:xfrm>
            <a:off x="6455664"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&lt;eot&gt;</a:t>
            </a:r>
            <a:endParaRPr lang="en-US" sz="1000" dirty="0"/>
          </a:p>
        </p:txBody>
      </p:sp>
      <p:sp>
        <p:nvSpPr>
          <p:cNvPr id="21" name="Shape 19"/>
          <p:cNvSpPr/>
          <p:nvPr/>
        </p:nvSpPr>
        <p:spPr>
          <a:xfrm>
            <a:off x="7205472" y="1371600"/>
            <a:ext cx="694944" cy="384048"/>
          </a:xfrm>
          <a:prstGeom prst="rect">
            <a:avLst/>
          </a:prstGeom>
          <a:solidFill>
            <a:srgbClr val="2F6DB5"/>
          </a:solidFill>
          <a:ln w="12700">
            <a:solidFill>
              <a:srgbClr val="2F6DB5"/>
            </a:solidFill>
            <a:prstDash val="solid"/>
          </a:ln>
        </p:spPr>
      </p:sp>
      <p:sp>
        <p:nvSpPr>
          <p:cNvPr id="22" name="Text 20"/>
          <p:cNvSpPr txBox="1"/>
          <p:nvPr/>
        </p:nvSpPr>
        <p:spPr>
          <a:xfrm>
            <a:off x="7205472"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Roses</a:t>
            </a:r>
            <a:endParaRPr lang="en-US" sz="1000" dirty="0"/>
          </a:p>
        </p:txBody>
      </p:sp>
      <p:sp>
        <p:nvSpPr>
          <p:cNvPr id="23" name="Shape 21"/>
          <p:cNvSpPr/>
          <p:nvPr/>
        </p:nvSpPr>
        <p:spPr>
          <a:xfrm>
            <a:off x="7955280" y="1371600"/>
            <a:ext cx="694944" cy="384048"/>
          </a:xfrm>
          <a:prstGeom prst="rect">
            <a:avLst/>
          </a:prstGeom>
          <a:solidFill>
            <a:srgbClr val="2F6DB5"/>
          </a:solidFill>
          <a:ln w="12700">
            <a:solidFill>
              <a:srgbClr val="2F6DB5"/>
            </a:solidFill>
            <a:prstDash val="solid"/>
          </a:ln>
        </p:spPr>
      </p:sp>
      <p:sp>
        <p:nvSpPr>
          <p:cNvPr id="24" name="Text 22"/>
          <p:cNvSpPr txBox="1"/>
          <p:nvPr/>
        </p:nvSpPr>
        <p:spPr>
          <a:xfrm>
            <a:off x="7955280" y="1371600"/>
            <a:ext cx="694944" cy="38404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are</a:t>
            </a:r>
            <a:endParaRPr lang="en-US" sz="1000" dirty="0"/>
          </a:p>
        </p:txBody>
      </p:sp>
      <p:sp>
        <p:nvSpPr>
          <p:cNvPr id="25" name="Text 23"/>
          <p:cNvSpPr txBox="1"/>
          <p:nvPr/>
        </p:nvSpPr>
        <p:spPr>
          <a:xfrm>
            <a:off x="457200" y="1783080"/>
            <a:ext cx="8229600" cy="274320"/>
          </a:xfrm>
          <a:prstGeom prst="rect">
            <a:avLst/>
          </a:prstGeom>
          <a:noFill/>
          <a:ln/>
        </p:spPr>
        <p:txBody>
          <a:bodyPr wrap="square" lIns="0" tIns="0" rIns="0" bIns="0" rtlCol="0" anchor="ctr"/>
          <a:lstStyle/>
          <a:p>
            <a:pPr indent="0" marL="0">
              <a:buNone/>
            </a:pPr>
            <a:r>
              <a:rPr lang="en-US" sz="1100" i="1" dirty="0">
                <a:solidFill>
                  <a:srgbClr val="6B6F7A"/>
                </a:solidFill>
                <a:latin typeface="Calibri" pitchFamily="34" charset="0"/>
                <a:ea typeface="Calibri" pitchFamily="34" charset="-122"/>
                <a:cs typeface="Calibri" pitchFamily="34" charset="-120"/>
              </a:rPr>
              <a:t>a chat prompt: sink token (red), template tokens (orange), the instruction (grey), the response (blue)</a:t>
            </a:r>
            <a:endParaRPr lang="en-US" sz="1100" dirty="0"/>
          </a:p>
        </p:txBody>
      </p:sp>
      <p:sp>
        <p:nvSpPr>
          <p:cNvPr id="26" name="Text 24"/>
          <p:cNvSpPr txBox="1"/>
          <p:nvPr/>
        </p:nvSpPr>
        <p:spPr>
          <a:xfrm>
            <a:off x="457200" y="2194560"/>
            <a:ext cx="512064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Every prompt starts with a special first token (BOS). Instruction-tuned models use it as a parking spot for attention: the 'attention sink'.</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At one early layer (layer 1 in Llama), the network makes that token's activation about 500x larger than any other token's. The matrix that writes it is the last matrix of that layer's MLP.</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That single matrix carries the damage. Re-round just that one (of 224) with plain RTN, no calibration, no extra bits, and the score returns from 0.15 to 0.62.</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Controls: keeping other early matrices in full precision does not help (0.14).</a:t>
            </a:r>
            <a:endParaRPr lang="en-US" sz="1300" dirty="0"/>
          </a:p>
        </p:txBody>
      </p:sp>
      <p:sp>
        <p:nvSpPr>
          <p:cNvPr id="27" name="Shape 25"/>
          <p:cNvSpPr/>
          <p:nvPr/>
        </p:nvSpPr>
        <p:spPr>
          <a:xfrm>
            <a:off x="5852160" y="2194560"/>
            <a:ext cx="2834640" cy="2560320"/>
          </a:xfrm>
          <a:prstGeom prst="roundRect">
            <a:avLst>
              <a:gd name="adj" fmla="val 2857"/>
            </a:avLst>
          </a:prstGeom>
          <a:solidFill>
            <a:srgbClr val="EEF1F8"/>
          </a:solidFill>
          <a:ln w="12700">
            <a:solidFill>
              <a:srgbClr val="EEF1F8"/>
            </a:solidFill>
            <a:prstDash val="solid"/>
          </a:ln>
        </p:spPr>
      </p:sp>
      <p:sp>
        <p:nvSpPr>
          <p:cNvPr id="28" name="Text 26"/>
          <p:cNvSpPr txBox="1"/>
          <p:nvPr/>
        </p:nvSpPr>
        <p:spPr>
          <a:xfrm>
            <a:off x="5852160" y="2377440"/>
            <a:ext cx="2834640" cy="731520"/>
          </a:xfrm>
          <a:prstGeom prst="rect">
            <a:avLst/>
          </a:prstGeom>
          <a:noFill/>
          <a:ln/>
        </p:spPr>
        <p:txBody>
          <a:bodyPr wrap="square" lIns="0" tIns="0" rIns="0" bIns="0" rtlCol="0" anchor="ctr"/>
          <a:lstStyle/>
          <a:p>
            <a:pPr algn="ctr" indent="0" marL="0">
              <a:buNone/>
            </a:pPr>
            <a:r>
              <a:rPr lang="en-US" sz="4000" b="1" dirty="0">
                <a:solidFill>
                  <a:srgbClr val="C8443C"/>
                </a:solidFill>
                <a:latin typeface="Cambria" pitchFamily="34" charset="0"/>
                <a:ea typeface="Cambria" pitchFamily="34" charset="-122"/>
                <a:cs typeface="Cambria" pitchFamily="34" charset="-120"/>
              </a:rPr>
              <a:t>475 vs 1</a:t>
            </a:r>
            <a:endParaRPr lang="en-US" sz="4000" dirty="0"/>
          </a:p>
        </p:txBody>
      </p:sp>
      <p:sp>
        <p:nvSpPr>
          <p:cNvPr id="29" name="Text 27"/>
          <p:cNvSpPr txBox="1"/>
          <p:nvPr/>
        </p:nvSpPr>
        <p:spPr>
          <a:xfrm>
            <a:off x="5852160" y="3108960"/>
            <a:ext cx="2834640" cy="457200"/>
          </a:xfrm>
          <a:prstGeom prst="rect">
            <a:avLst/>
          </a:prstGeom>
          <a:noFill/>
          <a:ln/>
        </p:spPr>
        <p:txBody>
          <a:bodyPr wrap="square" lIns="0" tIns="0" rIns="0" bIns="0" rtlCol="0" anchor="ctr"/>
          <a:lstStyle/>
          <a:p>
            <a:pPr algn="ctr" indent="0" marL="0">
              <a:buNone/>
            </a:pPr>
            <a:r>
              <a:rPr lang="en-US" sz="1200" dirty="0">
                <a:solidFill>
                  <a:srgbClr val="6B6F7A"/>
                </a:solidFill>
                <a:latin typeface="Calibri" pitchFamily="34" charset="0"/>
                <a:ea typeface="Calibri" pitchFamily="34" charset="-122"/>
                <a:cs typeface="Calibri" pitchFamily="34" charset="-120"/>
              </a:rPr>
              <a:t>activation norm at BOS vs any other token, input of that matrix</a:t>
            </a:r>
            <a:endParaRPr lang="en-US" sz="1200" dirty="0"/>
          </a:p>
        </p:txBody>
      </p:sp>
      <p:sp>
        <p:nvSpPr>
          <p:cNvPr id="30" name="Text 28"/>
          <p:cNvSpPr txBox="1"/>
          <p:nvPr/>
        </p:nvSpPr>
        <p:spPr>
          <a:xfrm>
            <a:off x="5852160" y="3520440"/>
            <a:ext cx="2834640" cy="731520"/>
          </a:xfrm>
          <a:prstGeom prst="rect">
            <a:avLst/>
          </a:prstGeom>
          <a:noFill/>
          <a:ln/>
        </p:spPr>
        <p:txBody>
          <a:bodyPr wrap="square" lIns="0" tIns="0" rIns="0" bIns="0" rtlCol="0" anchor="ctr"/>
          <a:lstStyle/>
          <a:p>
            <a:pPr algn="ctr" indent="0" marL="0">
              <a:buNone/>
            </a:pPr>
            <a:r>
              <a:rPr lang="en-US" sz="4000" b="1" dirty="0">
                <a:solidFill>
                  <a:srgbClr val="2E8B57"/>
                </a:solidFill>
                <a:latin typeface="Cambria" pitchFamily="34" charset="0"/>
                <a:ea typeface="Cambria" pitchFamily="34" charset="-122"/>
                <a:cs typeface="Cambria" pitchFamily="34" charset="-120"/>
              </a:rPr>
              <a:t>0.15 → 0.62</a:t>
            </a:r>
            <a:endParaRPr lang="en-US" sz="4000" dirty="0"/>
          </a:p>
        </p:txBody>
      </p:sp>
      <p:sp>
        <p:nvSpPr>
          <p:cNvPr id="31" name="Text 29"/>
          <p:cNvSpPr txBox="1"/>
          <p:nvPr/>
        </p:nvSpPr>
        <p:spPr>
          <a:xfrm>
            <a:off x="5852160" y="4251960"/>
            <a:ext cx="2834640" cy="457200"/>
          </a:xfrm>
          <a:prstGeom prst="rect">
            <a:avLst/>
          </a:prstGeom>
          <a:noFill/>
          <a:ln/>
        </p:spPr>
        <p:txBody>
          <a:bodyPr wrap="square" lIns="0" tIns="0" rIns="0" bIns="0" rtlCol="0" anchor="ctr"/>
          <a:lstStyle/>
          <a:p>
            <a:pPr algn="ctr" indent="0" marL="0">
              <a:buNone/>
            </a:pPr>
            <a:r>
              <a:rPr lang="en-US" sz="1200" dirty="0">
                <a:solidFill>
                  <a:srgbClr val="6B6F7A"/>
                </a:solidFill>
                <a:latin typeface="Calibri" pitchFamily="34" charset="0"/>
                <a:ea typeface="Calibri" pitchFamily="34" charset="-122"/>
                <a:cs typeface="Calibri" pitchFamily="34" charset="-120"/>
              </a:rPr>
              <a:t>IFEval after re-rounding only that matrix</a:t>
            </a:r>
            <a:endParaRPr lang="en-US" sz="1200" dirty="0"/>
          </a:p>
        </p:txBody>
      </p:sp>
      <p:sp>
        <p:nvSpPr>
          <p:cNvPr id="32" name="Text 30"/>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Why: GPTQ grades itself on the wrong exam</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A = the points GPTQ gives each token.  G = the points the final loss gives each token.</a:t>
            </a:r>
            <a:endParaRPr lang="en-US" sz="1400" dirty="0"/>
          </a:p>
        </p:txBody>
      </p:sp>
      <p:graphicFrame>
        <p:nvGraphicFramePr>
          <p:cNvPr id="4" name="Chart 0" descr=""/>
          <p:cNvGraphicFramePr/>
          <p:nvPr/>
        </p:nvGraphicFramePr>
        <p:xfrm>
          <a:off x="457200" y="1371600"/>
          <a:ext cx="402336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371600"/>
          <a:ext cx="4023360" cy="23774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57200" y="3840480"/>
            <a:ext cx="8229600" cy="1143000"/>
          </a:xfrm>
          <a:prstGeom prst="rect">
            <a:avLst/>
          </a:prstGeom>
          <a:noFill/>
          <a:ln/>
        </p:spPr>
        <p:txBody>
          <a:bodyPr wrap="square" lIns="0" tIns="0" rIns="0" bIns="0" rtlCol="0" anchor="t"/>
          <a:lstStyle/>
          <a:p>
            <a:pPr indent="0" marL="0">
              <a:buNone/>
            </a:pPr>
            <a:r>
              <a:rPr lang="en-US" sz="1150" b="1" dirty="0">
                <a:solidFill>
                  <a:srgbClr val="C8443C"/>
                </a:solidFill>
                <a:latin typeface="Calibri" pitchFamily="34" charset="0"/>
                <a:ea typeface="Calibri" pitchFamily="34" charset="-122"/>
                <a:cs typeface="Calibri" pitchFamily="34" charset="-120"/>
              </a:rPr>
              <a:t>GPTQ's exam (A): </a:t>
            </a:r>
            <a:pPr indent="0" marL="0">
              <a:buNone/>
            </a:pPr>
            <a:r>
              <a:rPr lang="en-US" sz="1150" dirty="0">
                <a:solidFill>
                  <a:srgbClr val="222222"/>
                </a:solidFill>
                <a:latin typeface="Calibri" pitchFamily="34" charset="0"/>
                <a:ea typeface="Calibri" pitchFamily="34" charset="-122"/>
                <a:cs typeface="Calibri" pitchFamily="34" charset="-120"/>
              </a:rPr>
              <a:t>each token is one question, worth as many points as its activation is large (squared). BOS's activation is 475, every other token's is about 1, so BOS is worth 998 of every 1,000 points. GPTQ answers that one question perfectly and lets the rest go.  </a:t>
            </a:r>
            <a:pPr indent="0" marL="0">
              <a:buNone/>
            </a:pPr>
            <a:r>
              <a:rPr lang="en-US" sz="1150" b="1" dirty="0">
                <a:solidFill>
                  <a:srgbClr val="E08A1E"/>
                </a:solidFill>
                <a:latin typeface="Calibri" pitchFamily="34" charset="0"/>
                <a:ea typeface="Calibri" pitchFamily="34" charset="-122"/>
                <a:cs typeface="Calibri" pitchFamily="34" charset="-120"/>
              </a:rPr>
              <a:t>The exam that matters (G): </a:t>
            </a:r>
            <a:pPr indent="0" marL="0">
              <a:buNone/>
            </a:pPr>
            <a:r>
              <a:rPr lang="en-US" sz="1150" dirty="0">
                <a:solidFill>
                  <a:srgbClr val="222222"/>
                </a:solidFill>
                <a:latin typeface="Calibri" pitchFamily="34" charset="0"/>
                <a:ea typeface="Calibri" pitchFamily="34" charset="-122"/>
                <a:cs typeface="Calibri" pitchFamily="34" charset="-120"/>
              </a:rPr>
              <a:t>points = how much the model's final loss changes if this token's output is wrong. BOS is worth almost nothing, because the next normalisation divides its huge activation away; the template tokens are worth almost everything, because every response token reads them.  </a:t>
            </a:r>
            <a:pPr indent="0" marL="0">
              <a:buNone/>
            </a:pPr>
            <a:r>
              <a:rPr lang="en-US" sz="1150" b="1" dirty="0">
                <a:solidFill>
                  <a:srgbClr val="1E2761"/>
                </a:solidFill>
                <a:latin typeface="Calibri" pitchFamily="34" charset="0"/>
                <a:ea typeface="Calibri" pitchFamily="34" charset="-122"/>
                <a:cs typeface="Calibri" pitchFamily="34" charset="-120"/>
              </a:rPr>
              <a:t>Same layer, two different exams. </a:t>
            </a:r>
            <a:pPr indent="0" marL="0">
              <a:buNone/>
            </a:pPr>
            <a:r>
              <a:rPr lang="en-US" sz="1150" dirty="0">
                <a:solidFill>
                  <a:srgbClr val="222222"/>
                </a:solidFill>
                <a:latin typeface="Calibri" pitchFamily="34" charset="0"/>
                <a:ea typeface="Calibri" pitchFamily="34" charset="-122"/>
                <a:cs typeface="Calibri" pitchFamily="34" charset="-120"/>
              </a:rPr>
              <a:t>GPTQ only ever sees the first one. True in all 26 models with an attention sink; not in the 2 without.</a:t>
            </a:r>
            <a:endParaRPr lang="en-US" sz="1150" dirty="0"/>
          </a:p>
        </p:txBody>
      </p:sp>
      <p:sp>
        <p:nvSpPr>
          <p:cNvPr id="7" name="Text 3"/>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What the error-cancelling step does when one token owns the objective</a:t>
            </a:r>
            <a:endParaRPr lang="en-US" sz="2800" dirty="0"/>
          </a:p>
        </p:txBody>
      </p:sp>
      <p:sp>
        <p:nvSpPr>
          <p:cNvPr id="3" name="Shape 1"/>
          <p:cNvSpPr/>
          <p:nvPr/>
        </p:nvSpPr>
        <p:spPr>
          <a:xfrm>
            <a:off x="457200" y="1280160"/>
            <a:ext cx="4023360" cy="1645920"/>
          </a:xfrm>
          <a:prstGeom prst="roundRect">
            <a:avLst>
              <a:gd name="adj" fmla="val 4444"/>
            </a:avLst>
          </a:prstGeom>
          <a:solidFill>
            <a:srgbClr val="EEF1F8"/>
          </a:solidFill>
          <a:ln w="12700">
            <a:solidFill>
              <a:srgbClr val="EEF1F8"/>
            </a:solidFill>
            <a:prstDash val="solid"/>
          </a:ln>
        </p:spPr>
      </p:sp>
      <p:sp>
        <p:nvSpPr>
          <p:cNvPr id="4" name="Shape 2"/>
          <p:cNvSpPr/>
          <p:nvPr/>
        </p:nvSpPr>
        <p:spPr>
          <a:xfrm>
            <a:off x="594360" y="1417320"/>
            <a:ext cx="411480" cy="411480"/>
          </a:xfrm>
          <a:prstGeom prst="ellipse">
            <a:avLst/>
          </a:prstGeom>
          <a:solidFill>
            <a:srgbClr val="1E2761"/>
          </a:solidFill>
          <a:ln w="12700">
            <a:solidFill>
              <a:srgbClr val="1E2761"/>
            </a:solidFill>
            <a:prstDash val="solid"/>
          </a:ln>
        </p:spPr>
      </p:sp>
      <p:sp>
        <p:nvSpPr>
          <p:cNvPr id="5" name="Text 3"/>
          <p:cNvSpPr txBox="1"/>
          <p:nvPr/>
        </p:nvSpPr>
        <p:spPr>
          <a:xfrm>
            <a:off x="59436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097280" y="1417320"/>
            <a:ext cx="3291840" cy="41148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Every nudge is shaped like BOS</a:t>
            </a:r>
            <a:endParaRPr lang="en-US" sz="1300" dirty="0"/>
          </a:p>
        </p:txBody>
      </p:sp>
      <p:sp>
        <p:nvSpPr>
          <p:cNvPr id="7" name="Text 5"/>
          <p:cNvSpPr txBox="1"/>
          <p:nvPr/>
        </p:nvSpPr>
        <p:spPr>
          <a:xfrm>
            <a:off x="640080" y="1874520"/>
            <a:ext cx="3703320" cy="10058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When one question is worth 998 of 1,000 points, the best nudge after each rounding is the one that keeps BOS exact. We derive it in closed form (Theorem 1): every nudge is a copy of the BOS activation pattern.</a:t>
            </a:r>
            <a:endParaRPr lang="en-US" sz="1100" dirty="0"/>
          </a:p>
        </p:txBody>
      </p:sp>
      <p:sp>
        <p:nvSpPr>
          <p:cNvPr id="8" name="Shape 6"/>
          <p:cNvSpPr/>
          <p:nvPr/>
        </p:nvSpPr>
        <p:spPr>
          <a:xfrm>
            <a:off x="4663440" y="1280160"/>
            <a:ext cx="4023360" cy="1645920"/>
          </a:xfrm>
          <a:prstGeom prst="roundRect">
            <a:avLst>
              <a:gd name="adj" fmla="val 4444"/>
            </a:avLst>
          </a:prstGeom>
          <a:solidFill>
            <a:srgbClr val="EEF1F8"/>
          </a:solidFill>
          <a:ln w="12700">
            <a:solidFill>
              <a:srgbClr val="EEF1F8"/>
            </a:solidFill>
            <a:prstDash val="solid"/>
          </a:ln>
        </p:spPr>
      </p:sp>
      <p:sp>
        <p:nvSpPr>
          <p:cNvPr id="9" name="Shape 7"/>
          <p:cNvSpPr/>
          <p:nvPr/>
        </p:nvSpPr>
        <p:spPr>
          <a:xfrm>
            <a:off x="4800600" y="1417320"/>
            <a:ext cx="411480" cy="411480"/>
          </a:xfrm>
          <a:prstGeom prst="ellipse">
            <a:avLst/>
          </a:prstGeom>
          <a:solidFill>
            <a:srgbClr val="1E2761"/>
          </a:solidFill>
          <a:ln w="12700">
            <a:solidFill>
              <a:srgbClr val="1E2761"/>
            </a:solidFill>
            <a:prstDash val="solid"/>
          </a:ln>
        </p:spPr>
      </p:sp>
      <p:sp>
        <p:nvSpPr>
          <p:cNvPr id="10" name="Text 8"/>
          <p:cNvSpPr txBox="1"/>
          <p:nvPr/>
        </p:nvSpPr>
        <p:spPr>
          <a:xfrm>
            <a:off x="4800600" y="14173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5303520" y="1417320"/>
            <a:ext cx="3291840" cy="41148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The error lands on tokens that look like BOS</a:t>
            </a:r>
            <a:endParaRPr lang="en-US" sz="1300" dirty="0"/>
          </a:p>
        </p:txBody>
      </p:sp>
      <p:sp>
        <p:nvSpPr>
          <p:cNvPr id="12" name="Text 10"/>
          <p:cNvSpPr txBox="1"/>
          <p:nvPr/>
        </p:nvSpPr>
        <p:spPr>
          <a:xfrm>
            <a:off x="4846320" y="1874520"/>
            <a:ext cx="3703320" cy="10058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Nudging along the BOS pattern leaves an error on any token whose activation resembles that pattern. The template and newline tokens do; the response tokens hardly do. So the prompt's control tokens are damaged and the answer text is not.</a:t>
            </a:r>
            <a:endParaRPr lang="en-US" sz="1100" dirty="0"/>
          </a:p>
        </p:txBody>
      </p:sp>
      <p:sp>
        <p:nvSpPr>
          <p:cNvPr id="13" name="Shape 11"/>
          <p:cNvSpPr/>
          <p:nvPr/>
        </p:nvSpPr>
        <p:spPr>
          <a:xfrm>
            <a:off x="457200" y="3063240"/>
            <a:ext cx="4023360" cy="1645920"/>
          </a:xfrm>
          <a:prstGeom prst="roundRect">
            <a:avLst>
              <a:gd name="adj" fmla="val 4444"/>
            </a:avLst>
          </a:prstGeom>
          <a:solidFill>
            <a:srgbClr val="EEF1F8"/>
          </a:solidFill>
          <a:ln w="12700">
            <a:solidFill>
              <a:srgbClr val="EEF1F8"/>
            </a:solidFill>
            <a:prstDash val="solid"/>
          </a:ln>
        </p:spPr>
      </p:sp>
      <p:sp>
        <p:nvSpPr>
          <p:cNvPr id="14" name="Shape 12"/>
          <p:cNvSpPr/>
          <p:nvPr/>
        </p:nvSpPr>
        <p:spPr>
          <a:xfrm>
            <a:off x="594360" y="3200400"/>
            <a:ext cx="411480" cy="411480"/>
          </a:xfrm>
          <a:prstGeom prst="ellipse">
            <a:avLst/>
          </a:prstGeom>
          <a:solidFill>
            <a:srgbClr val="1E2761"/>
          </a:solidFill>
          <a:ln w="12700">
            <a:solidFill>
              <a:srgbClr val="1E2761"/>
            </a:solidFill>
            <a:prstDash val="solid"/>
          </a:ln>
        </p:spPr>
      </p:sp>
      <p:sp>
        <p:nvSpPr>
          <p:cNvPr id="15" name="Text 13"/>
          <p:cNvSpPr txBox="1"/>
          <p:nvPr/>
        </p:nvSpPr>
        <p:spPr>
          <a:xfrm>
            <a:off x="594360" y="3200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1097280" y="3200400"/>
            <a:ext cx="3291840" cy="41148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The damage has a shape we can measure</a:t>
            </a:r>
            <a:endParaRPr lang="en-US" sz="1300" dirty="0"/>
          </a:p>
        </p:txBody>
      </p:sp>
      <p:sp>
        <p:nvSpPr>
          <p:cNvPr id="17" name="Text 15"/>
          <p:cNvSpPr txBox="1"/>
          <p:nvPr/>
        </p:nvSpPr>
        <p:spPr>
          <a:xfrm>
            <a:off x="640080" y="3657600"/>
            <a:ext cx="3703320" cy="10058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23% of the matrix error sits in one row (the 'super weight' row); nudged weights exceed their range and get clipped; the error in the hidden state points along the BOS direction (cosine 0.88).</a:t>
            </a:r>
            <a:endParaRPr lang="en-US" sz="1100" dirty="0"/>
          </a:p>
        </p:txBody>
      </p:sp>
      <p:sp>
        <p:nvSpPr>
          <p:cNvPr id="18" name="Shape 16"/>
          <p:cNvSpPr/>
          <p:nvPr/>
        </p:nvSpPr>
        <p:spPr>
          <a:xfrm>
            <a:off x="4663440" y="3063240"/>
            <a:ext cx="4023360" cy="1645920"/>
          </a:xfrm>
          <a:prstGeom prst="roundRect">
            <a:avLst>
              <a:gd name="adj" fmla="val 4444"/>
            </a:avLst>
          </a:prstGeom>
          <a:solidFill>
            <a:srgbClr val="EEF1F8"/>
          </a:solidFill>
          <a:ln w="12700">
            <a:solidFill>
              <a:srgbClr val="EEF1F8"/>
            </a:solidFill>
            <a:prstDash val="solid"/>
          </a:ln>
        </p:spPr>
      </p:sp>
      <p:sp>
        <p:nvSpPr>
          <p:cNvPr id="19" name="Shape 17"/>
          <p:cNvSpPr/>
          <p:nvPr/>
        </p:nvSpPr>
        <p:spPr>
          <a:xfrm>
            <a:off x="4800600" y="3200400"/>
            <a:ext cx="411480" cy="411480"/>
          </a:xfrm>
          <a:prstGeom prst="ellipse">
            <a:avLst/>
          </a:prstGeom>
          <a:solidFill>
            <a:srgbClr val="1E2761"/>
          </a:solidFill>
          <a:ln w="12700">
            <a:solidFill>
              <a:srgbClr val="1E2761"/>
            </a:solidFill>
            <a:prstDash val="solid"/>
          </a:ln>
        </p:spPr>
      </p:sp>
      <p:sp>
        <p:nvSpPr>
          <p:cNvPr id="20" name="Text 18"/>
          <p:cNvSpPr txBox="1"/>
          <p:nvPr/>
        </p:nvSpPr>
        <p:spPr>
          <a:xfrm>
            <a:off x="4800600" y="3200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5303520" y="3200400"/>
            <a:ext cx="3291840" cy="411480"/>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Every known fix lowers BOS's points</a:t>
            </a:r>
            <a:endParaRPr lang="en-US" sz="1300" dirty="0"/>
          </a:p>
        </p:txBody>
      </p:sp>
      <p:sp>
        <p:nvSpPr>
          <p:cNvPr id="22" name="Text 20"/>
          <p:cNvSpPr txBox="1"/>
          <p:nvPr/>
        </p:nvSpPr>
        <p:spPr>
          <a:xfrm>
            <a:off x="4846320" y="3657600"/>
            <a:ext cx="3703320" cy="10058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Damping, token normalisation, chat-formatted calibration, long calibration windows: each makes the BOS question worth fewer points. None of them switches to the exam that matters.</a:t>
            </a:r>
            <a:endParaRPr lang="en-US" sz="1100" dirty="0"/>
          </a:p>
        </p:txBody>
      </p:sp>
      <p:sp>
        <p:nvSpPr>
          <p:cNvPr id="23" name="Text 21"/>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damaged matrix is necessary, not sufficient</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we copied the one damaged matrix into other networks and measured</a:t>
            </a:r>
            <a:endParaRPr lang="en-US" sz="1400" dirty="0"/>
          </a:p>
        </p:txBody>
      </p:sp>
      <p:graphicFrame>
        <p:nvGraphicFramePr>
          <p:cNvPr id="4" name="Chart 0" descr=""/>
          <p:cNvGraphicFramePr/>
          <p:nvPr/>
        </p:nvGraphicFramePr>
        <p:xfrm>
          <a:off x="457200" y="137160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0" y="137160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Put the damaged matrix into the uncompressed model: harmless (0.76). Into the RTN model: costs 4 points.</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Put it into any GPTQ-compressed model and that model collapses, even one that was healthy with its own version of the matrix.</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Why: GPTQ compresses layers one after another, so every later layer was adjusted to the network's own version of that matrix. A matrix from a different run breaks the fit.</a:t>
            </a:r>
            <a:endParaRPr lang="en-US" sz="1200" dirty="0"/>
          </a:p>
          <a:p>
            <a:pPr marL="342900" indent="-342900">
              <a:spcAft>
                <a:spcPts val="800"/>
              </a:spcAft>
              <a:buSzPct val="100000"/>
              <a:buChar char="•"/>
            </a:pPr>
            <a:r>
              <a:rPr lang="en-US" sz="1200" dirty="0">
                <a:solidFill>
                  <a:srgbClr val="222222"/>
                </a:solidFill>
                <a:latin typeface="Calibri" pitchFamily="34" charset="0"/>
                <a:ea typeface="Calibri" pitchFamily="34" charset="-122"/>
                <a:cs typeface="Calibri" pitchFamily="34" charset="-120"/>
              </a:rPr>
              <a:t>So the damaged matrix is necessary but not enough on its own; collapse needs it together with the rest of a GPTQ network. That is why collapse is rare.</a:t>
            </a:r>
            <a:endParaRPr lang="en-US" sz="1200" dirty="0"/>
          </a:p>
        </p:txBody>
      </p:sp>
      <p:sp>
        <p:nvSpPr>
          <p:cNvPr id="6" name="Text 3"/>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fix: grade GPTQ on the exam that matters</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re-score each token: erase its GPTQ points (divide by activation²), give it the loss's points (multiply by G)</a:t>
            </a:r>
            <a:endParaRPr lang="en-US" sz="1400" dirty="0"/>
          </a:p>
        </p:txBody>
      </p:sp>
      <p:graphicFrame>
        <p:nvGraphicFramePr>
          <p:cNvPr id="4" name="Chart 0" descr=""/>
          <p:cNvGraphicFramePr/>
          <p:nvPr/>
        </p:nvGraphicFramePr>
        <p:xfrm>
          <a:off x="457200" y="137160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1371600"/>
            <a:ext cx="3017520" cy="3291840"/>
          </a:xfrm>
          <a:prstGeom prst="roundRect">
            <a:avLst>
              <a:gd name="adj" fmla="val 2424"/>
            </a:avLst>
          </a:prstGeom>
          <a:solidFill>
            <a:srgbClr val="EEF1F8"/>
          </a:solidFill>
          <a:ln w="12700">
            <a:solidFill>
              <a:srgbClr val="EEF1F8"/>
            </a:solidFill>
            <a:prstDash val="solid"/>
          </a:ln>
        </p:spPr>
      </p:sp>
      <p:sp>
        <p:nvSpPr>
          <p:cNvPr id="6" name="Text 3"/>
          <p:cNvSpPr txBox="1"/>
          <p:nvPr/>
        </p:nvSpPr>
        <p:spPr>
          <a:xfrm>
            <a:off x="5852160" y="1508760"/>
            <a:ext cx="2697480" cy="306324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Same GPTQ, same calibration text, only the points table changes: one line of code, plus one backward pass per calibration document to read off G. Works with any quantiser of this family.</a:t>
            </a:r>
            <a:endParaRPr lang="en-US" sz="1150" dirty="0"/>
          </a:p>
          <a:p>
            <a:pPr indent="0" marL="0">
              <a:buNone/>
            </a:pPr>
            <a:r>
              <a:rPr lang="en-US" sz="1150" dirty="0">
                <a:solidFill>
                  <a:srgbClr val="222222"/>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222222"/>
                </a:solidFill>
                <a:latin typeface="Calibri" pitchFamily="34" charset="0"/>
                <a:ea typeface="Calibri" pitchFamily="34" charset="-122"/>
                <a:cs typeface="Calibri" pitchFamily="34" charset="-120"/>
              </a:rPr>
              <a:t>Both steps are needed: </a:t>
            </a:r>
            <a:pPr indent="0" marL="0">
              <a:buNone/>
            </a:pPr>
            <a:r>
              <a:rPr lang="en-US" sz="1150" dirty="0">
                <a:solidFill>
                  <a:srgbClr val="222222"/>
                </a:solidFill>
                <a:latin typeface="Calibri" pitchFamily="34" charset="0"/>
                <a:ea typeface="Calibri" pitchFamily="34" charset="-122"/>
                <a:cs typeface="Calibri" pitchFamily="34" charset="-120"/>
              </a:rPr>
              <a:t>only erasing the old points fails on Mistral (0.19); only adding the new points fails on Llama (0.33) and Qwen (0.58), because BOS's 998 points are still there underneath.</a:t>
            </a:r>
            <a:endParaRPr lang="en-US" sz="1150" dirty="0"/>
          </a:p>
          <a:p>
            <a:pPr indent="0" marL="0">
              <a:buNone/>
            </a:pPr>
            <a:r>
              <a:rPr lang="en-US" sz="1150" dirty="0">
                <a:solidFill>
                  <a:srgbClr val="222222"/>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222222"/>
                </a:solidFill>
                <a:latin typeface="Calibri" pitchFamily="34" charset="0"/>
                <a:ea typeface="Calibri" pitchFamily="34" charset="-122"/>
                <a:cs typeface="Calibri" pitchFamily="34" charset="-120"/>
              </a:rPr>
              <a:t>Cost: </a:t>
            </a:r>
            <a:pPr indent="0" marL="0">
              <a:buNone/>
            </a:pPr>
            <a:r>
              <a:rPr lang="en-US" sz="1150" dirty="0">
                <a:solidFill>
                  <a:srgbClr val="222222"/>
                </a:solidFill>
                <a:latin typeface="Calibri" pitchFamily="34" charset="0"/>
                <a:ea typeface="Calibri" pitchFamily="34" charset="-122"/>
                <a:cs typeface="Calibri" pitchFamily="34" charset="-120"/>
              </a:rPr>
              <a:t>on 16 models that were not collapsing, +0.3 points on average (−5.6 to +13.9). Llama's MMLU is 1 point below the collapsed checkpoint; GSM8K recovers only partly. We present it as a diagnosed repair, not a new default.</a:t>
            </a:r>
            <a:endParaRPr lang="en-US" sz="1150" dirty="0"/>
          </a:p>
        </p:txBody>
      </p:sp>
      <p:sp>
        <p:nvSpPr>
          <p:cNvPr id="7" name="Text 4"/>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How general is it?</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each statement was written down as a prediction before the models were run</a:t>
            </a:r>
            <a:endParaRPr lang="en-US" sz="1400" dirty="0"/>
          </a:p>
        </p:txBody>
      </p:sp>
      <p:sp>
        <p:nvSpPr>
          <p:cNvPr id="4" name="Shape 2"/>
          <p:cNvSpPr/>
          <p:nvPr/>
        </p:nvSpPr>
        <p:spPr>
          <a:xfrm>
            <a:off x="457200" y="1371600"/>
            <a:ext cx="2651760" cy="1554480"/>
          </a:xfrm>
          <a:prstGeom prst="roundRect">
            <a:avLst>
              <a:gd name="adj" fmla="val 4706"/>
            </a:avLst>
          </a:prstGeom>
          <a:solidFill>
            <a:srgbClr val="EEF1F8"/>
          </a:solidFill>
          <a:ln w="12700">
            <a:solidFill>
              <a:srgbClr val="EEF1F8"/>
            </a:solidFill>
            <a:prstDash val="solid"/>
          </a:ln>
        </p:spPr>
      </p:sp>
      <p:sp>
        <p:nvSpPr>
          <p:cNvPr id="5" name="Text 3"/>
          <p:cNvSpPr txBox="1"/>
          <p:nvPr/>
        </p:nvSpPr>
        <p:spPr>
          <a:xfrm>
            <a:off x="594360" y="1481328"/>
            <a:ext cx="2377440" cy="59436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26 / 26</a:t>
            </a:r>
            <a:endParaRPr lang="en-US" sz="2800" dirty="0"/>
          </a:p>
        </p:txBody>
      </p:sp>
      <p:sp>
        <p:nvSpPr>
          <p:cNvPr id="6" name="Text 4"/>
          <p:cNvSpPr txBox="1"/>
          <p:nvPr/>
        </p:nvSpPr>
        <p:spPr>
          <a:xfrm>
            <a:off x="594360" y="210312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models with an attention sink show the A/G mismatch; 0 / 2 models without a sink do</a:t>
            </a:r>
            <a:endParaRPr lang="en-US" sz="1100" dirty="0"/>
          </a:p>
        </p:txBody>
      </p:sp>
      <p:sp>
        <p:nvSpPr>
          <p:cNvPr id="7" name="Shape 5"/>
          <p:cNvSpPr/>
          <p:nvPr/>
        </p:nvSpPr>
        <p:spPr>
          <a:xfrm>
            <a:off x="3246120" y="1371600"/>
            <a:ext cx="2651760" cy="1554480"/>
          </a:xfrm>
          <a:prstGeom prst="roundRect">
            <a:avLst>
              <a:gd name="adj" fmla="val 4706"/>
            </a:avLst>
          </a:prstGeom>
          <a:solidFill>
            <a:srgbClr val="EEF1F8"/>
          </a:solidFill>
          <a:ln w="12700">
            <a:solidFill>
              <a:srgbClr val="EEF1F8"/>
            </a:solidFill>
            <a:prstDash val="solid"/>
          </a:ln>
        </p:spPr>
      </p:sp>
      <p:sp>
        <p:nvSpPr>
          <p:cNvPr id="8" name="Text 6"/>
          <p:cNvSpPr txBox="1"/>
          <p:nvPr/>
        </p:nvSpPr>
        <p:spPr>
          <a:xfrm>
            <a:off x="3383280" y="1481328"/>
            <a:ext cx="2377440" cy="59436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17 / 17</a:t>
            </a:r>
            <a:endParaRPr lang="en-US" sz="2800" dirty="0"/>
          </a:p>
        </p:txBody>
      </p:sp>
      <p:sp>
        <p:nvSpPr>
          <p:cNvPr id="9" name="Text 7"/>
          <p:cNvSpPr txBox="1"/>
          <p:nvPr/>
        </p:nvSpPr>
        <p:spPr>
          <a:xfrm>
            <a:off x="3383280" y="210312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sink models carry the lesion signature (template error of GPTQ over RTN: 3x to 471x)</a:t>
            </a:r>
            <a:endParaRPr lang="en-US" sz="1100" dirty="0"/>
          </a:p>
        </p:txBody>
      </p:sp>
      <p:sp>
        <p:nvSpPr>
          <p:cNvPr id="10" name="Shape 8"/>
          <p:cNvSpPr/>
          <p:nvPr/>
        </p:nvSpPr>
        <p:spPr>
          <a:xfrm>
            <a:off x="6035040" y="1371600"/>
            <a:ext cx="2651760" cy="1554480"/>
          </a:xfrm>
          <a:prstGeom prst="roundRect">
            <a:avLst>
              <a:gd name="adj" fmla="val 4706"/>
            </a:avLst>
          </a:prstGeom>
          <a:solidFill>
            <a:srgbClr val="EEF1F8"/>
          </a:solidFill>
          <a:ln w="12700">
            <a:solidFill>
              <a:srgbClr val="EEF1F8"/>
            </a:solidFill>
            <a:prstDash val="solid"/>
          </a:ln>
        </p:spPr>
      </p:sp>
      <p:sp>
        <p:nvSpPr>
          <p:cNvPr id="11" name="Text 9"/>
          <p:cNvSpPr txBox="1"/>
          <p:nvPr/>
        </p:nvSpPr>
        <p:spPr>
          <a:xfrm>
            <a:off x="6172200" y="1481328"/>
            <a:ext cx="2377440" cy="594360"/>
          </a:xfrm>
          <a:prstGeom prst="rect">
            <a:avLst/>
          </a:prstGeom>
          <a:noFill/>
          <a:ln/>
        </p:spPr>
        <p:txBody>
          <a:bodyPr wrap="square" lIns="0" tIns="0" rIns="0" bIns="0" rtlCol="0" anchor="ctr"/>
          <a:lstStyle/>
          <a:p>
            <a:pPr indent="0" marL="0">
              <a:buNone/>
            </a:pPr>
            <a:r>
              <a:rPr lang="en-US" sz="2800" b="1" dirty="0">
                <a:solidFill>
                  <a:srgbClr val="C8443C"/>
                </a:solidFill>
                <a:latin typeface="Cambria" pitchFamily="34" charset="0"/>
                <a:ea typeface="Cambria" pitchFamily="34" charset="-122"/>
                <a:cs typeface="Cambria" pitchFamily="34" charset="-120"/>
              </a:rPr>
              <a:t>2 / 18</a:t>
            </a:r>
            <a:endParaRPr lang="en-US" sz="2800" dirty="0"/>
          </a:p>
        </p:txBody>
      </p:sp>
      <p:sp>
        <p:nvSpPr>
          <p:cNvPr id="12" name="Text 10"/>
          <p:cNvSpPr txBox="1"/>
          <p:nvPr/>
        </p:nvSpPr>
        <p:spPr>
          <a:xfrm>
            <a:off x="6172200" y="210312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collapse at 3 bits under the default protocol; 1 / 18 under window calibration</a:t>
            </a:r>
            <a:endParaRPr lang="en-US" sz="1100" dirty="0"/>
          </a:p>
        </p:txBody>
      </p:sp>
      <p:sp>
        <p:nvSpPr>
          <p:cNvPr id="13" name="Shape 11"/>
          <p:cNvSpPr/>
          <p:nvPr/>
        </p:nvSpPr>
        <p:spPr>
          <a:xfrm>
            <a:off x="457200" y="3063240"/>
            <a:ext cx="2651760" cy="1554480"/>
          </a:xfrm>
          <a:prstGeom prst="roundRect">
            <a:avLst>
              <a:gd name="adj" fmla="val 4706"/>
            </a:avLst>
          </a:prstGeom>
          <a:solidFill>
            <a:srgbClr val="EEF1F8"/>
          </a:solidFill>
          <a:ln w="12700">
            <a:solidFill>
              <a:srgbClr val="EEF1F8"/>
            </a:solidFill>
            <a:prstDash val="solid"/>
          </a:ln>
        </p:spPr>
      </p:sp>
      <p:sp>
        <p:nvSpPr>
          <p:cNvPr id="14" name="Text 12"/>
          <p:cNvSpPr txBox="1"/>
          <p:nvPr/>
        </p:nvSpPr>
        <p:spPr>
          <a:xfrm>
            <a:off x="594360" y="3172968"/>
            <a:ext cx="2377440" cy="594360"/>
          </a:xfrm>
          <a:prstGeom prst="rect">
            <a:avLst/>
          </a:prstGeom>
          <a:noFill/>
          <a:ln/>
        </p:spPr>
        <p:txBody>
          <a:bodyPr wrap="square" lIns="0" tIns="0" rIns="0" bIns="0" rtlCol="0" anchor="ctr"/>
          <a:lstStyle/>
          <a:p>
            <a:pPr indent="0" marL="0">
              <a:buNone/>
            </a:pPr>
            <a:r>
              <a:rPr lang="en-US" sz="2800" b="1" dirty="0">
                <a:solidFill>
                  <a:srgbClr val="E08A1E"/>
                </a:solidFill>
                <a:latin typeface="Cambria" pitchFamily="34" charset="0"/>
                <a:ea typeface="Cambria" pitchFamily="34" charset="-122"/>
                <a:cs typeface="Cambria" pitchFamily="34" charset="-120"/>
              </a:rPr>
              <a:t>−0.1</a:t>
            </a:r>
            <a:endParaRPr lang="en-US" sz="2800" dirty="0"/>
          </a:p>
        </p:txBody>
      </p:sp>
      <p:sp>
        <p:nvSpPr>
          <p:cNvPr id="15" name="Text 13"/>
          <p:cNvSpPr txBox="1"/>
          <p:nvPr/>
        </p:nvSpPr>
        <p:spPr>
          <a:xfrm>
            <a:off x="594360" y="379476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mean IFEval gain of 4-bit GPTQ over 4-bit RTN on 18 models: the nudging earns nothing</a:t>
            </a:r>
            <a:endParaRPr lang="en-US" sz="1100" dirty="0"/>
          </a:p>
        </p:txBody>
      </p:sp>
      <p:sp>
        <p:nvSpPr>
          <p:cNvPr id="16" name="Shape 14"/>
          <p:cNvSpPr/>
          <p:nvPr/>
        </p:nvSpPr>
        <p:spPr>
          <a:xfrm>
            <a:off x="3246120" y="3063240"/>
            <a:ext cx="2651760" cy="1554480"/>
          </a:xfrm>
          <a:prstGeom prst="roundRect">
            <a:avLst>
              <a:gd name="adj" fmla="val 4706"/>
            </a:avLst>
          </a:prstGeom>
          <a:solidFill>
            <a:srgbClr val="EEF1F8"/>
          </a:solidFill>
          <a:ln w="12700">
            <a:solidFill>
              <a:srgbClr val="EEF1F8"/>
            </a:solidFill>
            <a:prstDash val="solid"/>
          </a:ln>
        </p:spPr>
      </p:sp>
      <p:sp>
        <p:nvSpPr>
          <p:cNvPr id="17" name="Text 15"/>
          <p:cNvSpPr txBox="1"/>
          <p:nvPr/>
        </p:nvSpPr>
        <p:spPr>
          <a:xfrm>
            <a:off x="3383280" y="3172968"/>
            <a:ext cx="2377440" cy="594360"/>
          </a:xfrm>
          <a:prstGeom prst="rect">
            <a:avLst/>
          </a:prstGeom>
          <a:noFill/>
          <a:ln/>
        </p:spPr>
        <p:txBody>
          <a:bodyPr wrap="square" lIns="0" tIns="0" rIns="0" bIns="0" rtlCol="0" anchor="ctr"/>
          <a:lstStyle/>
          <a:p>
            <a:pPr indent="0" marL="0">
              <a:buNone/>
            </a:pPr>
            <a:r>
              <a:rPr lang="en-US" sz="2800" b="1" dirty="0">
                <a:solidFill>
                  <a:srgbClr val="2E8B57"/>
                </a:solidFill>
                <a:latin typeface="Cambria" pitchFamily="34" charset="0"/>
                <a:ea typeface="Cambria" pitchFamily="34" charset="-122"/>
                <a:cs typeface="Cambria" pitchFamily="34" charset="-120"/>
              </a:rPr>
              <a:t>−4.6</a:t>
            </a:r>
            <a:endParaRPr lang="en-US" sz="2800" dirty="0"/>
          </a:p>
        </p:txBody>
      </p:sp>
      <p:sp>
        <p:nvSpPr>
          <p:cNvPr id="18" name="Text 16"/>
          <p:cNvSpPr txBox="1"/>
          <p:nvPr/>
        </p:nvSpPr>
        <p:spPr>
          <a:xfrm>
            <a:off x="3383280" y="379476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worst case of the fix vs RTN on 18 models, and that one is gemma-2 (no sink)</a:t>
            </a:r>
            <a:endParaRPr lang="en-US" sz="1100" dirty="0"/>
          </a:p>
        </p:txBody>
      </p:sp>
      <p:sp>
        <p:nvSpPr>
          <p:cNvPr id="19" name="Shape 17"/>
          <p:cNvSpPr/>
          <p:nvPr/>
        </p:nvSpPr>
        <p:spPr>
          <a:xfrm>
            <a:off x="6035040" y="3063240"/>
            <a:ext cx="2651760" cy="1554480"/>
          </a:xfrm>
          <a:prstGeom prst="roundRect">
            <a:avLst>
              <a:gd name="adj" fmla="val 4706"/>
            </a:avLst>
          </a:prstGeom>
          <a:solidFill>
            <a:srgbClr val="EEF1F8"/>
          </a:solidFill>
          <a:ln w="12700">
            <a:solidFill>
              <a:srgbClr val="EEF1F8"/>
            </a:solidFill>
            <a:prstDash val="solid"/>
          </a:ln>
        </p:spPr>
      </p:sp>
      <p:sp>
        <p:nvSpPr>
          <p:cNvPr id="20" name="Text 18"/>
          <p:cNvSpPr txBox="1"/>
          <p:nvPr/>
        </p:nvSpPr>
        <p:spPr>
          <a:xfrm>
            <a:off x="6172200" y="3172968"/>
            <a:ext cx="2377440" cy="594360"/>
          </a:xfrm>
          <a:prstGeom prst="rect">
            <a:avLst/>
          </a:prstGeom>
          <a:noFill/>
          <a:ln/>
        </p:spPr>
        <p:txBody>
          <a:bodyPr wrap="square" lIns="0" tIns="0" rIns="0" bIns="0" rtlCol="0" anchor="ctr"/>
          <a:lstStyle/>
          <a:p>
            <a:pPr indent="0" marL="0">
              <a:buNone/>
            </a:pPr>
            <a:r>
              <a:rPr lang="en-US" sz="2800" b="1" dirty="0">
                <a:solidFill>
                  <a:srgbClr val="2E8B57"/>
                </a:solidFill>
                <a:latin typeface="Cambria" pitchFamily="34" charset="0"/>
                <a:ea typeface="Cambria" pitchFamily="34" charset="-122"/>
                <a:cs typeface="Cambria" pitchFamily="34" charset="-120"/>
              </a:rPr>
              <a:t>+6.3 / +5.9</a:t>
            </a:r>
            <a:endParaRPr lang="en-US" sz="2800" dirty="0"/>
          </a:p>
        </p:txBody>
      </p:sp>
      <p:sp>
        <p:nvSpPr>
          <p:cNvPr id="21" name="Text 19"/>
          <p:cNvSpPr txBox="1"/>
          <p:nvPr/>
        </p:nvSpPr>
        <p:spPr>
          <a:xfrm>
            <a:off x="6172200" y="3794760"/>
            <a:ext cx="2377440" cy="7772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the fix recovers the two largest 4-bit losses (Mistral, Hermes-3)</a:t>
            </a:r>
            <a:endParaRPr lang="en-US" sz="1100" dirty="0"/>
          </a:p>
        </p:txBody>
      </p:sp>
      <p:sp>
        <p:nvSpPr>
          <p:cNvPr id="22" name="Text 20"/>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Where the paper stands</a:t>
            </a:r>
            <a:endParaRPr lang="en-US" sz="2800" dirty="0"/>
          </a:p>
        </p:txBody>
      </p:sp>
      <p:sp>
        <p:nvSpPr>
          <p:cNvPr id="3" name="Text 1"/>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6B6F7A"/>
                </a:solidFill>
                <a:latin typeface="Calibri" pitchFamily="34" charset="0"/>
                <a:ea typeface="Calibri" pitchFamily="34" charset="-122"/>
                <a:cs typeface="Calibri" pitchFamily="34" charset="-120"/>
              </a:rPr>
              <a:t>ICLR 2027: abstract 09-18, full paper 09-25</a:t>
            </a:r>
            <a:endParaRPr lang="en-US" sz="1400" dirty="0"/>
          </a:p>
        </p:txBody>
      </p:sp>
      <p:sp>
        <p:nvSpPr>
          <p:cNvPr id="4" name="Shape 2"/>
          <p:cNvSpPr/>
          <p:nvPr/>
        </p:nvSpPr>
        <p:spPr>
          <a:xfrm>
            <a:off x="457200" y="1371600"/>
            <a:ext cx="4023360" cy="3291840"/>
          </a:xfrm>
          <a:prstGeom prst="roundRect">
            <a:avLst>
              <a:gd name="adj" fmla="val 2222"/>
            </a:avLst>
          </a:prstGeom>
          <a:solidFill>
            <a:srgbClr val="EEF1F8"/>
          </a:solidFill>
          <a:ln w="12700">
            <a:solidFill>
              <a:srgbClr val="EEF1F8"/>
            </a:solidFill>
            <a:prstDash val="solid"/>
          </a:ln>
        </p:spPr>
      </p:sp>
      <p:sp>
        <p:nvSpPr>
          <p:cNvPr id="5" name="Text 3"/>
          <p:cNvSpPr txBox="1"/>
          <p:nvPr/>
        </p:nvSpPr>
        <p:spPr>
          <a:xfrm>
            <a:off x="640080" y="1463040"/>
            <a:ext cx="3657600" cy="365760"/>
          </a:xfrm>
          <a:prstGeom prst="rect">
            <a:avLst/>
          </a:prstGeom>
          <a:noFill/>
          <a:ln/>
        </p:spPr>
        <p:txBody>
          <a:bodyPr wrap="square" lIns="0" tIns="0" rIns="0" bIns="0" rtlCol="0" anchor="ctr"/>
          <a:lstStyle/>
          <a:p>
            <a:pPr indent="0" marL="0">
              <a:buNone/>
            </a:pPr>
            <a:r>
              <a:rPr lang="en-US" sz="1600" b="1" dirty="0">
                <a:solidFill>
                  <a:srgbClr val="2E8B57"/>
                </a:solidFill>
                <a:latin typeface="Cambria" pitchFamily="34" charset="0"/>
                <a:ea typeface="Cambria" pitchFamily="34" charset="-122"/>
                <a:cs typeface="Cambria" pitchFamily="34" charset="-120"/>
              </a:rPr>
              <a:t>Done</a:t>
            </a:r>
            <a:endParaRPr lang="en-US" sz="1600" dirty="0"/>
          </a:p>
        </p:txBody>
      </p:sp>
      <p:sp>
        <p:nvSpPr>
          <p:cNvPr id="6" name="Text 4"/>
          <p:cNvSpPr txBox="1"/>
          <p:nvPr/>
        </p:nvSpPr>
        <p:spPr>
          <a:xfrm>
            <a:off x="640080" y="187452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Full draft, 8 sections; Section 5 is the theory (exact closed form + proofs in the main text).</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Every number re-run on corrected code this week: a cache bug in our layer-wise loop was found, fixed, and verified by a propagation check; all conclusions held, two numbers moved (both reported).</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51 references, each checked against its source.</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Pre-registration log: ~30 failed predictions kept in an appendix.</a:t>
            </a:r>
            <a:endParaRPr lang="en-US" sz="1150" dirty="0"/>
          </a:p>
        </p:txBody>
      </p:sp>
      <p:sp>
        <p:nvSpPr>
          <p:cNvPr id="7" name="Shape 5"/>
          <p:cNvSpPr/>
          <p:nvPr/>
        </p:nvSpPr>
        <p:spPr>
          <a:xfrm>
            <a:off x="4663440" y="1371600"/>
            <a:ext cx="4023360" cy="3291840"/>
          </a:xfrm>
          <a:prstGeom prst="roundRect">
            <a:avLst>
              <a:gd name="adj" fmla="val 2222"/>
            </a:avLst>
          </a:prstGeom>
          <a:solidFill>
            <a:srgbClr val="EEF1F8"/>
          </a:solidFill>
          <a:ln w="12700">
            <a:solidFill>
              <a:srgbClr val="EEF1F8"/>
            </a:solidFill>
            <a:prstDash val="solid"/>
          </a:ln>
        </p:spPr>
      </p:sp>
      <p:sp>
        <p:nvSpPr>
          <p:cNvPr id="8" name="Text 6"/>
          <p:cNvSpPr txBox="1"/>
          <p:nvPr/>
        </p:nvSpPr>
        <p:spPr>
          <a:xfrm>
            <a:off x="4846320" y="1463040"/>
            <a:ext cx="3657600" cy="365760"/>
          </a:xfrm>
          <a:prstGeom prst="rect">
            <a:avLst/>
          </a:prstGeom>
          <a:noFill/>
          <a:ln/>
        </p:spPr>
        <p:txBody>
          <a:bodyPr wrap="square" lIns="0" tIns="0" rIns="0" bIns="0" rtlCol="0" anchor="ctr"/>
          <a:lstStyle/>
          <a:p>
            <a:pPr indent="0" marL="0">
              <a:buNone/>
            </a:pPr>
            <a:r>
              <a:rPr lang="en-US" sz="1600" b="1" dirty="0">
                <a:solidFill>
                  <a:srgbClr val="E08A1E"/>
                </a:solidFill>
                <a:latin typeface="Cambria" pitchFamily="34" charset="0"/>
                <a:ea typeface="Cambria" pitchFamily="34" charset="-122"/>
                <a:cs typeface="Cambria" pitchFamily="34" charset="-120"/>
              </a:rPr>
              <a:t>Open</a:t>
            </a:r>
            <a:endParaRPr lang="en-US" sz="1600" dirty="0"/>
          </a:p>
        </p:txBody>
      </p:sp>
      <p:sp>
        <p:nvSpPr>
          <p:cNvPr id="9" name="Text 7"/>
          <p:cNvSpPr txBox="1"/>
          <p:nvPr/>
        </p:nvSpPr>
        <p:spPr>
          <a:xfrm>
            <a:off x="4846320" y="187452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Figures 1–4 (mechanism figure drawn by hand; three data figures scripted).</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Collaborator: proofs of act-order accumulation, the general-M bound, the RMSNorm lemma, and the KronQ boundary (Appendix A).</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Scientific open question: when does the rest of a GPTQ network amplify the lesion rather than absorb it.</a:t>
            </a:r>
            <a:endParaRPr lang="en-US" sz="1150" dirty="0"/>
          </a:p>
          <a:p>
            <a:pPr marL="342900" indent="-3429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Decisions needed today: title; whether to frame the fix as a 'diagnosed repair'; scope of the theory in the main text.</a:t>
            </a:r>
            <a:endParaRPr lang="en-US" sz="1150" dirty="0"/>
          </a:p>
        </p:txBody>
      </p:sp>
      <p:sp>
        <p:nvSpPr>
          <p:cNvPr id="10" name="Text 8"/>
          <p:cNvSpPr txBox="1"/>
          <p:nvPr/>
        </p:nvSpPr>
        <p:spPr>
          <a:xfrm>
            <a:off x="8503920" y="4800600"/>
            <a:ext cx="36576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2026-09-16T18:25:50Z</dcterms:created>
  <dcterms:modified xsi:type="dcterms:W3CDTF">2026-09-16T18:25:50Z</dcterms:modified>
</cp:coreProperties>
</file>