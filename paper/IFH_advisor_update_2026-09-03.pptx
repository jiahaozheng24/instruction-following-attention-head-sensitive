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2"/>
    <p:restoredTop sz="94699"/>
  </p:normalViewPr>
  <p:slideViewPr>
    <p:cSldViewPr snapToGrid="0">
      <p:cViewPr varScale="1">
        <p:scale>
          <a:sx n="92" d="100"/>
          <a:sy n="92" d="100"/>
        </p:scale>
        <p:origin x="10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compression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0.765</c:v>
                </c:pt>
                <c:pt idx="1">
                  <c:v>0.552</c:v>
                </c:pt>
                <c:pt idx="2">
                  <c:v>0.768</c:v>
                </c:pt>
                <c:pt idx="3">
                  <c:v>0.82</c:v>
                </c:pt>
                <c:pt idx="4">
                  <c:v>0.757</c:v>
                </c:pt>
                <c:pt idx="5">
                  <c:v>0.838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3-bit compression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0.672</c:v>
                </c:pt>
                <c:pt idx="1">
                  <c:v>0.468</c:v>
                </c:pt>
                <c:pt idx="2">
                  <c:v>0.15</c:v>
                </c:pt>
                <c:pt idx="3">
                  <c:v>0.412</c:v>
                </c:pt>
                <c:pt idx="4">
                  <c:v>0.698</c:v>
                </c:pt>
                <c:pt idx="5">
                  <c:v>0.762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mild (graceful)</c:v>
                </c:pt>
              </c:strCache>
            </c:strRef>
          </c:tx>
          <c:spPr>
            <a:solidFill>
              <a:srgbClr val="8A9BB0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0.06</c:v>
                </c:pt>
                <c:pt idx="1">
                  <c:v>0.063</c:v>
                </c:pt>
                <c:pt idx="2">
                  <c:v>0.076</c:v>
                </c:pt>
                <c:pt idx="3">
                  <c:v>0.085</c:v>
                </c:pt>
                <c:pt idx="4">
                  <c:v>0.094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middle tier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5">
                  <c:v>0.147</c:v>
                </c:pt>
                <c:pt idx="6">
                  <c:v>0.151</c:v>
                </c:pt>
                <c:pt idx="7">
                  <c:v>0.173</c:v>
                </c:pt>
                <c:pt idx="8">
                  <c:v>0.175</c:v>
                </c:pt>
                <c:pt idx="9">
                  <c:v>0.247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COLLAPSE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10">
                  <c:v>0.409</c:v>
                </c:pt>
                <c:pt idx="11">
                  <c:v>0.619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(uncompressed)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0.768</c:v>
                </c:pt>
                <c:pt idx="1">
                  <c:v>0.82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0.15</c:v>
                </c:pt>
                <c:pt idx="1">
                  <c:v>0.412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compressed + protection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0.643</c:v>
                </c:pt>
                <c:pt idx="1">
                  <c:v>0.782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Llama-8B + protection</c:v>
                </c:pt>
              </c:strCache>
            </c:strRef>
          </c:tx>
          <c:spPr>
            <a:ln w="28575">
              <a:solidFill>
                <a:srgbClr val="0C2340"/>
              </a:solidFill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0.246</c:v>
                </c:pt>
                <c:pt idx="1">
                  <c:v>0.671</c:v>
                </c:pt>
                <c:pt idx="3">
                  <c:v>0.665</c:v>
                </c:pt>
                <c:pt idx="4">
                  <c:v>0.638</c:v>
                </c:pt>
                <c:pt idx="5">
                  <c:v>0.643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Qwen-14B + protection</c:v>
                </c:pt>
              </c:strCache>
            </c:strRef>
          </c:tx>
          <c:spPr>
            <a:ln w="28575">
              <a:solidFill>
                <a:srgbClr val="AE9141"/>
              </a:solidFill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1">
                  <c:v>0.216</c:v>
                </c:pt>
                <c:pt idx="2">
                  <c:v>0.689</c:v>
                </c:pt>
                <c:pt idx="3">
                  <c:v>0.734</c:v>
                </c:pt>
                <c:pt idx="5">
                  <c:v>0.782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Llama-8B unprotected</c:v>
                </c:pt>
              </c:strCache>
            </c:strRef>
          </c:tx>
          <c:spPr>
            <a:ln w="15875">
              <a:solidFill>
                <a:srgbClr val="8A9BB0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0.15</c:v>
                </c:pt>
                <c:pt idx="1">
                  <c:v>0.15</c:v>
                </c:pt>
                <c:pt idx="2">
                  <c:v>0.15</c:v>
                </c:pt>
                <c:pt idx="3">
                  <c:v>0.15</c:v>
                </c:pt>
                <c:pt idx="4">
                  <c:v>0.15</c:v>
                </c:pt>
                <c:pt idx="5">
                  <c:v>0.15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Qwen-14B unprotected</c:v>
                </c:pt>
              </c:strCache>
            </c:strRef>
          </c:tx>
          <c:spPr>
            <a:ln w="15875">
              <a:solidFill>
                <a:srgbClr val="D6C79A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0.412</c:v>
                </c:pt>
                <c:pt idx="1">
                  <c:v>0.412</c:v>
                </c:pt>
                <c:pt idx="2">
                  <c:v>0.412</c:v>
                </c:pt>
                <c:pt idx="3">
                  <c:v>0.412</c:v>
                </c:pt>
                <c:pt idx="4">
                  <c:v>0.412</c:v>
                </c:pt>
                <c:pt idx="5">
                  <c:v>0.412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4-bit (mild)</c:v>
                </c:pt>
                <c:pt idx="1">
                  <c:v>3-bit (deep)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0.745</c:v>
                </c:pt>
                <c:pt idx="1">
                  <c:v>0.15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protection</c:v>
                </c:pt>
              </c:strCache>
            </c:strRef>
          </c:tx>
          <c:spPr>
            <a:solidFill>
              <a:srgbClr val="0A833C"/>
            </a:solidFill>
          </c:spPr>
          <c:cat>
            <c:strRef>
              <c:f>Sheet1!$A$2:$A$3</c:f>
              <c:strCache>
                <c:ptCount val="2"/>
                <c:pt idx="0">
                  <c:v>4-bit (mild)</c:v>
                </c:pt>
                <c:pt idx="1">
                  <c:v>3-bit (deep)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0.753</c:v>
                </c:pt>
                <c:pt idx="1">
                  <c:v>0.643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Sheet1!$A$2:$A$5</c:f>
              <c:strCache>
                <c:ptCount val="4"/>
                <c:pt idx="0">
                  <c:v>8-bit</c:v>
                </c:pt>
                <c:pt idx="1">
                  <c:v>4-bit</c:v>
                </c:pt>
                <c:pt idx="2">
                  <c:v>3-bit</c:v>
                </c:pt>
                <c:pt idx="3">
                  <c:v>2-bit (extreme)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0.77</c:v>
                </c:pt>
                <c:pt idx="1">
                  <c:v>0.758</c:v>
                </c:pt>
                <c:pt idx="2">
                  <c:v>0.672</c:v>
                </c:pt>
                <c:pt idx="3">
                  <c:v>0.121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protection</c:v>
                </c:pt>
              </c:strCache>
            </c:strRef>
          </c:tx>
          <c:spPr>
            <a:solidFill>
              <a:srgbClr val="0A833C"/>
            </a:solidFill>
          </c:spPr>
          <c:cat>
            <c:strRef>
              <c:f>Sheet1!$A$2:$A$5</c:f>
              <c:strCache>
                <c:ptCount val="4"/>
                <c:pt idx="0">
                  <c:v>8-bit</c:v>
                </c:pt>
                <c:pt idx="1">
                  <c:v>4-bit</c:v>
                </c:pt>
                <c:pt idx="2">
                  <c:v>3-bit</c:v>
                </c:pt>
                <c:pt idx="3">
                  <c:v>2-bit (extreme)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2">
                  <c:v>0.702</c:v>
                </c:pt>
                <c:pt idx="3">
                  <c:v>0.133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开场：我们研究的是——把大模型压缩变小的时候，什么情况下能力会被悄悄毁掉、怎么防住。所有实验已完成并冻结（6个模型，约120组实验）。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立四个词：①量化=把每个权重从16位存成3位，模型小5倍、便宜5倍；②GPTQ=业界标准压缩算法，特点是“聪明”——每压一个权重就调整其他权重来抵消误差；③RTN=笨办法，直接四舍五入，不纠错；④保护=挑出最重要的0.5%权重不压缩，重要性用TaCQ这篇论文的公式打分：|权重值|×|梯度|×|压缩误差|，直觉是“作用大×模型敏感×压缩伤它重”三者相乘。我们的问题：以往论文都默认“保护重要权重总是有帮助”，没人问过什么时候真有帮助。我们的答案：只有压崩溃的时候有帮助，其他时候完全没用。两个备注：①0.5%这个预算是我们定的（为了和“保护32个注意力头”做同预算公平对照，算出来恰好约0.5%；TaCQ自己的配置也在0.5-0.8%一档；我们的扫描证明真正必需的只有0.001-0.01%）；②除标明“数学/知识题/困惑度”的地方外，全片所有数字都是IFEval指令遵循分（0-1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个主模型用完全相同的配方压到3位：四个只轻微掉分（掉0.06-0.09），两个崩溃——Llama-8B从0.77掉到0.15，Qwen-14B从0.82掉到0.41。关键是不可预测：同一家族的Qwen，7B没事、14B崩、32B又没事。每个崩溃都换随机种子重跑验证过，是稳定现象不是偶然。最新补充：又普查了6个模型（共12个）。新模型都落在中间档（掉0.15-0.25，多是3B小模型——小模型本来就压得更惨，这是已知规律），没有出现第三个崩溃。重点：两个崩溃严重偏离“越小越惨”的趋势线（Llama-3.2-3B才掉0.17，更大的Llama-3.1-8B却掉0.62），而且复读机率有断层（中间档最高22%，崩溃是55-92%）——所以崩溃是一种性质不同的故障，不是普通退化的加重版。如果被问“上一代Llama-3-8B呢”：它只掉0.15——同尺寸同家族，隔一代就翻转。（下一页就是12模型的完整数据图。）最新补测（W16）把分型钉死了：对中间档两个代表做RTN对照，GPTQ的纠错在它们身上是帮忙的（Qwen-3B：RTN只有0.13、GPTQ有0.41，帮了28分；Yi-9B帮了12分），方向和两个崩溃完全相反（崩溃处纠错是害41.5/28.6分）。所以判定崩溃的本质标准是“纠错在帮忙还是在行凶”，掉分大小只是表象。同时保护在中间档只有+7.4（Qwen-3B）和+2.0（Yi-9B，不显著）——远小于崩溃处的+37/+49：保护的价值≈它拦下的纠错之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模型全景：柱子是压缩后损失的分数，越高越糟。三个层次一目了然：轻微档（掉0.06-0.09）、中间档（掉0.15-0.25，多为小模型——小模型冗余少，普通退化更大）、两个崩溃（掉0.41和0.62）。关键论据：崩溃不在“越小越惨”的趋势线上——最小的3B们才掉0.17-0.25，反而是8B和14B崩掉。判定中间档和崩溃是两种病的证据在后面（纠错方向相反+复读机率断层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崩溃能修：压缩时保住TaCQ分数最高的0.5%权重（约几千万个），Llama从0.15回到0.64，Qwen-14B从0.41回到0.78（原始分的95%）。对照实验：保护同样数量的随机权重几乎没用（0.18/0.48）——必须是“对的”权重。数学能力同样被修复：14B的GSM8K从0.93崩到0.13，保护后回到0.89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照实验全家福：同样大小的保护配额给谁？给随机权重没用（0.18/0.48）、给我们最初找的指令注意力头没用（0.165）、给Mengxia发现的3-6个超级权重也没用（0.163）——只有TaCQ判据挑的那批有效。两个彩蛋：①用通用网页文本算重要性效果一样好（临界集与任务无关）；②整通道保护（硬件友好）在Llama有效、14B失效（结构因模型而异）。这页的主旨：“知道什么重要”和“知道保护什么”是两回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保护多少个？预算扫描：Llama在10万个处发生相变（1万不够0.25，10万就够0.67），14B的相变在30万个——都只占模型的十万分之一量级，且需求随模型变大。红色警告：保护太少反而更糟——14B只保10万个时0.216，比完全不保护的0.412还低，两个种子都复现。这只有“保护改变纠错轨迹”的机制才解释得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半结论：四个没崩溃的场景，一模一样的保护只带来+0.008到+0.033，统计检验全部与零无差别（对比崩溃时的+0.49/+0.37）。所以保护是急救包，不是万金油——文献只展示了它“有用”的一面，没人报告过它大多数时候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直接回答“WHEN是什么意思”：同一个模型内部沿bit阶梯看。Llama-8B：4位时轻伤（保护+0.008，无用），3位时崩溃（保护+0.49，救命）。Qwen-7B：8位无损、4位近无损、3位轻伤（保护+0.03，无用）、2位彻底毁灭（0.12，保护无用——加到10倍预算2%也只有0.13，救不活）。所以“何时”的答案是一个窗口：压得不够深没病可治；压进崩溃区保护决定生死；压到2位病入膏肓。加上第3页的跨模型轴（12模型只有2个崩）和发现4的算法轴（GPTQ崩、RTN不崩、旋转不崩），三个轴合起来的统一判据就是：保护只在“纠错在净行凶”的组合里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严谨性页：每个对比都做了配对bootstrap——541道题重采样5000次出95%区间，区间跨零就判为噪声。表里绿色四行是真效应（两个救援、保护胜旋转、中间档Qwen-3B的小增益+0.074），灰色五行全是噪声（轻微档的所谓+3分统计上等于零）。这页是给审稿人的：我们自己先把统计做严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崩：同一个Llama三种压法对比。笨办法RTN反而0.57（受伤但活着），聪明的GPTQ却0.15（崩了）——聪明反被聪明误。机制：GPTQ的纠错会把误差摊到其他权重上；模型里有约10万个超敏感权重（占0.001%，在原模型里把它们清零模型也会死），纠错一碰它们就把毒扩散到全网络。证据：事后把这10万个修回原值也救不活（0.16）——伤已经在网络其他地方了。所以保护必须在压缩过程中做，等于告诉纠错机制“这批别碰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文最重要的一张表：六个模型，比较笨办法（RTN）和聪明办法（GPTQ）。前四行纠错在帮忙（+0.05到+0.28），这些模型上保护基本无用；后两行纠错在行凶（-0.42和-0.29），恰恰就是崩溃的两个，保护在这里救命。而且救援幅度约等于纠错造成的伤害（害0.42救回0.49、害0.29救回0.37）——保护的价值就是它拦下的纠错之害。一句话：跑一次RTN对比就能诊断该不该保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机制四连证：①事后修复失败——伤已扩散到网络其他部分；②临界权重在原模型里就致命（置零0.19 vs 随机置零0.78无损）；③保护太少反而有害（0.216&lt;0.412）——部分保护把纠错带进更糟的路径；④关掉GPTQ的处理顺序技巧照样崩——是交互本身的问题，不是顺序。四个证据从四个方向指向同一个机制：纠错×临界集的交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和最新技术的对比：旋转类方法（QuaRot等）压缩前把网络在数学上旋转一下，让极端值摊平。我们验证了旋转本身无损（0.785≈0.768）。结果：旋转确实防住崩溃（Llama 0.641、14B 0.665），在Llama上和保护打平，但在14B上输给保护0.117（统计显著）。所以“用旋转就行了”这个最危险的质疑，被我们自己的数据回答了。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吓人的发现：这么严重的损坏，业界两个默认质检居然都看不出来。压缩后的14B有69%的回答变成复读机（画面上是真实输出），原版不到1%。但困惑度只涨35%（和无害情况一样）、MMLU选择题只掉6分（也和无害情况一样）。原因：这两个指标只测“逐词预测”，复读机只在模型连续自由生成时才发作。警示：压缩后必须用生成式任务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不能提前预测谁会崩？不能。业界流行理论把量化脆弱归因于“离群值”（模型内部的极端数值）。我们把所有候选预警信号在原模型上量了一遍：激活尖峰最大的Qwen-32B（19072）安然无恙，几乎没有尖峰的Llama-8B（324）反而崩了；重要性集中度最高的Mistral也没崩。数字完全交错，跨家族、族内都分不开。所以论文诚实声明：预测是开放问题，但检测很便宜——20道生成题就能查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能力验证：同样的崩溃和救援在数学（GSM8K）上复现——Llama数学从0.843崩到0.002（千分之二！），保护救回0.616；14B从0.926崩到0.129，救回0.894（原始的97%）。右表是三轮对话（Multi-IF）：崩溃模型逐轮归零，保护后每轮都恢复。附加发现：多轮对话会把量化损伤逐轮放大（轻微档的Qwen-7B第1轮差0.09、第3轮差到0.15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四句话（加上WHEN规则是五句）：开头第0条是给实践者的一句话诊断：跑一次RTN对比，看纠错在帮忙还是行凶。其余：①压缩损伤分两种模式，轻微或崩溃，且无法从原模型预测（六个模型上证伪了所有已发表的预测指标）；②保护是崩溃修复工具而非通用增益，崩溃时它胜过包括最新旋转方法在内的所有替代方案；③元凶是压缩算法的纠错机制而非低精度本身；④评测警告：模型可能通过困惑度和MMLU检查但已丧失80%生成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两篇最近的论文：TaCQ发明了我们用的重要性分数并展示保护有效——我们回答它没问的“何时、为何”；Super Weights是Mengxia学长的工作，发现每个模型有3-6个“超级权重”删一个就死——我们验证了只保护它们救不了GPTQ崩溃，崩溃涉及的是另外约10万个权重，两个工作互补不冲突。投稿：ICLR 2027（摘要9/18、全文9/25），被拒则带着审稿意见转投ACL 2027。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征求意见：①故事是否已经是一个干净的问题+干净的答案；②确认ICLR→ACL路线；③如何对接Mengxia的工作（打招呼还是引用即可）；④集群还可用，要不要补实验。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0;p2">
            <a:extLst>
              <a:ext uri="{FF2B5EF4-FFF2-40B4-BE49-F238E27FC236}">
                <a16:creationId xmlns:a16="http://schemas.microsoft.com/office/drawing/2014/main" id="{53F233AC-0510-266D-FCFF-ED178091A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119750" y="1542900"/>
            <a:ext cx="6904500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1;p2">
            <a:extLst>
              <a:ext uri="{FF2B5EF4-FFF2-40B4-BE49-F238E27FC236}">
                <a16:creationId xmlns:a16="http://schemas.microsoft.com/office/drawing/2014/main" id="{EBA9A701-A8A7-7A94-C42F-AFF86B24D4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12;p2">
            <a:extLst>
              <a:ext uri="{FF2B5EF4-FFF2-40B4-BE49-F238E27FC236}">
                <a16:creationId xmlns:a16="http://schemas.microsoft.com/office/drawing/2014/main" id="{406771D0-11A3-EF17-C573-EE63C1744858}"/>
              </a:ext>
            </a:extLst>
          </p:cNvPr>
          <p:cNvPicPr preferRelativeResize="0"/>
          <p:nvPr userDrawn="1"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975" y="3517275"/>
            <a:ext cx="2064040" cy="841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0321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6;p3">
            <a:extLst>
              <a:ext uri="{FF2B5EF4-FFF2-40B4-BE49-F238E27FC236}">
                <a16:creationId xmlns:a16="http://schemas.microsoft.com/office/drawing/2014/main" id="{D873DB60-2845-4283-B9B0-33688CF767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38100" y="900650"/>
            <a:ext cx="4730183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7;p3">
            <a:extLst>
              <a:ext uri="{FF2B5EF4-FFF2-40B4-BE49-F238E27FC236}">
                <a16:creationId xmlns:a16="http://schemas.microsoft.com/office/drawing/2014/main" id="{74931D05-9E21-F408-1459-67459AEB3BF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108450" y="3444184"/>
            <a:ext cx="3910800" cy="118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sz="2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437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0;p4">
            <a:extLst>
              <a:ext uri="{FF2B5EF4-FFF2-40B4-BE49-F238E27FC236}">
                <a16:creationId xmlns:a16="http://schemas.microsoft.com/office/drawing/2014/main" id="{7B8921AA-03BC-05A8-8CE2-0FCF8183B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458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21;p4">
            <a:extLst>
              <a:ext uri="{FF2B5EF4-FFF2-40B4-BE49-F238E27FC236}">
                <a16:creationId xmlns:a16="http://schemas.microsoft.com/office/drawing/2014/main" id="{27E39A30-1A52-CABC-F51D-19833C97CC0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177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" name="Google Shape;22;p4">
            <a:extLst>
              <a:ext uri="{FF2B5EF4-FFF2-40B4-BE49-F238E27FC236}">
                <a16:creationId xmlns:a16="http://schemas.microsoft.com/office/drawing/2014/main" id="{CFC7DBD6-46F0-3242-09EE-0A1B092852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077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27;p5">
            <a:extLst>
              <a:ext uri="{FF2B5EF4-FFF2-40B4-BE49-F238E27FC236}">
                <a16:creationId xmlns:a16="http://schemas.microsoft.com/office/drawing/2014/main" id="{4092F99A-727D-0C7F-193F-34116CE16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081900"/>
            <a:ext cx="6306600" cy="15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3" name="Google Shape;28;p5">
            <a:extLst>
              <a:ext uri="{FF2B5EF4-FFF2-40B4-BE49-F238E27FC236}">
                <a16:creationId xmlns:a16="http://schemas.microsoft.com/office/drawing/2014/main" id="{2F9AE3FA-8A49-71C7-6EDC-1AAC78FA1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01850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4" name="Google Shape;29;p5">
            <a:extLst>
              <a:ext uri="{FF2B5EF4-FFF2-40B4-BE49-F238E27FC236}">
                <a16:creationId xmlns:a16="http://schemas.microsoft.com/office/drawing/2014/main" id="{80A249F5-85E5-82EA-5EE3-723221E6350F}"/>
              </a:ext>
            </a:extLst>
          </p:cNvPr>
          <p:cNvCxnSpPr/>
          <p:nvPr userDrawn="1"/>
        </p:nvCxnSpPr>
        <p:spPr>
          <a:xfrm>
            <a:off x="4572000" y="2734725"/>
            <a:ext cx="0" cy="185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30;p5">
            <a:extLst>
              <a:ext uri="{FF2B5EF4-FFF2-40B4-BE49-F238E27FC236}">
                <a16:creationId xmlns:a16="http://schemas.microsoft.com/office/drawing/2014/main" id="{0B1D5D14-474F-A0D0-5057-FAE028584EF8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54675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78309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34;p6">
            <a:extLst>
              <a:ext uri="{FF2B5EF4-FFF2-40B4-BE49-F238E27FC236}">
                <a16:creationId xmlns:a16="http://schemas.microsoft.com/office/drawing/2014/main" id="{5FC66DFF-8561-60DB-A937-68A4ABF497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35;p6">
            <a:extLst>
              <a:ext uri="{FF2B5EF4-FFF2-40B4-BE49-F238E27FC236}">
                <a16:creationId xmlns:a16="http://schemas.microsoft.com/office/drawing/2014/main" id="{EFF21C56-7AF9-66E6-BCA4-D7F0B9C4E5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36;p6">
            <a:extLst>
              <a:ext uri="{FF2B5EF4-FFF2-40B4-BE49-F238E27FC236}">
                <a16:creationId xmlns:a16="http://schemas.microsoft.com/office/drawing/2014/main" id="{94C6C7E4-002D-CC99-987D-28B937BED4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9" name="Google Shape;37;p6">
            <a:extLst>
              <a:ext uri="{FF2B5EF4-FFF2-40B4-BE49-F238E27FC236}">
                <a16:creationId xmlns:a16="http://schemas.microsoft.com/office/drawing/2014/main" id="{AC5C48E9-8BD4-498A-FFD8-418F505EC664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28452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" name="Google Shape;38;p6">
            <a:extLst>
              <a:ext uri="{FF2B5EF4-FFF2-40B4-BE49-F238E27FC236}">
                <a16:creationId xmlns:a16="http://schemas.microsoft.com/office/drawing/2014/main" id="{117E4942-88B2-F745-6083-7C627D6325B6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54337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58308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42;p7">
            <a:extLst>
              <a:ext uri="{FF2B5EF4-FFF2-40B4-BE49-F238E27FC236}">
                <a16:creationId xmlns:a16="http://schemas.microsoft.com/office/drawing/2014/main" id="{BD6370DA-F18F-B9CF-6F9E-D2D405AC00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43;p7">
            <a:extLst>
              <a:ext uri="{FF2B5EF4-FFF2-40B4-BE49-F238E27FC236}">
                <a16:creationId xmlns:a16="http://schemas.microsoft.com/office/drawing/2014/main" id="{3DAFA47F-8E25-D3EA-5FAC-4C45713CCB5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44;p7">
            <a:extLst>
              <a:ext uri="{FF2B5EF4-FFF2-40B4-BE49-F238E27FC236}">
                <a16:creationId xmlns:a16="http://schemas.microsoft.com/office/drawing/2014/main" id="{83A41736-C4EC-2907-33B2-A8ECE7401E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04985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239232F9-A89D-ACB2-8A6C-241019DDE049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30870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13" name="Google Shape;48;p7">
            <a:extLst>
              <a:ext uri="{FF2B5EF4-FFF2-40B4-BE49-F238E27FC236}">
                <a16:creationId xmlns:a16="http://schemas.microsoft.com/office/drawing/2014/main" id="{5DFF0D8A-48DF-28FF-EBA3-5D8D0870D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485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50;p8">
            <a:extLst>
              <a:ext uri="{FF2B5EF4-FFF2-40B4-BE49-F238E27FC236}">
                <a16:creationId xmlns:a16="http://schemas.microsoft.com/office/drawing/2014/main" id="{4185BD83-7301-7FFC-E73C-F7FEFCF7C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7" name="Google Shape;51;p8">
            <a:extLst>
              <a:ext uri="{FF2B5EF4-FFF2-40B4-BE49-F238E27FC236}">
                <a16:creationId xmlns:a16="http://schemas.microsoft.com/office/drawing/2014/main" id="{9B77F4B2-CBBE-CE5B-9A8D-A9EB7403A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94350" y="3504825"/>
            <a:ext cx="22857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9254004C-2368-C3C8-DFF7-38F96A4C70D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657375" y="1435325"/>
            <a:ext cx="4486500" cy="28755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60422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53;p8">
            <a:extLst>
              <a:ext uri="{FF2B5EF4-FFF2-40B4-BE49-F238E27FC236}">
                <a16:creationId xmlns:a16="http://schemas.microsoft.com/office/drawing/2014/main" id="{7AAB6B8E-1814-24D5-F727-C528E7D90CE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96417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54;p8">
            <a:extLst>
              <a:ext uri="{FF2B5EF4-FFF2-40B4-BE49-F238E27FC236}">
                <a16:creationId xmlns:a16="http://schemas.microsoft.com/office/drawing/2014/main" id="{5006C48F-0795-9DCF-9885-5A7CCA2A2D76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3328700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55;p8">
            <a:extLst>
              <a:ext uri="{FF2B5EF4-FFF2-40B4-BE49-F238E27FC236}">
                <a16:creationId xmlns:a16="http://schemas.microsoft.com/office/drawing/2014/main" id="{06D408E1-D8EC-F8EE-8FBD-D508720805FB}"/>
              </a:ext>
            </a:extLst>
          </p:cNvPr>
          <p:cNvSpPr txBox="1">
            <a:spLocks noGrp="1"/>
          </p:cNvSpPr>
          <p:nvPr>
            <p:ph type="body" idx="4"/>
          </p:nvPr>
        </p:nvSpPr>
        <p:spPr>
          <a:xfrm>
            <a:off x="569322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" name="Google Shape;58;p8">
            <a:extLst>
              <a:ext uri="{FF2B5EF4-FFF2-40B4-BE49-F238E27FC236}">
                <a16:creationId xmlns:a16="http://schemas.microsoft.com/office/drawing/2014/main" id="{EA36A0E3-007D-E420-AA92-D94611843340}"/>
              </a:ext>
            </a:extLst>
          </p:cNvPr>
          <p:cNvSpPr txBox="1"/>
          <p:nvPr userDrawn="1"/>
        </p:nvSpPr>
        <p:spPr>
          <a:xfrm>
            <a:off x="1562578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1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6B7F64-E26E-961A-4C60-2161B925AC42}"/>
              </a:ext>
            </a:extLst>
          </p:cNvPr>
          <p:cNvSpPr/>
          <p:nvPr userDrawn="1"/>
        </p:nvSpPr>
        <p:spPr>
          <a:xfrm>
            <a:off x="1252769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58;p8">
            <a:extLst>
              <a:ext uri="{FF2B5EF4-FFF2-40B4-BE49-F238E27FC236}">
                <a16:creationId xmlns:a16="http://schemas.microsoft.com/office/drawing/2014/main" id="{ED7DFD84-16EE-897A-F788-87370B160857}"/>
              </a:ext>
            </a:extLst>
          </p:cNvPr>
          <p:cNvSpPr txBox="1"/>
          <p:nvPr userDrawn="1"/>
        </p:nvSpPr>
        <p:spPr>
          <a:xfrm>
            <a:off x="3913329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2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B1DE8F7-EFD7-20C5-C9C3-9769E90E9BBB}"/>
              </a:ext>
            </a:extLst>
          </p:cNvPr>
          <p:cNvSpPr/>
          <p:nvPr userDrawn="1"/>
        </p:nvSpPr>
        <p:spPr>
          <a:xfrm>
            <a:off x="3603520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Google Shape;58;p8">
            <a:extLst>
              <a:ext uri="{FF2B5EF4-FFF2-40B4-BE49-F238E27FC236}">
                <a16:creationId xmlns:a16="http://schemas.microsoft.com/office/drawing/2014/main" id="{12CD22A9-C77F-0E37-F41A-FD3B0AC1D37A}"/>
              </a:ext>
            </a:extLst>
          </p:cNvPr>
          <p:cNvSpPr txBox="1"/>
          <p:nvPr userDrawn="1"/>
        </p:nvSpPr>
        <p:spPr>
          <a:xfrm>
            <a:off x="6264081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3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A5766C-C98A-4511-B9BB-B7A84A8C4F78}"/>
              </a:ext>
            </a:extLst>
          </p:cNvPr>
          <p:cNvSpPr/>
          <p:nvPr userDrawn="1"/>
        </p:nvSpPr>
        <p:spPr>
          <a:xfrm>
            <a:off x="5954272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845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68;p10">
            <a:extLst>
              <a:ext uri="{FF2B5EF4-FFF2-40B4-BE49-F238E27FC236}">
                <a16:creationId xmlns:a16="http://schemas.microsoft.com/office/drawing/2014/main" id="{F1FE515D-79AE-554B-0E88-BC6BEE9DF6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5725" y="1626263"/>
            <a:ext cx="46101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872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09388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D83E5-B358-A14A-9A6E-D4F1762030E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D784F-FBAE-2742-9AFF-34F1F0A48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25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Relationship Id="rId4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D4467-F371-22FD-260C-C7F2D5D497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56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94A301-BBE4-E4DB-2BE7-C6A4CBDA2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A2990A-D3C0-6BE9-6E16-7C764019417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19F991-5A0E-1D42-8065-353B3DBFD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6153E17-DB3E-2A7F-61A6-77433668D2E0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64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363B5B7-55DD-0AEE-B121-854B26D47C86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123C50-CCC4-D83D-ADBA-4EE559708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E3A2F-38D6-5025-5AAB-70273194E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9669B0-CFE6-842D-7098-589B1256C69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773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93B9FB4-2886-43AB-74EE-C1DCC930A08A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0DBA2-31B8-9D5A-ABE3-995F16E06C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A5660-0ADE-5C05-DE34-EBAC4314C8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B63FE6-1647-0E37-91BA-2BDB140D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406DC4A-0540-4FFA-1562-DB8BE8D3C46C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FCC9FEB-ED44-B34C-7B34-D17D0C74BA9E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904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E9A2B64-B297-0D22-9008-48BB6FEC24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6E316-19C6-D52E-8FAD-052B7F066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9EC3F8-5E83-338E-DBDC-7B86A563DE5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3B7C07-21DC-4837-032B-4F2578C552C9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2D7457-89EE-2E5C-3C07-ECE167F4DB14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A7B9D38-AF61-C925-F507-239C7B41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0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9664AAA-67CC-9215-026A-C4200712FD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EFC985-D1B8-011E-8809-5930032E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2C270-D184-3373-A6DF-BCE34F25E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648935E-AE12-A4E7-10A2-5ED2D4209C79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53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9441CE8E-3EAE-79B2-05B8-E6EBED612BD7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5F930-EFE4-C5D1-359C-F20D57FAA6B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E16990-8F49-F990-AAAB-D626CCA65B3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3D0F69-578B-EF1D-323E-B84FB2A982E4}"/>
              </a:ext>
            </a:extLst>
          </p:cNvPr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4CDF9FCC-AFE0-9A6A-31E6-79C554EFCBBB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BE9C57-B5C3-A553-1066-2819E770D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314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281880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When Does Protecting Weights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Protect Capabilities?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999232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AE9141"/>
                </a:solidFill>
                <a:latin typeface="Georgia"/>
              </a:rPr>
              <a:t>What we found when 3-bit compression quietly breaks an LLM — and what fixes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33087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Georgia"/>
              </a:rPr>
              <a:t>Jiahao Zheng  ·  Advisor Update  ·  September 3,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C9D3E0"/>
                </a:solidFill>
                <a:latin typeface="Georgia"/>
              </a:rPr>
              <a:t>All experiments finished &amp; frozen 09/02  ·  6 models  ·  ~120 runs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Question — and the Only 4 Terms You Need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429768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Quantization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storing each weight in 3 bits instead of 16 → ~5× smaller and cheaper to run.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GPTQ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standard compression algorithm. “Smart”: after rounding each weight it adjusts the remaining ones to cancel the error.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RTN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naive alternative: just round every weight. No error correction.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Protection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keep a tiny fraction of weights (≤0.5%) uncompressed, chosen by an importance score from the TaCQ paper (UNC, 2025):</a:t>
            </a:r>
          </a:p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importance = |weight| × |gradient| × |compression error|</a:t>
            </a:r>
          </a:p>
          <a:p>
            <a:pPr algn="ctr">
              <a:spcAft>
                <a:spcPts val="500"/>
              </a:spcAft>
            </a:pPr>
            <a:r>
              <a:rPr sz="1000" b="0" i="1">
                <a:solidFill>
                  <a:srgbClr val="5A5A5A"/>
                </a:solidFill>
                <a:latin typeface="Georgia"/>
              </a:rPr>
              <a:t>(“does a lot × model is sensitive × compression hits it hard”)</a:t>
            </a:r>
          </a:p>
          <a:p>
            <a:pPr algn="l"/>
            <a:r>
              <a:rPr sz="1000" b="0" i="0">
                <a:solidFill>
                  <a:srgbClr val="5A5A5A"/>
                </a:solidFill>
                <a:latin typeface="Georgia"/>
              </a:rPr>
              <a:t>The score is TaCQ's; the 0.5% budget is ours (set to match the cost of protecting 32 attention heads; TaCQ uses a similar 0.5–0.8%). Sweeps show 0.001–0.01% does the real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417320"/>
            <a:ext cx="3703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OUR QUESTION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Prior papers (TaCQ, SpQR, Super Weights …) all report: “protecting important weights makes compressed models better” — implying it always helps, for every model.</a:t>
            </a:r>
          </a:p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We ask: WHEN does it actually help? Answer: only when compression causes a collapse — otherwise never.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HOW WE MEASURE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Georgia"/>
              </a:rPr>
              <a:t>Ability scores from 0 to 1, higher = better. Unless a number is explicitly labeled “math” (GSM8K), “knowledge quiz” (MMLU) or “perplexity”, </a:t>
            </a:r>
            <a:r>
              <a:rPr sz="1250" b="1" i="0">
                <a:solidFill>
                  <a:srgbClr val="0C2340"/>
                </a:solidFill>
                <a:latin typeface="Georgia"/>
              </a:rPr>
              <a:t>every number in this deck is the IFEval instruction-following score.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Compression Is Usually Mild — but Sometimes Catastrophic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4406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481328"/>
            <a:ext cx="2697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9B1B1B"/>
                </a:solidFill>
                <a:latin typeface="Georgia"/>
              </a:rPr>
              <a:t>Identical compression recipe. Four barely notice; two — Llama-8B and Qwen-14B — lose most of their ability.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Unpredictable: Qwen 7B fine, 14B collapses, 32B fine — same family, same training. (Every collapse re-run twice; it replicates.)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New 12-model census: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six more, mostly SMALL models (3–12B), form a middle tier (−0.15 to −0.25) — expected, since small models have less redundancy to absorb rounding noise. Still no third collapse: their failure looks nothing like the two collapses (see Finding 5).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(IFEval instruction-following score, 0–1)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All 12 Models: How Much Ability Is Lost at 3-bit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 — FULL CENSUS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7607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554480"/>
            <a:ext cx="23774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Bars = IFEval score LOST after 3-bit compression (taller = worse).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C2340"/>
                </a:solidFill>
                <a:latin typeface="Georgia"/>
              </a:rPr>
              <a:t>Three tiers: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mild (−0.06..−0.09), a middle tier of mostly small models (−0.15..−0.25), and two collapses (−0.41, −0.62).</a:t>
            </a:r>
          </a:p>
          <a:p>
            <a:pPr algn="l"/>
            <a:r>
              <a:rPr sz="1200" b="1" i="0">
                <a:solidFill>
                  <a:srgbClr val="AE9141"/>
                </a:solidFill>
                <a:latin typeface="Georgia"/>
              </a:rPr>
              <a:t>The middle tier is ordinary damage amplified by small size; the collapses are a different disease — proven two slides ahead.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Protecting 0.5% of Weights Repairs the Collapse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23560" y="155448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Keep the top-scoring ≤0.5% of weights exact — the model comes back (Qwen-14B: to 95% of its original score). Bars: IFEval score.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It has to be the right weights: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protecting the same number of random weights does almost nothing (0.18 / 0.48).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Same repair works on math: Qwen-14B goes 0.93 → 0.13 when compressed, back to 0.89 with protection.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It Must Be the RIGHT 0.5%: Every Alternative Fails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2 - CONTROLS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17320"/>
          <a:ext cx="6949440" cy="250545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566160"/>
                <a:gridCol w="1691640"/>
                <a:gridCol w="16916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What we protect (same size unless noted)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nothing (plain compression)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top-0.5% by the TaCQ importance score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random weights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0.181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0.480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the instruction-following attention heads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the 3–6 “super weights”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0.163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whole channels (hardware-friendly layout)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0.227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importance scored on generic web text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041648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Random weights, functional circuits, and super weights all fail — knowing what's “important” is not the same as knowing what to protect.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Georgia"/>
              </a:rPr>
              <a:t>Bonuses: scoring on generic web text works just as well (the critical set is task-independent); the channel layout works on Llama but not 14B (structure is model-specific).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Many Weights? ~0.001% — and Too Few Backfires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2 - BUDGET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39496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35040" y="1554480"/>
            <a:ext cx="27432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x-axis: how many weights we protect (log steps).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The jump happens at ~100k on Llama-8B and ~300k on Qwen-14B (≈0.001% of the model) — the needed set grows with model size.</a:t>
            </a:r>
          </a:p>
          <a:p>
            <a:pPr algn="l"/>
            <a:r>
              <a:rPr sz="1200" b="1" i="0">
                <a:solidFill>
                  <a:srgbClr val="9B1B1B"/>
                </a:solidFill>
                <a:latin typeface="Georgia"/>
              </a:rPr>
              <a:t>Warning: protecting too few HURTS — 14B at 100k scores 0.216, below the unprotected 0.412 (replicated on two seeds).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Other Half: No Collapse → Protection Is Useless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Finding 2 showed protection rescues collapsed models. Here is the SAME protection applied to four models/settings that did NOT collapse — IFEval score before → after adding protection: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+0.030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Qwen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0.672 → 0.702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8608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+0.033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Mistral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0.468 → 0.500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+0.027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3-bit, rotated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0.641 → 0.668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1423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+0.008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4-bit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0.745 → 0.753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657600"/>
            <a:ext cx="8321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All four gains are statistically zero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— compare the rescues in Finding 2: +0.49 and +0.37.</a:t>
            </a:r>
          </a:p>
          <a:p>
            <a:pPr algn="l"/>
            <a:r>
              <a:rPr sz="1350" b="1" i="0">
                <a:solidFill>
                  <a:srgbClr val="AE9141"/>
                </a:solidFill>
                <a:latin typeface="Georgia"/>
              </a:rPr>
              <a:t>So protection is an emergency repair, not a general upgrade: it only matters when there is a collapse to prevent.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Protection Helps Only in a Window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THE ANSWER TO “WHEN” — SAME MODEL, DIFFERENT 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Llama-8B  (uncompressed: 0.768)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691640"/>
          <a:ext cx="3977639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709160" y="137160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Qwen-7B  (uncompressed: 0.765)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709160" y="1691640"/>
          <a:ext cx="3977639" cy="2514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4315968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AE9141"/>
                </a:solidFill>
                <a:latin typeface="Georgia"/>
              </a:rPr>
              <a:t>The window: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too mild → nothing to fix (gains ≈0) · collapse → decisive (+0.49) · too extreme (2-bit) → beyond saving (even a 10× budget stays at 0.13).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Sure Are We? Every Claim Carries a Confidence Interval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RIGOR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For each comparison we resample the 541 test prompts 5,000 times. If the 95% interval crosses zero, the effect is indistinguishable from noise.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965960"/>
          <a:ext cx="7498080" cy="279806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108960"/>
                <a:gridCol w="1005840"/>
                <a:gridCol w="2011680"/>
                <a:gridCol w="13716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Comparison (protection − no protection)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95% interval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Verdict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@3-bit (collapse)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+0.493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[+0.455, +0.532]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 @3-bit (collapse)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+0.370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[+0.327, +0.412]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Qwen-14B: protection vs. rotation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+0.117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[+0.083, +0.152]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Qwen-3B @3-bit (middle tier)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+0.074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[+0.035, +0.111]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real, small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@3-bit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[−0.004, +0.064]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 @3-bit (mild)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[−0.000, +0.066]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Yi-9B @3-bit (middle tier)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[−0.013, +0.052]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@4-bit (mild)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+0.008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[−0.022, +0.038]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Qwen-7B: protect attention heads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+0.003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[−0.027, +0.032]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Culprit: the Compressor's Own Error Correction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Same Llama-8B model, compressed to 3 bits in three different ways — IFEval scores (“protection” = the same top-0.5% weight set as in Finding 2):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C2340"/>
                </a:solidFill>
                <a:latin typeface="Georgia"/>
              </a:rPr>
              <a:t>0.57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naive rounding (RTN)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no error correction → damaged, not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9B1B1B"/>
                </a:solidFill>
                <a:latin typeface="Georgia"/>
              </a:rPr>
              <a:t>0.15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error correction on → COLLAPSE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A833C"/>
                </a:solidFill>
                <a:latin typeface="Georgia"/>
              </a:rPr>
              <a:t>0.64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 + protection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correction told to skip those 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520440"/>
            <a:ext cx="8321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The “smart” correction is the problem: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when it touches ~100,000 hyper-sensitive weights (0.001% of the model — zeroing them at full precision also destroys the model), it spreads their error everywhere.</a:t>
            </a:r>
          </a:p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Proof: repairing those weights afterwards does NOT help (0.16) — the damage already lives in the rest of the network. Protection must happen during compression.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One Number Diagnoses the Disease: Does Error Correction Help or Hurt?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THE DIAGNOSTIC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63040"/>
          <a:ext cx="7863840" cy="21396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1371600"/>
                <a:gridCol w="1371600"/>
                <a:gridCol w="182880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 @ 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naive rounding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smart GPTQ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correction effect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protection 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+0.281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+0.074 (small)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+0.172  helps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+0.030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Yi-9B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0.320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+0.122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+0.020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+0.048  helps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+0.033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−0.415  HURTS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+0.493 (rescue)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−0.286  HURTS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+0.370 (rescue)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3977639"/>
            <a:ext cx="8321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The rule: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wherever the correction helps, protection buys ~nothing; wherever it hurts, protection rescues — and the rescue roughly equals the harm prevented (0.42→0.49, 0.29→0.37).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This one comparison (rounding vs. GPTQ) is the practical diagnostic for “when”.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Pinning Down the Mechanism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FOUR MORE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Fixing them afterwards fails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0.150 → 0.162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Restore the critical weights on the already-compressed model: no rescue. The damage was spread into the REST of the network during compression.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141732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They are critical even uncompressed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0.188 vs 0.776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Zero the ~100k critical weights in the ORIGINAL model: it dies (0.188). Zero the same number of random weights: harmless (0.776).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10896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Protecting too few backfires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0.216 &lt; 0.412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14B with only 100k protected scores BELOW unprotected — partial protection re-routes the correction badly (both seeds agree).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310896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It is not the correction order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still 0.156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Disabling GPTQ's processing-order trick (desc_act) does not prevent the collapse — the interaction itself is the cause.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Rotation Also Prevents Collapse — but Loses to Protection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VS. THE NEWEST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Rotation (QuaRot-style) is the newest anti-outlier technique: mathematically rotate the network before compressing, so extreme values spread out. The rotation itself is lossless — we verified (rotated, uncompressed Llama: 0.785 ≈ 0.768).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240280"/>
          <a:ext cx="5669280" cy="13167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11680"/>
                <a:gridCol w="18288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3-bit arm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plain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rotation + GPTQ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0.665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protection +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886200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On Llama the two fixes tie; on Qwen-14B protection wins by +0.117 (statistically solid).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So “just use rotation” is answered by our own data: rotation moves you out of the collapse zone, but targeted protection recovers more. (On mild models rotation changes nothing: Qwen-7B 0.672 → 0.688.)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Damage Can Be Invisible to Standard Checks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The compressed Qwen-14B gets stuck repeating itself. A real answer it gave to a grade-school math problem: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74519"/>
            <a:ext cx="4480560" cy="1737360"/>
          </a:xfrm>
          <a:prstGeom prst="rect">
            <a:avLst/>
          </a:prstGeom>
          <a:solidFill>
            <a:srgbClr val="EFE9D9"/>
          </a:solidFill>
        </p:spPr>
        <p:txBody>
          <a:bodyPr wrap="square" lIns="109728" rIns="109728" tIns="109728" bIns="109728">
            <a:spAutoFit/>
          </a:bodyPr>
          <a:lstStyle/>
          <a:p>
            <a:r>
              <a:rPr sz="1200" i="1">
                <a:solidFill>
                  <a:srgbClr val="9B1B1B"/>
                </a:solidFill>
                <a:latin typeface="Georgia"/>
              </a:rPr>
              <a:t>“… each pail contains 5 × 5 = 250 liters of water. Therefore, each pail contains 5 × 5 = 250 liters of water. Therefore, each pail contains 5 × 5 = 250 liters of water. Therefore, each pail 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703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69 out of every 100 answers end in a loop like this. The uncompressed model: fewer than 1 in 100.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4173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YET THE FIELD'S STANDARD CHECKS SAY “FINE”: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82880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perplexity, the default quality check (+35%, same as the harmless cases)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6974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the MMLU knowledge quiz (−6 points, same as the harmless cases)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36118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9B1B1B"/>
                </a:solidFill>
                <a:latin typeface="Georgia"/>
              </a:rPr>
              <a:t>0.93 → 0.13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actual math score — the collapse both checks failed to notice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Can You Tell in Advance Who Will Collapse? No.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The field's standard theory blames “outliers” — extreme values inside the model. We measured every proposed warning sign on the original (uncompressed) models: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965960"/>
          <a:ext cx="7680960" cy="20299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1920240"/>
                <a:gridCol w="1463040"/>
                <a:gridCol w="1920240"/>
                <a:gridCol w="10058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biggest activation spike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extreme channels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importance concentration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collapsed?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11,584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1.26%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324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1.50%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4.14%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10,880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0.78%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Qwen-32B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19,072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1,632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244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16052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The numbers interleave completely — the model with the most extreme values (Qwen-32B) is fine, the one with almost none (Llama-8B) collapses. Prediction is our stated open problem; detection (a 20-prompt generation test) is cheap.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Not Just Instructions: Math and Multi-Turn Chat Agree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MATH (GSM8K accuracy)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783080"/>
          <a:ext cx="4114800" cy="1207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914400"/>
                <a:gridCol w="914400"/>
                <a:gridCol w="9144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/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+ protection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0.616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0.926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0.129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0.894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0.901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0.778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0.839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29184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C2340"/>
                </a:solidFill>
                <a:latin typeface="Georgia"/>
              </a:rPr>
              <a:t>The same collapse and the same rescue — Qwen-14B comes back to 97% of its original math score.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41732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3-TURN CONVERSATIONS (Multi-IF)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892040" y="1783080"/>
          <a:ext cx="3886200" cy="1207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25880"/>
                <a:gridCol w="850392"/>
                <a:gridCol w="850392"/>
                <a:gridCol w="85953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1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2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3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0.722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0.559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0.409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compressed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0.086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 protection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0.592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0.372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0.215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892040" y="3291840"/>
            <a:ext cx="3886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C2340"/>
                </a:solidFill>
                <a:latin typeface="Georgia"/>
              </a:rPr>
              <a:t>In multi-turn chat, compression damage compounds with every turn (mild Qwen-7B: −0.09 at turn 1 grows to −0.15 by turn 3) — multi-turn use amplifies whatever quantization broke.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What This Paper Says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8321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0 · The WHEN rule.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Protection helps only inside a window — and the practical diagnostic is one comparison: if GPTQ's error correction is doing net harm (vs. naive rounding), protect; otherwise don't bother.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1 · Compression damage comes in two modes.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Usually mild; occasionally a collapse — and no statistic of the original model predicts which (we falsified every published candidate, on 6 models).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2 · Protection is a collapse-repair tool, not a general upgrade.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In a collapse it beats every alternative (including the newest rotation-based methods); otherwise it buys nothing.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3 · The cause is the compressor, not the low precision.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GPTQ's error correction × ~10⁵ hyper-sensitive weights. Naive rounding never collapses.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4 · Evaluation warning for the field.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A compressed model can pass perplexity + MMLU while losing 80% of its generative ability. Always test with generation.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Two Closest Papers — and Where This Goes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RELATED WORK &amp;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892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TaCQ (UNC Chapel Hill, 2025)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Invented the importance score we use, and showed protection improves compressed models. We answer the question they never asked: WHEN does it help (only in collapses) and WHY (the error-correction mechanism).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Super Weights (Mengxia Yu, ND + Apple, 2024)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Found that every LLM has 3–6 individual “super weights” — delete one and the model dies. We tested them: protecting ONLY those few does not prevent the collapse (0.16). The collapse involves a different, ~100,000-weight set. Complementary, not competing.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417320"/>
            <a:ext cx="30632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TARGET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ICLR 2027 — abstract Sept 18, paper Sept 25. Backup: ACL 2027 (Feb), reusing the ICLR reviews.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READINESS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Every claim has controls, replicates, and confidence intervals; backup experiments (70B model, another compressor) are staged for the rebuttal phase.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DISCUSSION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14400" y="1234440"/>
            <a:ext cx="7315200" cy="73152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What I'd Like Your Input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7315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Does the story read as one clean question with one clean answer?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Venue: OK to commit to ICLR (Sept 25) with ACL as the fallback?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How should we engage Mengxia's Super-Weights work — note or citation?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Anything worth adding while the cluster is still available?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otre Dame">
      <a:dk1>
        <a:srgbClr val="0C2340"/>
      </a:dk1>
      <a:lt1>
        <a:srgbClr val="FFFFFF"/>
      </a:lt1>
      <a:dk2>
        <a:srgbClr val="AE9141"/>
      </a:dk2>
      <a:lt2>
        <a:srgbClr val="EFE9D9"/>
      </a:lt2>
      <a:accent1>
        <a:srgbClr val="143865"/>
      </a:accent1>
      <a:accent2>
        <a:srgbClr val="AE9141"/>
      </a:accent2>
      <a:accent3>
        <a:srgbClr val="0A833C"/>
      </a:accent3>
      <a:accent4>
        <a:srgbClr val="1C4F8F"/>
      </a:accent4>
      <a:accent5>
        <a:srgbClr val="C1CDDD"/>
      </a:accent5>
      <a:accent6>
        <a:srgbClr val="B3DAC5"/>
      </a:accent6>
      <a:hlink>
        <a:srgbClr val="8C7534"/>
      </a:hlink>
      <a:folHlink>
        <a:srgbClr val="1C4F8F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0</Words>
  <Application>Microsoft Office PowerPoint</Application>
  <PresentationFormat>Custom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Becky Rogers</dc:creator>
  <cp:lastModifiedBy>Jiahao Zheng</cp:lastModifiedBy>
  <cp:revision>2</cp:revision>
  <dcterms:created xsi:type="dcterms:W3CDTF">2024-10-11T14:50:24Z</dcterms:created>
  <dcterms:modified xsi:type="dcterms:W3CDTF">2026-09-02T04:26:51Z</dcterms:modified>
</cp:coreProperties>
</file>