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82"/>
    <p:restoredTop sz="94699"/>
  </p:normalViewPr>
  <p:slideViewPr>
    <p:cSldViewPr snapToGrid="0">
      <p:cViewPr varScale="1">
        <p:scale>
          <a:sx n="92" d="100"/>
          <a:sy n="92" d="100"/>
        </p:scale>
        <p:origin x="10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compression</c:v>
                </c:pt>
              </c:strCache>
            </c:strRef>
          </c:tx>
          <c:spPr>
            <a:solidFill>
              <a:srgbClr val="0C2340"/>
            </a:solidFill>
          </c:spPr>
          <c:cat>
            <c:strRef>
              <c:f>Sheet1!$A$2:$A$7</c:f>
              <c:strCache>
                <c:ptCount val="6"/>
                <c:pt idx="0">
                  <c:v>Qwen 7B</c:v>
                </c:pt>
                <c:pt idx="1">
                  <c:v>Mistral 7B</c:v>
                </c:pt>
                <c:pt idx="2">
                  <c:v>Llama 8B</c:v>
                </c:pt>
                <c:pt idx="3">
                  <c:v>Qwen 14B</c:v>
                </c:pt>
                <c:pt idx="4">
                  <c:v>Mistral 24B</c:v>
                </c:pt>
                <c:pt idx="5">
                  <c:v>Qwen 32B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0.765</c:v>
                </c:pt>
                <c:pt idx="1">
                  <c:v>0.552</c:v>
                </c:pt>
                <c:pt idx="2">
                  <c:v>0.768</c:v>
                </c:pt>
                <c:pt idx="3">
                  <c:v>0.82</c:v>
                </c:pt>
                <c:pt idx="4">
                  <c:v>0.757</c:v>
                </c:pt>
                <c:pt idx="5">
                  <c:v>0.838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3-bit compression</c:v>
                </c:pt>
              </c:strCache>
            </c:strRef>
          </c:tx>
          <c:spPr>
            <a:solidFill>
              <a:srgbClr val="AE9141"/>
            </a:solidFill>
          </c:spPr>
          <c:cat>
            <c:strRef>
              <c:f>Sheet1!$A$2:$A$7</c:f>
              <c:strCache>
                <c:ptCount val="6"/>
                <c:pt idx="0">
                  <c:v>Qwen 7B</c:v>
                </c:pt>
                <c:pt idx="1">
                  <c:v>Mistral 7B</c:v>
                </c:pt>
                <c:pt idx="2">
                  <c:v>Llama 8B</c:v>
                </c:pt>
                <c:pt idx="3">
                  <c:v>Qwen 14B</c:v>
                </c:pt>
                <c:pt idx="4">
                  <c:v>Mistral 24B</c:v>
                </c:pt>
                <c:pt idx="5">
                  <c:v>Qwen 32B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0.672</c:v>
                </c:pt>
                <c:pt idx="1">
                  <c:v>0.468</c:v>
                </c:pt>
                <c:pt idx="2">
                  <c:v>0.15</c:v>
                </c:pt>
                <c:pt idx="3">
                  <c:v>0.412</c:v>
                </c:pt>
                <c:pt idx="4">
                  <c:v>0.698</c:v>
                </c:pt>
                <c:pt idx="5">
                  <c:v>0.762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Georgia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Georgia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(uncompressed)</c:v>
                </c:pt>
              </c:strCache>
            </c:strRef>
          </c:tx>
          <c:spPr>
            <a:solidFill>
              <a:srgbClr val="0C2340"/>
            </a:solidFill>
          </c:spPr>
          <c:cat>
            <c:strRef>
              <c:f>Sheet1!$A$2:$A$3</c:f>
              <c:strCache>
                <c:ptCount val="2"/>
                <c:pt idx="0">
                  <c:v>Llama 8B</c:v>
                </c:pt>
                <c:pt idx="1">
                  <c:v>Qwen 14B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0.768</c:v>
                </c:pt>
                <c:pt idx="1">
                  <c:v>0.82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compressed</c:v>
                </c:pt>
              </c:strCache>
            </c:strRef>
          </c:tx>
          <c:spPr>
            <a:solidFill>
              <a:srgbClr val="9B1B1B"/>
            </a:solidFill>
          </c:spPr>
          <c:cat>
            <c:strRef>
              <c:f>Sheet1!$A$2:$A$3</c:f>
              <c:strCache>
                <c:ptCount val="2"/>
                <c:pt idx="0">
                  <c:v>Llama 8B</c:v>
                </c:pt>
                <c:pt idx="1">
                  <c:v>Qwen 14B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</c:v>
                </c:pt>
                <c:pt idx="1">
                  <c:v>0.412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compressed + protection</c:v>
                </c:pt>
              </c:strCache>
            </c:strRef>
          </c:tx>
          <c:spPr>
            <a:solidFill>
              <a:srgbClr val="AE9141"/>
            </a:solidFill>
          </c:spPr>
          <c:cat>
            <c:strRef>
              <c:f>Sheet1!$A$2:$A$3</c:f>
              <c:strCache>
                <c:ptCount val="2"/>
                <c:pt idx="0">
                  <c:v>Llama 8B</c:v>
                </c:pt>
                <c:pt idx="1">
                  <c:v>Qwen 14B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0.643</c:v>
                </c:pt>
                <c:pt idx="1">
                  <c:v>0.782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5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Georgia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Georgia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compressed</c:v>
                </c:pt>
              </c:strCache>
            </c:strRef>
          </c:tx>
          <c:spPr>
            <a:solidFill>
              <a:srgbClr val="AE9141"/>
            </a:solidFill>
          </c:spPr>
          <c:cat>
            <c:strRef>
              <c:f>Sheet1!$A$2:$A$3</c:f>
              <c:strCache>
                <c:ptCount val="2"/>
                <c:pt idx="0">
                  <c:v>4-bit (mild)</c:v>
                </c:pt>
                <c:pt idx="1">
                  <c:v>3-bit (deep)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0.745</c:v>
                </c:pt>
                <c:pt idx="1">
                  <c:v>0.15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protection</c:v>
                </c:pt>
              </c:strCache>
            </c:strRef>
          </c:tx>
          <c:spPr>
            <a:solidFill>
              <a:srgbClr val="0A833C"/>
            </a:solidFill>
          </c:spPr>
          <c:cat>
            <c:strRef>
              <c:f>Sheet1!$A$2:$A$3</c:f>
              <c:strCache>
                <c:ptCount val="2"/>
                <c:pt idx="0">
                  <c:v>4-bit (mild)</c:v>
                </c:pt>
                <c:pt idx="1">
                  <c:v>3-bit (deep)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0.753</c:v>
                </c:pt>
                <c:pt idx="1">
                  <c:v>0.643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Georgia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Georgia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compressed</c:v>
                </c:pt>
              </c:strCache>
            </c:strRef>
          </c:tx>
          <c:spPr>
            <a:solidFill>
              <a:srgbClr val="AE9141"/>
            </a:solidFill>
          </c:spPr>
          <c:cat>
            <c:strRef>
              <c:f>Sheet1!$A$2:$A$5</c:f>
              <c:strCache>
                <c:ptCount val="4"/>
                <c:pt idx="0">
                  <c:v>8-bit</c:v>
                </c:pt>
                <c:pt idx="1">
                  <c:v>4-bit</c:v>
                </c:pt>
                <c:pt idx="2">
                  <c:v>3-bit</c:v>
                </c:pt>
                <c:pt idx="3">
                  <c:v>2-bit (extreme)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0.77</c:v>
                </c:pt>
                <c:pt idx="1">
                  <c:v>0.758</c:v>
                </c:pt>
                <c:pt idx="2">
                  <c:v>0.672</c:v>
                </c:pt>
                <c:pt idx="3">
                  <c:v>0.121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protection</c:v>
                </c:pt>
              </c:strCache>
            </c:strRef>
          </c:tx>
          <c:spPr>
            <a:solidFill>
              <a:srgbClr val="0A833C"/>
            </a:solidFill>
          </c:spPr>
          <c:cat>
            <c:strRef>
              <c:f>Sheet1!$A$2:$A$5</c:f>
              <c:strCache>
                <c:ptCount val="4"/>
                <c:pt idx="0">
                  <c:v>8-bit</c:v>
                </c:pt>
                <c:pt idx="1">
                  <c:v>4-bit</c:v>
                </c:pt>
                <c:pt idx="2">
                  <c:v>3-bit</c:v>
                </c:pt>
                <c:pt idx="3">
                  <c:v>2-bit (extreme)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2">
                  <c:v>0.702</c:v>
                </c:pt>
                <c:pt idx="3">
                  <c:v>0.133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Georgia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Georgia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开场：我们研究的是——把大模型压缩变小的时候，什么情况下能力会被悄悄毁掉、怎么防住。所有实验已完成并冻结（6个模型，约120组实验）。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立四个词：①量化=把每个权重从16位存成3位，模型小5倍、便宜5倍；②GPTQ=业界标准压缩算法，特点是“聪明”——每压一个权重就调整其他权重来抵消误差；③RTN=笨办法，直接四舍五入，不纠错；④保护=挑出最重要的0.5%权重不压缩，重要性用TaCQ这篇论文的公式打分：|权重值|×|梯度|×|压缩误差|，直觉是“作用大×模型敏感×压缩伤它重”三者相乘。我们的问题：以往论文都默认“保护重要权重总是有帮助”，没人问过什么时候真有帮助。我们的答案：只有压崩溃的时候有帮助，其他时候完全没用。两个备注：①0.5%这个预算是我们定的（为了和“保护32个注意力头”做同预算公平对照，算出来恰好约0.5%；TaCQ自己的配置也在0.5-0.8%一档；我们的扫描证明真正必需的只有0.001-0.01%）；②除标明“数学/知识题/困惑度”的地方外，全片所有数字都是IFEval指令遵循分（0-1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个主模型用完全相同的配方压到3位：四个只轻微掉分（掉0.06-0.09），两个崩溃——Llama-8B从0.77掉到0.15，Qwen-14B从0.82掉到0.41。关键是不可预测：同一家族的Qwen，7B没事、14B崩、32B又没事。每个崩溃都换随机种子重跑验证过，是稳定现象不是偶然。最新补充：又普查了6个模型（共12个）。新模型都落在中间档（掉0.15-0.25，多是3B小模型——小模型本来就压得更惨，这是已知规律），没有出现第三个崩溃。重点：两个崩溃严重偏离“越小越惨”的趋势线（Llama-3.2-3B才掉0.17，更大的Llama-3.1-8B却掉0.62），而且复读机率有断层（中间档最高22%，崩溃是55-92%）——所以崩溃是一种性质不同的故障，不是普通退化的加重版。如果被问“上一代Llama-3-8B呢”：它只掉0.15——同尺寸同家族，隔一代就翻转。最新补测（W16）把分型钉死了：对中间档两个代表做RTN对照，GPTQ的纠错在它们身上是帮忙的（Qwen-3B：RTN只有0.13、GPTQ有0.41，帮了28分；Yi-9B帮了12分），方向和两个崩溃完全相反（崩溃处纠错是害41.5/28.6分）。所以判定崩溃的本质标准是“纠错在帮忙还是在行凶”，掉分大小只是表象。同时保护在中间档只有+7.4（Qwen-3B）和+2.0（Yi-9B，不显著）——远小于崩溃处的+37/+49：保护的价值≈它拦下的纠错之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崩溃能修：压缩时保住TaCQ分数最高的0.5%权重（约几千万个），Llama从0.15回到0.64，Qwen-14B从0.41回到0.78（原始分的95%）。对照实验：保护同样数量的随机权重几乎没用（0.18/0.48）——必须是“对的”权重。数学能力同样被修复：14B的GSM8K从0.93崩到0.13，保护后回到0.89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另一半结论：四个没崩溃的场景，一模一样的保护只带来+0.008到+0.033，统计检验全部与零无差别（对比崩溃时的+0.49/+0.37）。所以保护是急救包，不是万金油——文献只展示了它“有用”的一面，没人报告过它大多数时候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直接回答“WHEN是什么意思”：同一个模型内部沿bit阶梯看。Llama-8B：4位时轻伤（保护+0.008，无用），3位时崩溃（保护+0.49，救命）。Qwen-7B：8位无损、4位近无损、3位轻伤（保护+0.03，无用）、2位彻底毁灭（0.12，保护无用——加到10倍预算2%也只有0.13，救不活）。所以“何时”的答案是一个窗口：压得不够深没病可治；压进崩溃区保护决定生死；压到2位病入膏肓。加上第3页的跨模型轴（12模型只有2个崩）和发现4的算法轴（GPTQ崩、RTN不崩、旋转不崩），三个轴合起来的统一判据就是：保护只在“纠错在净行凶”的组合里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崩：同一个Llama三种压法对比。笨办法RTN反而0.57（受伤但活着），聪明的GPTQ却0.15（崩了）——聪明反被聪明误。机制：GPTQ的纠错会把误差摊到其他权重上；模型里有约10万个超敏感权重（占0.001%，在原模型里把它们清零模型也会死），纠错一碰它们就把毒扩散到全网络。证据：事后把这10万个修回原值也救不活（0.16）——伤已经在网络其他地方了。所以保护必须在压缩过程中做，等于告诉纠错机制“这批别碰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吓人的发现：这么严重的损坏，业界两个默认质检居然都看不出来。压缩后的14B有69%的回答变成复读机（画面上是真实输出），原版不到1%。但困惑度只涨35%（和无害情况一样）、MMLU选择题只掉6分（也和无害情况一样）。原因：这两个指标只测“逐词预测”，复读机只在模型连续自由生成时才发作。警示：压缩后必须用生成式任务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四句话：①压缩损伤分两种模式，轻微或崩溃，且无法从原模型预测（六个模型上证伪了所有已发表的预测指标）；②保护是崩溃修复工具而非通用增益，崩溃时它胜过包括最新旋转方法在内的所有替代方案；③元凶是压缩算法的纠错机制而非低精度本身；④评测警告：模型可能通过困惑度和MMLU检查但已丧失80%生成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两篇最近的论文：TaCQ发明了我们用的重要性分数并展示保护有效——我们回答它没问的“何时、为何”；Super Weights是Mengxia学长的工作，发现每个模型有3-6个“超级权重”删一个就死——我们验证了只保护它们救不了GPTQ崩溃，崩溃涉及的是另外约10万个权重，两个工作互补不冲突。投稿：ICLR 2027（摘要9/18、全文9/25），被拒则带着审稿意见转投ACL 2027。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征求意见：①故事是否已经是一个干净的问题+干净的答案；②确认ICLR→ACL路线；③如何对接Mengxia的工作（打招呼还是引用即可）；④集群还可用，要不要补实验。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;p2">
            <a:extLst>
              <a:ext uri="{FF2B5EF4-FFF2-40B4-BE49-F238E27FC236}">
                <a16:creationId xmlns:a16="http://schemas.microsoft.com/office/drawing/2014/main" id="{53F233AC-0510-266D-FCFF-ED178091AC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19750" y="1542900"/>
            <a:ext cx="6904500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Georgia"/>
              <a:buNone/>
              <a:defRPr sz="6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 dirty="0"/>
          </a:p>
        </p:txBody>
      </p:sp>
      <p:sp>
        <p:nvSpPr>
          <p:cNvPr id="8" name="Google Shape;11;p2">
            <a:extLst>
              <a:ext uri="{FF2B5EF4-FFF2-40B4-BE49-F238E27FC236}">
                <a16:creationId xmlns:a16="http://schemas.microsoft.com/office/drawing/2014/main" id="{EBA9A701-A8A7-7A94-C42F-AFF86B24D4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12;p2">
            <a:extLst>
              <a:ext uri="{FF2B5EF4-FFF2-40B4-BE49-F238E27FC236}">
                <a16:creationId xmlns:a16="http://schemas.microsoft.com/office/drawing/2014/main" id="{406771D0-11A3-EF17-C573-EE63C1744858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9975" y="3517275"/>
            <a:ext cx="2064040" cy="84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032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6;p3">
            <a:extLst>
              <a:ext uri="{FF2B5EF4-FFF2-40B4-BE49-F238E27FC236}">
                <a16:creationId xmlns:a16="http://schemas.microsoft.com/office/drawing/2014/main" id="{D873DB60-2845-4283-B9B0-33688CF767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38100" y="900650"/>
            <a:ext cx="4730183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Georgia"/>
              <a:buNone/>
              <a:defRPr sz="6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Font typeface="Georgia"/>
              <a:buNone/>
              <a:defRPr sz="62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 dirty="0"/>
          </a:p>
        </p:txBody>
      </p:sp>
      <p:sp>
        <p:nvSpPr>
          <p:cNvPr id="8" name="Google Shape;17;p3">
            <a:extLst>
              <a:ext uri="{FF2B5EF4-FFF2-40B4-BE49-F238E27FC236}">
                <a16:creationId xmlns:a16="http://schemas.microsoft.com/office/drawing/2014/main" id="{74931D05-9E21-F408-1459-67459AEB3BF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08450" y="3444184"/>
            <a:ext cx="3910800" cy="11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743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0;p4">
            <a:extLst>
              <a:ext uri="{FF2B5EF4-FFF2-40B4-BE49-F238E27FC236}">
                <a16:creationId xmlns:a16="http://schemas.microsoft.com/office/drawing/2014/main" id="{7B8921AA-03BC-05A8-8CE2-0FCF8183B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45850" y="2345700"/>
            <a:ext cx="16719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21;p4">
            <a:extLst>
              <a:ext uri="{FF2B5EF4-FFF2-40B4-BE49-F238E27FC236}">
                <a16:creationId xmlns:a16="http://schemas.microsoft.com/office/drawing/2014/main" id="{27E39A30-1A52-CABC-F51D-19833C97CC0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17750" y="2345700"/>
            <a:ext cx="16719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22;p4">
            <a:extLst>
              <a:ext uri="{FF2B5EF4-FFF2-40B4-BE49-F238E27FC236}">
                <a16:creationId xmlns:a16="http://schemas.microsoft.com/office/drawing/2014/main" id="{CFC7DBD6-46F0-3242-09EE-0A1B092852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550" y="1174125"/>
            <a:ext cx="3768300" cy="23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077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Google Shape;27;p5">
            <a:extLst>
              <a:ext uri="{FF2B5EF4-FFF2-40B4-BE49-F238E27FC236}">
                <a16:creationId xmlns:a16="http://schemas.microsoft.com/office/drawing/2014/main" id="{4092F99A-727D-0C7F-193F-34116CE16B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550" y="1081900"/>
            <a:ext cx="6306600" cy="15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3" name="Google Shape;28;p5">
            <a:extLst>
              <a:ext uri="{FF2B5EF4-FFF2-40B4-BE49-F238E27FC236}">
                <a16:creationId xmlns:a16="http://schemas.microsoft.com/office/drawing/2014/main" id="{2F9AE3FA-8A49-71C7-6EDC-1AAC78FA1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01850" y="2770900"/>
            <a:ext cx="25983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4" name="Google Shape;29;p5">
            <a:extLst>
              <a:ext uri="{FF2B5EF4-FFF2-40B4-BE49-F238E27FC236}">
                <a16:creationId xmlns:a16="http://schemas.microsoft.com/office/drawing/2014/main" id="{80A249F5-85E5-82EA-5EE3-723221E6350F}"/>
              </a:ext>
            </a:extLst>
          </p:cNvPr>
          <p:cNvCxnSpPr/>
          <p:nvPr userDrawn="1"/>
        </p:nvCxnSpPr>
        <p:spPr>
          <a:xfrm>
            <a:off x="4572000" y="2734725"/>
            <a:ext cx="0" cy="185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30;p5">
            <a:extLst>
              <a:ext uri="{FF2B5EF4-FFF2-40B4-BE49-F238E27FC236}">
                <a16:creationId xmlns:a16="http://schemas.microsoft.com/office/drawing/2014/main" id="{0B1D5D14-474F-A0D0-5057-FAE028584EF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54675" y="2770900"/>
            <a:ext cx="25983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8309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" name="Google Shape;34;p6">
            <a:extLst>
              <a:ext uri="{FF2B5EF4-FFF2-40B4-BE49-F238E27FC236}">
                <a16:creationId xmlns:a16="http://schemas.microsoft.com/office/drawing/2014/main" id="{5FC66DFF-8561-60DB-A937-68A4ABF49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80000" y="24838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35;p6">
            <a:extLst>
              <a:ext uri="{FF2B5EF4-FFF2-40B4-BE49-F238E27FC236}">
                <a16:creationId xmlns:a16="http://schemas.microsoft.com/office/drawing/2014/main" id="{EFF21C56-7AF9-66E6-BCA4-D7F0B9C4E51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38850" y="24838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36;p6">
            <a:extLst>
              <a:ext uri="{FF2B5EF4-FFF2-40B4-BE49-F238E27FC236}">
                <a16:creationId xmlns:a16="http://schemas.microsoft.com/office/drawing/2014/main" id="{94C6C7E4-002D-CC99-987D-28B937BED4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6950" y="1081900"/>
            <a:ext cx="2562600" cy="3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" name="Google Shape;37;p6">
            <a:extLst>
              <a:ext uri="{FF2B5EF4-FFF2-40B4-BE49-F238E27FC236}">
                <a16:creationId xmlns:a16="http://schemas.microsoft.com/office/drawing/2014/main" id="{AC5C48E9-8BD4-498A-FFD8-418F505EC66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284525" y="1103600"/>
            <a:ext cx="1107000" cy="1107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" name="Google Shape;38;p6">
            <a:extLst>
              <a:ext uri="{FF2B5EF4-FFF2-40B4-BE49-F238E27FC236}">
                <a16:creationId xmlns:a16="http://schemas.microsoft.com/office/drawing/2014/main" id="{117E4942-88B2-F745-6083-7C627D6325B6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543375" y="1103600"/>
            <a:ext cx="1107000" cy="1107000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8308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Google Shape;42;p7">
            <a:extLst>
              <a:ext uri="{FF2B5EF4-FFF2-40B4-BE49-F238E27FC236}">
                <a16:creationId xmlns:a16="http://schemas.microsoft.com/office/drawing/2014/main" id="{BD6370DA-F18F-B9CF-6F9E-D2D405AC0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80000" y="25600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43;p7">
            <a:extLst>
              <a:ext uri="{FF2B5EF4-FFF2-40B4-BE49-F238E27FC236}">
                <a16:creationId xmlns:a16="http://schemas.microsoft.com/office/drawing/2014/main" id="{3DAFA47F-8E25-D3EA-5FAC-4C45713CCB5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38850" y="2560000"/>
            <a:ext cx="18288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" name="Google Shape;44;p7">
            <a:extLst>
              <a:ext uri="{FF2B5EF4-FFF2-40B4-BE49-F238E27FC236}">
                <a16:creationId xmlns:a16="http://schemas.microsoft.com/office/drawing/2014/main" id="{83A41736-C4EC-2907-33B2-A8ECE7401E9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049850" y="1080100"/>
            <a:ext cx="1889100" cy="12513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239232F9-A89D-ACB2-8A6C-241019DDE049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308700" y="1080100"/>
            <a:ext cx="1889100" cy="125130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48;p7">
            <a:extLst>
              <a:ext uri="{FF2B5EF4-FFF2-40B4-BE49-F238E27FC236}">
                <a16:creationId xmlns:a16="http://schemas.microsoft.com/office/drawing/2014/main" id="{5DFF0D8A-48DF-28FF-EBA3-5D8D0870DB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6950" y="1081900"/>
            <a:ext cx="2562600" cy="37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485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" name="Google Shape;50;p8">
            <a:extLst>
              <a:ext uri="{FF2B5EF4-FFF2-40B4-BE49-F238E27FC236}">
                <a16:creationId xmlns:a16="http://schemas.microsoft.com/office/drawing/2014/main" id="{4185BD83-7301-7FFC-E73C-F7FEFCF7CD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550" y="1174125"/>
            <a:ext cx="3768300" cy="23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Font typeface="Georgia"/>
              <a:buNone/>
              <a:defRPr sz="4600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51;p8">
            <a:extLst>
              <a:ext uri="{FF2B5EF4-FFF2-40B4-BE49-F238E27FC236}">
                <a16:creationId xmlns:a16="http://schemas.microsoft.com/office/drawing/2014/main" id="{9B77F4B2-CBBE-CE5B-9A8D-A9EB7403A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94350" y="3504825"/>
            <a:ext cx="2285700" cy="17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52;p8">
            <a:extLst>
              <a:ext uri="{FF2B5EF4-FFF2-40B4-BE49-F238E27FC236}">
                <a16:creationId xmlns:a16="http://schemas.microsoft.com/office/drawing/2014/main" id="{9254004C-2368-C3C8-DFF7-38F96A4C70DB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657375" y="1435325"/>
            <a:ext cx="4486500" cy="28755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0422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Google Shape;53;p8">
            <a:extLst>
              <a:ext uri="{FF2B5EF4-FFF2-40B4-BE49-F238E27FC236}">
                <a16:creationId xmlns:a16="http://schemas.microsoft.com/office/drawing/2014/main" id="{7AAB6B8E-1814-24D5-F727-C528E7D90C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964175" y="2325650"/>
            <a:ext cx="1936500" cy="20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54;p8">
            <a:extLst>
              <a:ext uri="{FF2B5EF4-FFF2-40B4-BE49-F238E27FC236}">
                <a16:creationId xmlns:a16="http://schemas.microsoft.com/office/drawing/2014/main" id="{5006C48F-0795-9DCF-9885-5A7CCA2A2D76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3328700" y="2325650"/>
            <a:ext cx="1936500" cy="20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" name="Google Shape;55;p8">
            <a:extLst>
              <a:ext uri="{FF2B5EF4-FFF2-40B4-BE49-F238E27FC236}">
                <a16:creationId xmlns:a16="http://schemas.microsoft.com/office/drawing/2014/main" id="{06D408E1-D8EC-F8EE-8FBD-D508720805F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5693225" y="2325650"/>
            <a:ext cx="1936500" cy="20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" name="Google Shape;58;p8">
            <a:extLst>
              <a:ext uri="{FF2B5EF4-FFF2-40B4-BE49-F238E27FC236}">
                <a16:creationId xmlns:a16="http://schemas.microsoft.com/office/drawing/2014/main" id="{EA36A0E3-007D-E420-AA92-D94611843340}"/>
              </a:ext>
            </a:extLst>
          </p:cNvPr>
          <p:cNvSpPr txBox="1"/>
          <p:nvPr userDrawn="1"/>
        </p:nvSpPr>
        <p:spPr>
          <a:xfrm>
            <a:off x="1562578" y="915325"/>
            <a:ext cx="469593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1</a:t>
            </a:r>
            <a:endParaRPr sz="7200" dirty="0">
              <a:solidFill>
                <a:schemeClr val="accent2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7F64-E26E-961A-4C60-2161B925AC42}"/>
              </a:ext>
            </a:extLst>
          </p:cNvPr>
          <p:cNvSpPr/>
          <p:nvPr userDrawn="1"/>
        </p:nvSpPr>
        <p:spPr>
          <a:xfrm>
            <a:off x="1252769" y="1009969"/>
            <a:ext cx="1089212" cy="108921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58;p8">
            <a:extLst>
              <a:ext uri="{FF2B5EF4-FFF2-40B4-BE49-F238E27FC236}">
                <a16:creationId xmlns:a16="http://schemas.microsoft.com/office/drawing/2014/main" id="{ED7DFD84-16EE-897A-F788-87370B160857}"/>
              </a:ext>
            </a:extLst>
          </p:cNvPr>
          <p:cNvSpPr txBox="1"/>
          <p:nvPr userDrawn="1"/>
        </p:nvSpPr>
        <p:spPr>
          <a:xfrm>
            <a:off x="3913329" y="915325"/>
            <a:ext cx="469593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2</a:t>
            </a:r>
            <a:endParaRPr sz="7200" dirty="0">
              <a:solidFill>
                <a:schemeClr val="accent2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B1DE8F7-EFD7-20C5-C9C3-9769E90E9BBB}"/>
              </a:ext>
            </a:extLst>
          </p:cNvPr>
          <p:cNvSpPr/>
          <p:nvPr userDrawn="1"/>
        </p:nvSpPr>
        <p:spPr>
          <a:xfrm>
            <a:off x="3603520" y="1009969"/>
            <a:ext cx="1089212" cy="108921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Google Shape;58;p8">
            <a:extLst>
              <a:ext uri="{FF2B5EF4-FFF2-40B4-BE49-F238E27FC236}">
                <a16:creationId xmlns:a16="http://schemas.microsoft.com/office/drawing/2014/main" id="{12CD22A9-C77F-0E37-F41A-FD3B0AC1D37A}"/>
              </a:ext>
            </a:extLst>
          </p:cNvPr>
          <p:cNvSpPr txBox="1"/>
          <p:nvPr userDrawn="1"/>
        </p:nvSpPr>
        <p:spPr>
          <a:xfrm>
            <a:off x="6264081" y="915325"/>
            <a:ext cx="469593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accent2"/>
                </a:solidFill>
              </a:rPr>
              <a:t>3</a:t>
            </a:r>
            <a:endParaRPr sz="7200" dirty="0">
              <a:solidFill>
                <a:schemeClr val="accent2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A5766C-C98A-4511-B9BB-B7A84A8C4F78}"/>
              </a:ext>
            </a:extLst>
          </p:cNvPr>
          <p:cNvSpPr/>
          <p:nvPr userDrawn="1"/>
        </p:nvSpPr>
        <p:spPr>
          <a:xfrm>
            <a:off x="5954272" y="1009969"/>
            <a:ext cx="1089212" cy="1089212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84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3;p4">
            <a:extLst>
              <a:ext uri="{FF2B5EF4-FFF2-40B4-BE49-F238E27FC236}">
                <a16:creationId xmlns:a16="http://schemas.microsoft.com/office/drawing/2014/main" id="{7BCEE1F1-BB5E-9A39-3B30-44642D273A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87900" y="141075"/>
            <a:ext cx="3768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 dirty="0"/>
          </a:p>
        </p:txBody>
      </p:sp>
      <p:sp>
        <p:nvSpPr>
          <p:cNvPr id="12" name="Google Shape;25;p4">
            <a:extLst>
              <a:ext uri="{FF2B5EF4-FFF2-40B4-BE49-F238E27FC236}">
                <a16:creationId xmlns:a16="http://schemas.microsoft.com/office/drawing/2014/main" id="{CBD50D83-3B66-E823-1283-5D2C6AF07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43858" y="1066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" name="Google Shape;68;p10">
            <a:extLst>
              <a:ext uri="{FF2B5EF4-FFF2-40B4-BE49-F238E27FC236}">
                <a16:creationId xmlns:a16="http://schemas.microsoft.com/office/drawing/2014/main" id="{F1FE515D-79AE-554B-0E88-BC6BEE9DF6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5725" y="1626263"/>
            <a:ext cx="4610100" cy="23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00"/>
              <a:buNone/>
              <a:defRPr sz="4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872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9388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D83E5-B358-A14A-9A6E-D4F1762030E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D784F-FBAE-2742-9AFF-34F1F0A48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4467-F371-22FD-260C-C7F2D5D497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6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94A301-BBE4-E4DB-2BE7-C6A4CBDA2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2990A-D3C0-6BE9-6E16-7C764019417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19F991-5A0E-1D42-8065-353B3DBFD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6153E17-DB3E-2A7F-61A6-77433668D2E0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6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363B5B7-55DD-0AEE-B121-854B26D47C86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123C50-CCC4-D83D-ADBA-4EE55970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FE3A2F-38D6-5025-5AAB-70273194E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669B0-CFE6-842D-7098-589B1256C69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7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93B9FB4-2886-43AB-74EE-C1DCC930A08A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0DBA2-31B8-9D5A-ABE3-995F16E06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A5660-0ADE-5C05-DE34-EBAC4314C8D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B63FE6-1647-0E37-91BA-2BDB140D0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406DC4A-0540-4FFA-1562-DB8BE8D3C46C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CC9FEB-ED44-B34C-7B34-D17D0C74BA9E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0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E9A2B64-B297-0D22-9008-48BB6FEC24AE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6E316-19C6-D52E-8FAD-052B7F066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EC3F8-5E83-338E-DBDC-7B86A563DE5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3B7C07-21DC-4837-032B-4F2578C552C9}"/>
              </a:ext>
            </a:extLst>
          </p:cNvPr>
          <p:cNvSpPr>
            <a:spLocks noGrp="1"/>
          </p:cNvSpPr>
          <p:nvPr>
            <p:ph type="pic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2D7457-89EE-2E5C-3C07-ECE167F4DB14}"/>
              </a:ext>
            </a:extLst>
          </p:cNvPr>
          <p:cNvSpPr>
            <a:spLocks noGrp="1"/>
          </p:cNvSpPr>
          <p:nvPr>
            <p:ph type="pic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A7B9D38-AF61-C925-F507-239C7B41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00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9664AAA-67CC-9215-026A-C4200712FDAE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EFC985-D1B8-011E-8809-5930032E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2C270-D184-3373-A6DF-BCE34F25E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648935E-AE12-A4E7-10A2-5ED2D4209C79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53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441CE8E-3EAE-79B2-05B8-E6EBED612BD7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5F930-EFE4-C5D1-359C-F20D57FAA6B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16990-8F49-F990-AAAB-D626CCA65B3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D0F69-578B-EF1D-323E-B84FB2A982E4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9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CDF9FCC-AFE0-9A6A-31E6-79C554EFCBBB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BE9C57-B5C3-A553-1066-2819E770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14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281880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When Does Protecting Weights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Georgia"/>
              </a:rPr>
              <a:t>Protect Capabilities?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99232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AE9141"/>
                </a:solidFill>
                <a:latin typeface="Georgia"/>
              </a:rPr>
              <a:t>What we found when 3-bit compression quietly breaks an LLM — and what fixes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33087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Georgia"/>
              </a:rPr>
              <a:t>Jiahao Zheng  ·  Advisor Update  ·  September 3, 2026</a:t>
            </a:r>
          </a:p>
          <a:p>
            <a:pPr algn="ctr">
              <a:spcBef>
                <a:spcPts val="400"/>
              </a:spcBef>
            </a:pPr>
            <a:r>
              <a:rPr sz="1100" b="0" i="0">
                <a:solidFill>
                  <a:srgbClr val="C9D3E0"/>
                </a:solidFill>
                <a:latin typeface="Georgia"/>
              </a:rPr>
              <a:t>All experiments finished &amp; frozen 09/02  ·  6 models  ·  ~120 runs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 wrap="square"/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The Question — and the Only 4 Terms You Need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sz="1100" b="1">
                <a:solidFill>
                  <a:srgbClr val="FFFFFF"/>
                </a:solidFill>
                <a:latin typeface="Georgia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429768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E9141"/>
                </a:solidFill>
                <a:latin typeface="Georgia"/>
              </a:rPr>
              <a:t>Quantization </a:t>
            </a:r>
            <a:r>
              <a:rPr sz="1200" b="0" i="0">
                <a:solidFill>
                  <a:srgbClr val="0C2340"/>
                </a:solidFill>
                <a:latin typeface="Georgia"/>
              </a:rPr>
              <a:t>= storing each weight in 3 bits instead of 16 → ~5× smaller and cheaper to run.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E9141"/>
                </a:solidFill>
                <a:latin typeface="Georgia"/>
              </a:rPr>
              <a:t>GPTQ </a:t>
            </a:r>
            <a:r>
              <a:rPr sz="1200" b="0" i="0">
                <a:solidFill>
                  <a:srgbClr val="0C2340"/>
                </a:solidFill>
                <a:latin typeface="Georgia"/>
              </a:rPr>
              <a:t>= the standard compression algorithm. “Smart”: after rounding each weight it adjusts the remaining ones to cancel the error.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E9141"/>
                </a:solidFill>
                <a:latin typeface="Georgia"/>
              </a:rPr>
              <a:t>RTN </a:t>
            </a:r>
            <a:r>
              <a:rPr sz="1200" b="0" i="0">
                <a:solidFill>
                  <a:srgbClr val="0C2340"/>
                </a:solidFill>
                <a:latin typeface="Georgia"/>
              </a:rPr>
              <a:t>= the naive alternative: just round every weight. No error correction.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AE9141"/>
                </a:solidFill>
                <a:latin typeface="Georgia"/>
              </a:rPr>
              <a:t>Protection </a:t>
            </a:r>
            <a:r>
              <a:rPr sz="1200" b="0" i="0">
                <a:solidFill>
                  <a:srgbClr val="0C2340"/>
                </a:solidFill>
                <a:latin typeface="Georgia"/>
              </a:rPr>
              <a:t>= keep a tiny fraction of weights (≤0.5%) uncompressed, chosen by an importance score from the TaCQ paper (UNC, 2025):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0C2340"/>
                </a:solidFill>
                <a:latin typeface="Georgia"/>
              </a:rPr>
              <a:t>importance = |weight| × |gradient| × |compression error|</a:t>
            </a:r>
          </a:p>
          <a:p>
            <a:pPr algn="ctr">
              <a:spcAft>
                <a:spcPts val="500"/>
              </a:spcAft>
            </a:pPr>
            <a:r>
              <a:rPr sz="1000" b="0" i="1">
                <a:solidFill>
                  <a:srgbClr val="5A5A5A"/>
                </a:solidFill>
                <a:latin typeface="Georgia"/>
              </a:rPr>
              <a:t>(“does a lot × model is sensitive × compression hits it hard”)</a:t>
            </a:r>
          </a:p>
          <a:p>
            <a:pPr algn="l"/>
            <a:r>
              <a:rPr sz="1000" b="0" i="0">
                <a:solidFill>
                  <a:srgbClr val="5A5A5A"/>
                </a:solidFill>
                <a:latin typeface="Georgia"/>
              </a:rPr>
              <a:t>The score is TaCQ's; the 0.5% budget is ours (set to match the cost of protecting 32 attention heads; TaCQ uses a similar 0.5–0.8%). Sweeps show 0.001–0.01% does the real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417320"/>
            <a:ext cx="3703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AE9141"/>
                </a:solidFill>
                <a:latin typeface="Georgia"/>
              </a:rPr>
              <a:t>OUR QUESTION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0C2340"/>
                </a:solidFill>
                <a:latin typeface="Georgia"/>
              </a:rPr>
              <a:t>Prior papers (TaCQ, SpQR, Super Weights …) all report: “protecting important weights makes compressed models better” — implying it always helps, for every model.</a:t>
            </a:r>
          </a:p>
          <a:p>
            <a:pPr algn="l">
              <a:spcAft>
                <a:spcPts val="1200"/>
              </a:spcAft>
            </a:pPr>
            <a:r>
              <a:rPr sz="1300" b="1" i="0">
                <a:solidFill>
                  <a:srgbClr val="0C2340"/>
                </a:solidFill>
                <a:latin typeface="Georgia"/>
              </a:rPr>
              <a:t>We ask: WHEN does it actually help? Answer: only when compression causes a collapse — otherwise never.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E9141"/>
                </a:solidFill>
                <a:latin typeface="Georgia"/>
              </a:rPr>
              <a:t>HOW WE MEASURE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Georgia"/>
              </a:rPr>
              <a:t>Ability scores from 0 to 1, higher = better. Unless a number is explicitly labeled “math” (GSM8K), “knowledge quiz” (MMLU) or “perplexity”, </a:t>
            </a:r>
            <a:r>
              <a:rPr sz="1250" b="1" i="0">
                <a:solidFill>
                  <a:srgbClr val="0C2340"/>
                </a:solidFill>
                <a:latin typeface="Georgia"/>
              </a:rPr>
              <a:t>every number in this deck is the IFEval instruction-following score.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 wrap="square"/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Compression Is Usually Mild — but Sometimes Catastrophic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sz="1100" b="1">
                <a:solidFill>
                  <a:srgbClr val="FFFFFF"/>
                </a:solidFill>
                <a:latin typeface="Georgia"/>
              </a:rPr>
              <a:t>FINDING 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463040"/>
          <a:ext cx="54406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80760" y="1481328"/>
            <a:ext cx="2697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9B1B1B"/>
                </a:solidFill>
                <a:latin typeface="Georgia"/>
              </a:rPr>
              <a:t>Identical compression recipe. Four barely notice; two — Llama-8B and Qwen-14B — lose most of their ability.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0C2340"/>
                </a:solidFill>
                <a:latin typeface="Georgia"/>
              </a:rPr>
              <a:t>Unpredictable: Qwen 7B fine, 14B collapses, 32B fine — same family, same training. (Every collapse re-run twice; it replicates.)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0C2340"/>
                </a:solidFill>
                <a:latin typeface="Georgia"/>
              </a:rPr>
              <a:t>New 12-model census: </a:t>
            </a:r>
            <a:r>
              <a:rPr sz="1250" b="0" i="0">
                <a:solidFill>
                  <a:srgbClr val="0C2340"/>
                </a:solidFill>
                <a:latin typeface="Georgia"/>
              </a:rPr>
              <a:t>six more, mostly SMALL models (3–12B), form a middle tier (−0.15 to −0.25) — expected, since small models have less redundancy to absorb rounding noise. Still no third collapse: their failure looks nothing like the two collapses (see Finding 5).</a:t>
            </a:r>
          </a:p>
          <a:p>
            <a:pPr algn="l"/>
            <a:r>
              <a:rPr sz="1050" b="0" i="1">
                <a:solidFill>
                  <a:srgbClr val="5A5A5A"/>
                </a:solidFill>
                <a:latin typeface="Georgia"/>
              </a:rPr>
              <a:t>(IFEval instruction-following score, 0–1)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 wrap="square"/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Protecting 0.5% of Weights Repairs the Collapse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sz="1100" b="1">
                <a:solidFill>
                  <a:srgbClr val="FFFFFF"/>
                </a:solidFill>
                <a:latin typeface="Georgia"/>
              </a:rPr>
              <a:t>FINDING 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463040"/>
          <a:ext cx="493776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23560" y="1554480"/>
            <a:ext cx="31546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0C2340"/>
                </a:solidFill>
                <a:latin typeface="Georgia"/>
              </a:rPr>
              <a:t>Keep the top-scoring ≤0.5% of weights exact — the model comes back (Qwen-14B: to 95% of its original score). Bars: IFEval score.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C2340"/>
                </a:solidFill>
                <a:latin typeface="Georgia"/>
              </a:rPr>
              <a:t>It has to be the right weights: </a:t>
            </a:r>
            <a:r>
              <a:rPr sz="1300" b="0" i="0">
                <a:solidFill>
                  <a:srgbClr val="0C2340"/>
                </a:solidFill>
                <a:latin typeface="Georgia"/>
              </a:rPr>
              <a:t>protecting the same number of random weights does almost nothing (0.18 / 0.48).</a:t>
            </a:r>
          </a:p>
          <a:p>
            <a:pPr algn="l"/>
            <a:r>
              <a:rPr sz="1200" b="0" i="0">
                <a:solidFill>
                  <a:srgbClr val="5A5A5A"/>
                </a:solidFill>
                <a:latin typeface="Georgia"/>
              </a:rPr>
              <a:t>Same repair works on math: Qwen-14B goes 0.93 → 0.13 when compressed, back to 0.89 with protection.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 wrap="square"/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The Other Half: No Collapse → Protection Is Useless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sz="1100" b="1">
                <a:solidFill>
                  <a:srgbClr val="FFFFFF"/>
                </a:solidFill>
                <a:latin typeface="Georgia"/>
              </a:rPr>
              <a:t>FINDING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8321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0C2340"/>
                </a:solidFill>
                <a:latin typeface="Georgia"/>
              </a:rPr>
              <a:t>Finding 2 showed protection rescues collapsed models. Here is the SAME protection applied to four models/settings that did NOT collapse — IFEval score before → after adding protection: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5A5A5A"/>
                </a:solidFill>
                <a:latin typeface="Georgia"/>
              </a:rPr>
              <a:t>+0.030</a:t>
            </a:r>
          </a:p>
          <a:p>
            <a:pPr algn="ctr">
              <a:spcBef>
                <a:spcPts val="300"/>
              </a:spcBef>
            </a:pPr>
            <a:r>
              <a:rPr sz="1150" b="1" i="0">
                <a:solidFill>
                  <a:srgbClr val="0C2340"/>
                </a:solidFill>
                <a:latin typeface="Georgia"/>
              </a:rPr>
              <a:t>Qwen 7B @ 3-bit</a:t>
            </a:r>
          </a:p>
          <a:p>
            <a:pPr algn="ctr"/>
            <a:r>
              <a:rPr sz="1100" b="0" i="0">
                <a:solidFill>
                  <a:srgbClr val="5A5A5A"/>
                </a:solidFill>
                <a:latin typeface="Georgia"/>
              </a:rPr>
              <a:t>0.672 → 0.702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8608" y="219456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5A5A5A"/>
                </a:solidFill>
                <a:latin typeface="Georgia"/>
              </a:rPr>
              <a:t>+0.033</a:t>
            </a:r>
          </a:p>
          <a:p>
            <a:pPr algn="ctr">
              <a:spcBef>
                <a:spcPts val="300"/>
              </a:spcBef>
            </a:pPr>
            <a:r>
              <a:rPr sz="1150" b="1" i="0">
                <a:solidFill>
                  <a:srgbClr val="0C2340"/>
                </a:solidFill>
                <a:latin typeface="Georgia"/>
              </a:rPr>
              <a:t>Mistral 7B @ 3-bit</a:t>
            </a:r>
          </a:p>
          <a:p>
            <a:pPr algn="ctr"/>
            <a:r>
              <a:rPr sz="1100" b="0" i="0">
                <a:solidFill>
                  <a:srgbClr val="5A5A5A"/>
                </a:solidFill>
                <a:latin typeface="Georgia"/>
              </a:rPr>
              <a:t>0.468 → 0.500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219456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5A5A5A"/>
                </a:solidFill>
                <a:latin typeface="Georgia"/>
              </a:rPr>
              <a:t>+0.027</a:t>
            </a:r>
          </a:p>
          <a:p>
            <a:pPr algn="ctr">
              <a:spcBef>
                <a:spcPts val="300"/>
              </a:spcBef>
            </a:pPr>
            <a:r>
              <a:rPr sz="1150" b="1" i="0">
                <a:solidFill>
                  <a:srgbClr val="0C2340"/>
                </a:solidFill>
                <a:latin typeface="Georgia"/>
              </a:rPr>
              <a:t>Llama 8B @ 3-bit, rotated</a:t>
            </a:r>
          </a:p>
          <a:p>
            <a:pPr algn="ctr"/>
            <a:r>
              <a:rPr sz="1100" b="0" i="0">
                <a:solidFill>
                  <a:srgbClr val="5A5A5A"/>
                </a:solidFill>
                <a:latin typeface="Georgia"/>
              </a:rPr>
              <a:t>0.641 → 0.668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1423" y="2194560"/>
            <a:ext cx="1965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5A5A5A"/>
                </a:solidFill>
                <a:latin typeface="Georgia"/>
              </a:rPr>
              <a:t>+0.008</a:t>
            </a:r>
          </a:p>
          <a:p>
            <a:pPr algn="ctr">
              <a:spcBef>
                <a:spcPts val="300"/>
              </a:spcBef>
            </a:pPr>
            <a:r>
              <a:rPr sz="1150" b="1" i="0">
                <a:solidFill>
                  <a:srgbClr val="0C2340"/>
                </a:solidFill>
                <a:latin typeface="Georgia"/>
              </a:rPr>
              <a:t>Llama 8B @ 4-bit</a:t>
            </a:r>
          </a:p>
          <a:p>
            <a:pPr algn="ctr"/>
            <a:r>
              <a:rPr sz="1100" b="0" i="0">
                <a:solidFill>
                  <a:srgbClr val="5A5A5A"/>
                </a:solidFill>
                <a:latin typeface="Georgia"/>
              </a:rPr>
              <a:t>0.745 → 0.753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657600"/>
            <a:ext cx="8321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0C2340"/>
                </a:solidFill>
                <a:latin typeface="Georgia"/>
              </a:rPr>
              <a:t>All four gains are statistically zero </a:t>
            </a:r>
            <a:r>
              <a:rPr sz="1350" b="0" i="0">
                <a:solidFill>
                  <a:srgbClr val="0C2340"/>
                </a:solidFill>
                <a:latin typeface="Georgia"/>
              </a:rPr>
              <a:t>— compare the rescues in Finding 2: +0.49 and +0.37.</a:t>
            </a:r>
          </a:p>
          <a:p>
            <a:pPr algn="l"/>
            <a:r>
              <a:rPr sz="1350" b="1" i="0">
                <a:solidFill>
                  <a:srgbClr val="AE9141"/>
                </a:solidFill>
                <a:latin typeface="Georgia"/>
              </a:rPr>
              <a:t>So protection is an emergency repair, not a general upgrade: it only matters when there is a collapse to prevent.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 wrap="square"/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Protection Helps Only in a Window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sz="1100" b="1">
                <a:solidFill>
                  <a:srgbClr val="FFFFFF"/>
                </a:solidFill>
                <a:latin typeface="Georgia"/>
              </a:rPr>
              <a:t>THE ANSWER TO “WHEN” — SAME MODEL, DIFFERENT 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C2340"/>
                </a:solidFill>
                <a:latin typeface="Georgia"/>
              </a:rPr>
              <a:t>Llama-8B  (uncompressed: 0.768)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691640"/>
          <a:ext cx="3977639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09160" y="137160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C2340"/>
                </a:solidFill>
                <a:latin typeface="Georgia"/>
              </a:rPr>
              <a:t>Qwen-7B  (uncompressed: 0.765)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09160" y="1691640"/>
          <a:ext cx="3977639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4315968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E9141"/>
                </a:solidFill>
                <a:latin typeface="Georgia"/>
              </a:rPr>
              <a:t>The window: </a:t>
            </a:r>
            <a:r>
              <a:rPr sz="1250" b="0" i="0">
                <a:solidFill>
                  <a:srgbClr val="0C2340"/>
                </a:solidFill>
                <a:latin typeface="Georgia"/>
              </a:rPr>
              <a:t>too mild → nothing to fix (gains ≈0) · collapse → decisive (+0.49) · too extreme (2-bit) → beyond saving (even a 10× budget stays at 0.13).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 wrap="square"/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The Culprit: the Compressor's Own Error Correction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sz="1100" b="1">
                <a:solidFill>
                  <a:srgbClr val="FFFFFF"/>
                </a:solidFill>
                <a:latin typeface="Georgia"/>
              </a:rPr>
              <a:t>FINDING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0C2340"/>
                </a:solidFill>
                <a:latin typeface="Georgia"/>
              </a:rPr>
              <a:t>Same Llama-8B model, compressed to 3 bits in three different ways — IFEval scores (“protection” = the same top-0.5% weight set as in Finding 2):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468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C2340"/>
                </a:solidFill>
                <a:latin typeface="Georgia"/>
              </a:rPr>
              <a:t>0.57</a:t>
            </a:r>
          </a:p>
          <a:p>
            <a:pPr algn="ctr">
              <a:spcBef>
                <a:spcPts val="300"/>
              </a:spcBef>
            </a:pPr>
            <a:r>
              <a:rPr sz="1200" b="1" i="0">
                <a:solidFill>
                  <a:srgbClr val="0C2340"/>
                </a:solidFill>
                <a:latin typeface="Georgia"/>
              </a:rPr>
              <a:t>naive rounding (RTN)</a:t>
            </a:r>
          </a:p>
          <a:p>
            <a:pPr algn="ctr"/>
            <a:r>
              <a:rPr sz="1200" b="0" i="0">
                <a:solidFill>
                  <a:srgbClr val="0C2340"/>
                </a:solidFill>
                <a:latin typeface="Georgia"/>
              </a:rPr>
              <a:t>no error correction → damaged, not dead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920240"/>
            <a:ext cx="2468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9B1B1B"/>
                </a:solidFill>
                <a:latin typeface="Georgia"/>
              </a:rPr>
              <a:t>0.15</a:t>
            </a:r>
          </a:p>
          <a:p>
            <a:pPr algn="ctr">
              <a:spcBef>
                <a:spcPts val="300"/>
              </a:spcBef>
            </a:pPr>
            <a:r>
              <a:rPr sz="1200" b="1" i="0">
                <a:solidFill>
                  <a:srgbClr val="0C2340"/>
                </a:solidFill>
                <a:latin typeface="Georgia"/>
              </a:rPr>
              <a:t>smart GPTQ</a:t>
            </a:r>
          </a:p>
          <a:p>
            <a:pPr algn="ctr"/>
            <a:r>
              <a:rPr sz="1200" b="0" i="0">
                <a:solidFill>
                  <a:srgbClr val="0C2340"/>
                </a:solidFill>
                <a:latin typeface="Georgia"/>
              </a:rPr>
              <a:t>error correction on → COLLAPSE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2468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A833C"/>
                </a:solidFill>
                <a:latin typeface="Georgia"/>
              </a:rPr>
              <a:t>0.64</a:t>
            </a:r>
          </a:p>
          <a:p>
            <a:pPr algn="ctr">
              <a:spcBef>
                <a:spcPts val="300"/>
              </a:spcBef>
            </a:pPr>
            <a:r>
              <a:rPr sz="1200" b="1" i="0">
                <a:solidFill>
                  <a:srgbClr val="0C2340"/>
                </a:solidFill>
                <a:latin typeface="Georgia"/>
              </a:rPr>
              <a:t>smart GPTQ + protection</a:t>
            </a:r>
          </a:p>
          <a:p>
            <a:pPr algn="ctr"/>
            <a:r>
              <a:rPr sz="1200" b="0" i="0">
                <a:solidFill>
                  <a:srgbClr val="0C2340"/>
                </a:solidFill>
                <a:latin typeface="Georgia"/>
              </a:rPr>
              <a:t>correction told to skip those 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520440"/>
            <a:ext cx="8321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i="0">
                <a:solidFill>
                  <a:srgbClr val="0C2340"/>
                </a:solidFill>
                <a:latin typeface="Georgia"/>
              </a:rPr>
              <a:t>The “smart” correction is the problem: </a:t>
            </a:r>
            <a:r>
              <a:rPr sz="1350" b="0" i="0">
                <a:solidFill>
                  <a:srgbClr val="0C2340"/>
                </a:solidFill>
                <a:latin typeface="Georgia"/>
              </a:rPr>
              <a:t>when it touches ~100,000 hyper-sensitive weights (0.001% of the model — zeroing them at full precision also destroys the model), it spreads their error everywhere.</a:t>
            </a:r>
          </a:p>
          <a:p>
            <a:pPr algn="l"/>
            <a:r>
              <a:rPr sz="1350" b="0" i="0">
                <a:solidFill>
                  <a:srgbClr val="0C2340"/>
                </a:solidFill>
                <a:latin typeface="Georgia"/>
              </a:rPr>
              <a:t>Proof: repairing those weights afterwards does NOT help (0.16) — the damage already lives in the rest of the network. Protection must happen during compression.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 wrap="square"/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The Damage Can Be Invisible to Standard Checks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sz="1100" b="1">
                <a:solidFill>
                  <a:srgbClr val="FFFFFF"/>
                </a:solidFill>
                <a:latin typeface="Georgia"/>
              </a:rPr>
              <a:t>FINDING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C2340"/>
                </a:solidFill>
                <a:latin typeface="Georgia"/>
              </a:rPr>
              <a:t>The compressed Qwen-14B gets stuck repeating itself. A real answer it gave to a grade-school math problem: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4480560" cy="1737360"/>
          </a:xfrm>
          <a:prstGeom prst="rect">
            <a:avLst/>
          </a:prstGeom>
          <a:solidFill>
            <a:srgbClr val="EFE9D9"/>
          </a:solidFill>
        </p:spPr>
        <p:txBody>
          <a:bodyPr wrap="square" lIns="109728" rIns="109728" tIns="109728" bIns="109728">
            <a:spAutoFit/>
          </a:bodyPr>
          <a:lstStyle/>
          <a:p>
            <a:r>
              <a:rPr sz="1200" i="1">
                <a:solidFill>
                  <a:srgbClr val="9B1B1B"/>
                </a:solidFill>
                <a:latin typeface="Georgia"/>
              </a:rPr>
              <a:t>“… each pail contains 5 × 5 = 250 liters of water. Therefore, each pail contains 5 × 5 = 250 liters of water. Therefore, each pail contains 5 × 5 = 250 liters of water. Therefore, each pail …”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703320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C2340"/>
                </a:solidFill>
                <a:latin typeface="Georgia"/>
              </a:rPr>
              <a:t>69 out of every 100 answers end in a loop like this. The uncompressed model: fewer than 1 in 100.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4173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E9141"/>
                </a:solidFill>
                <a:latin typeface="Georgia"/>
              </a:rPr>
              <a:t>YET THE FIELD'S STANDARD CHECKS SAY “FINE”: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828800"/>
            <a:ext cx="35204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C2340"/>
                </a:solidFill>
                <a:latin typeface="Georgia"/>
              </a:rPr>
              <a:t>looks fine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0C2340"/>
                </a:solidFill>
                <a:latin typeface="Georgia"/>
              </a:rPr>
              <a:t>on perplexity, the default quality check (+35%, same as the harmless cases)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697480"/>
            <a:ext cx="35204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C2340"/>
                </a:solidFill>
                <a:latin typeface="Georgia"/>
              </a:rPr>
              <a:t>looks fine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0C2340"/>
                </a:solidFill>
                <a:latin typeface="Georgia"/>
              </a:rPr>
              <a:t>on the MMLU knowledge quiz (−6 points, same as the harmless cases)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611880"/>
            <a:ext cx="35204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9B1B1B"/>
                </a:solidFill>
                <a:latin typeface="Georgia"/>
              </a:rPr>
              <a:t>0.93 → 0.13</a:t>
            </a:r>
          </a:p>
          <a:p>
            <a:pPr algn="ctr">
              <a:spcBef>
                <a:spcPts val="300"/>
              </a:spcBef>
            </a:pPr>
            <a:r>
              <a:rPr sz="1100" b="0" i="0">
                <a:solidFill>
                  <a:srgbClr val="0C2340"/>
                </a:solidFill>
                <a:latin typeface="Georgia"/>
              </a:rPr>
              <a:t>actual math score — the collapse both checks failed to notice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 wrap="square"/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What This Paper Says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sz="1100" b="1">
                <a:solidFill>
                  <a:srgbClr val="FFFFFF"/>
                </a:solidFill>
                <a:latin typeface="Georgia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8321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AE9141"/>
                </a:solidFill>
                <a:latin typeface="Georgia"/>
              </a:rPr>
              <a:t>—  </a:t>
            </a:r>
            <a:r>
              <a:rPr sz="1350" b="1" i="0">
                <a:solidFill>
                  <a:srgbClr val="0C2340"/>
                </a:solidFill>
                <a:latin typeface="Georgia"/>
              </a:rPr>
              <a:t>1 · Compression damage comes in two modes. </a:t>
            </a:r>
            <a:r>
              <a:rPr sz="1350" b="0" i="0">
                <a:solidFill>
                  <a:srgbClr val="0C2340"/>
                </a:solidFill>
                <a:latin typeface="Georgia"/>
              </a:rPr>
              <a:t>Usually mild; occasionally a collapse — and no statistic of the original model predicts which (we falsified every published candidate, on 6 models).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AE9141"/>
                </a:solidFill>
                <a:latin typeface="Georgia"/>
              </a:rPr>
              <a:t>—  </a:t>
            </a:r>
            <a:r>
              <a:rPr sz="1350" b="1" i="0">
                <a:solidFill>
                  <a:srgbClr val="0C2340"/>
                </a:solidFill>
                <a:latin typeface="Georgia"/>
              </a:rPr>
              <a:t>2 · Protection is a collapse-repair tool, not a general upgrade. </a:t>
            </a:r>
            <a:r>
              <a:rPr sz="1350" b="0" i="0">
                <a:solidFill>
                  <a:srgbClr val="0C2340"/>
                </a:solidFill>
                <a:latin typeface="Georgia"/>
              </a:rPr>
              <a:t>In a collapse it beats every alternative (including the newest rotation-based methods); otherwise it buys nothing.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AE9141"/>
                </a:solidFill>
                <a:latin typeface="Georgia"/>
              </a:rPr>
              <a:t>—  </a:t>
            </a:r>
            <a:r>
              <a:rPr sz="1350" b="1" i="0">
                <a:solidFill>
                  <a:srgbClr val="0C2340"/>
                </a:solidFill>
                <a:latin typeface="Georgia"/>
              </a:rPr>
              <a:t>3 · The cause is the compressor, not the low precision. </a:t>
            </a:r>
            <a:r>
              <a:rPr sz="1350" b="0" i="0">
                <a:solidFill>
                  <a:srgbClr val="0C2340"/>
                </a:solidFill>
                <a:latin typeface="Georgia"/>
              </a:rPr>
              <a:t>GPTQ's error correction × ~10⁵ hyper-sensitive weights. Naive rounding never collapses.</a:t>
            </a:r>
          </a:p>
          <a:p>
            <a:pPr algn="l">
              <a:spcAft>
                <a:spcPts val="1200"/>
              </a:spcAft>
            </a:pPr>
            <a:r>
              <a:rPr sz="1350" b="1" i="0">
                <a:solidFill>
                  <a:srgbClr val="AE9141"/>
                </a:solidFill>
                <a:latin typeface="Georgia"/>
              </a:rPr>
              <a:t>—  </a:t>
            </a:r>
            <a:r>
              <a:rPr sz="1350" b="1" i="0">
                <a:solidFill>
                  <a:srgbClr val="0C2340"/>
                </a:solidFill>
                <a:latin typeface="Georgia"/>
              </a:rPr>
              <a:t>4 · Evaluation warning for the field. </a:t>
            </a:r>
            <a:r>
              <a:rPr sz="1350" b="0" i="0">
                <a:solidFill>
                  <a:srgbClr val="0C2340"/>
                </a:solidFill>
                <a:latin typeface="Georgia"/>
              </a:rPr>
              <a:t>A compressed model can pass perplexity + MMLU while losing 80% of its generative ability. Always test with generation.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1480" y="658368"/>
            <a:ext cx="8321040" cy="658368"/>
          </a:xfrm>
        </p:spPr>
        <p:txBody>
          <a:bodyPr wrap="square"/>
          <a:lstStyle/>
          <a:p>
            <a:pPr algn="l"/>
            <a:r>
              <a:rPr sz="2600" b="1">
                <a:solidFill>
                  <a:srgbClr val="0C2340"/>
                </a:solidFill>
                <a:latin typeface="Georgia"/>
              </a:rPr>
              <a:t>The Two Closest Papers — and Where This Goes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sz="1100" b="1">
                <a:solidFill>
                  <a:srgbClr val="FFFFFF"/>
                </a:solidFill>
                <a:latin typeface="Georgia"/>
              </a:rPr>
              <a:t>RELATED WORK &amp;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4892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AE9141"/>
                </a:solidFill>
                <a:latin typeface="Georgia"/>
              </a:rPr>
              <a:t>TaCQ (UNC Chapel Hill, 2025)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0C2340"/>
                </a:solidFill>
                <a:latin typeface="Georgia"/>
              </a:rPr>
              <a:t>Invented the importance score we use, and showed protection improves compressed models. We answer the question they never asked: WHEN does it help (only in collapses) and WHY (the error-correction mechanism).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AE9141"/>
                </a:solidFill>
                <a:latin typeface="Georgia"/>
              </a:rPr>
              <a:t>Super Weights (Mengxia Yu, ND + Apple, 2024)</a:t>
            </a:r>
          </a:p>
          <a:p>
            <a:pPr algn="l"/>
            <a:r>
              <a:rPr sz="1250" b="0" i="0">
                <a:solidFill>
                  <a:srgbClr val="0C2340"/>
                </a:solidFill>
                <a:latin typeface="Georgia"/>
              </a:rPr>
              <a:t>Found that every LLM has 3–6 individual “super weights” — delete one and the model dies. We tested them: protecting ONLY those few does not prevent the collapse (0.16). The collapse involves a different, ~100,000-weight set. Complementary, not competing.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417320"/>
            <a:ext cx="3063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E9141"/>
                </a:solidFill>
                <a:latin typeface="Georgia"/>
              </a:rPr>
              <a:t>TARGET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0C2340"/>
                </a:solidFill>
                <a:latin typeface="Georgia"/>
              </a:rPr>
              <a:t>ICLR 2027 — abstract Sept 18, paper Sept 25. Backup: ACL 2027 (Feb), reusing the ICLR reviews.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AE9141"/>
                </a:solidFill>
                <a:latin typeface="Georgia"/>
              </a:rPr>
              <a:t>READINESS</a:t>
            </a:r>
          </a:p>
          <a:p>
            <a:pPr algn="l"/>
            <a:r>
              <a:rPr sz="1250" b="0" i="0">
                <a:solidFill>
                  <a:srgbClr val="0C2340"/>
                </a:solidFill>
                <a:latin typeface="Georgia"/>
              </a:rPr>
              <a:t>Every claim has controls, replicates, and confidence intervals; backup experiments (70B model, another compressor) are staged for the rebuttal phase.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sz="1100" b="1">
                <a:solidFill>
                  <a:srgbClr val="FFFFFF"/>
                </a:solidFill>
                <a:latin typeface="Georgia"/>
              </a:rPr>
              <a:t>DISCUSSION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1234440"/>
            <a:ext cx="7315200" cy="7315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What I'd Like Your Input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7315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AE9141"/>
                </a:solidFill>
                <a:latin typeface="Georgia"/>
              </a:rPr>
              <a:t>—  </a:t>
            </a:r>
            <a:r>
              <a:rPr sz="1400" b="0" i="0">
                <a:solidFill>
                  <a:srgbClr val="FFFFFF"/>
                </a:solidFill>
                <a:latin typeface="Georgia"/>
              </a:rPr>
              <a:t>Does the story read as one clean question with one clean answer?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AE9141"/>
                </a:solidFill>
                <a:latin typeface="Georgia"/>
              </a:rPr>
              <a:t>—  </a:t>
            </a:r>
            <a:r>
              <a:rPr sz="1400" b="0" i="0">
                <a:solidFill>
                  <a:srgbClr val="FFFFFF"/>
                </a:solidFill>
                <a:latin typeface="Georgia"/>
              </a:rPr>
              <a:t>Venue: OK to commit to ICLR (Sept 25) with ACL as the fallback?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AE9141"/>
                </a:solidFill>
                <a:latin typeface="Georgia"/>
              </a:rPr>
              <a:t>—  </a:t>
            </a:r>
            <a:r>
              <a:rPr sz="1400" b="0" i="0">
                <a:solidFill>
                  <a:srgbClr val="FFFFFF"/>
                </a:solidFill>
                <a:latin typeface="Georgia"/>
              </a:rPr>
              <a:t>How should we engage Mengxia's Super-Weights work — note or citation?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AE9141"/>
                </a:solidFill>
                <a:latin typeface="Georgia"/>
              </a:rPr>
              <a:t>—  </a:t>
            </a:r>
            <a:r>
              <a:rPr sz="1400" b="0" i="0">
                <a:solidFill>
                  <a:srgbClr val="FFFFFF"/>
                </a:solidFill>
                <a:latin typeface="Georgia"/>
              </a:rPr>
              <a:t>Anything worth adding while the cluster is still available?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otre Dame">
      <a:dk1>
        <a:srgbClr val="0C2340"/>
      </a:dk1>
      <a:lt1>
        <a:srgbClr val="FFFFFF"/>
      </a:lt1>
      <a:dk2>
        <a:srgbClr val="AE9141"/>
      </a:dk2>
      <a:lt2>
        <a:srgbClr val="EFE9D9"/>
      </a:lt2>
      <a:accent1>
        <a:srgbClr val="143865"/>
      </a:accent1>
      <a:accent2>
        <a:srgbClr val="AE9141"/>
      </a:accent2>
      <a:accent3>
        <a:srgbClr val="0A833C"/>
      </a:accent3>
      <a:accent4>
        <a:srgbClr val="1C4F8F"/>
      </a:accent4>
      <a:accent5>
        <a:srgbClr val="C1CDDD"/>
      </a:accent5>
      <a:accent6>
        <a:srgbClr val="B3DAC5"/>
      </a:accent6>
      <a:hlink>
        <a:srgbClr val="8C7534"/>
      </a:hlink>
      <a:folHlink>
        <a:srgbClr val="1C4F8F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Becky Rogers</dc:creator>
  <cp:lastModifiedBy>Jiahao Zheng</cp:lastModifiedBy>
  <cp:revision>2</cp:revision>
  <dcterms:created xsi:type="dcterms:W3CDTF">2024-10-11T14:50:24Z</dcterms:created>
  <dcterms:modified xsi:type="dcterms:W3CDTF">2026-09-02T04:26:51Z</dcterms:modified>
</cp:coreProperties>
</file>