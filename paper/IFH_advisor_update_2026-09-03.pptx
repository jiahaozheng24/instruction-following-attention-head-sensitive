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</p:sldIdLst>
  <p:sldSz cx="9144000" cy="51482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882"/>
    <p:restoredTop sz="94699"/>
  </p:normalViewPr>
  <p:slideViewPr>
    <p:cSldViewPr snapToGrid="0">
      <p:cViewPr varScale="1">
        <p:scale>
          <a:sx n="92" d="100"/>
          <a:sy n="92" d="100"/>
        </p:scale>
        <p:origin x="1014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before compression</c:v>
                </c:pt>
              </c:strCache>
            </c:strRef>
          </c:tx>
          <c:spPr>
            <a:solidFill>
              <a:srgbClr val="0C2340"/>
            </a:solidFill>
          </c:spPr>
          <c:cat>
            <c:strRef>
              <c:f>Sheet1!$A$2:$A$7</c:f>
              <c:strCache>
                <c:ptCount val="6"/>
                <c:pt idx="0">
                  <c:v>Qwen 7B</c:v>
                </c:pt>
                <c:pt idx="1">
                  <c:v>Mistral 7B</c:v>
                </c:pt>
                <c:pt idx="2">
                  <c:v>Llama 8B</c:v>
                </c:pt>
                <c:pt idx="3">
                  <c:v>Qwen 14B</c:v>
                </c:pt>
                <c:pt idx="4">
                  <c:v>Mistral 24B</c:v>
                </c:pt>
                <c:pt idx="5">
                  <c:v>Qwen 32B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0.765</c:v>
                </c:pt>
                <c:pt idx="1">
                  <c:v>0.552</c:v>
                </c:pt>
                <c:pt idx="2">
                  <c:v>0.768</c:v>
                </c:pt>
                <c:pt idx="3">
                  <c:v>0.82</c:v>
                </c:pt>
                <c:pt idx="4">
                  <c:v>0.757</c:v>
                </c:pt>
                <c:pt idx="5">
                  <c:v>0.838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after 3-bit compression</c:v>
                </c:pt>
              </c:strCache>
            </c:strRef>
          </c:tx>
          <c:spPr>
            <a:solidFill>
              <a:srgbClr val="AE9141"/>
            </a:solidFill>
          </c:spPr>
          <c:cat>
            <c:strRef>
              <c:f>Sheet1!$A$2:$A$7</c:f>
              <c:strCache>
                <c:ptCount val="6"/>
                <c:pt idx="0">
                  <c:v>Qwen 7B</c:v>
                </c:pt>
                <c:pt idx="1">
                  <c:v>Mistral 7B</c:v>
                </c:pt>
                <c:pt idx="2">
                  <c:v>Llama 8B</c:v>
                </c:pt>
                <c:pt idx="3">
                  <c:v>Qwen 14B</c:v>
                </c:pt>
                <c:pt idx="4">
                  <c:v>Mistral 24B</c:v>
                </c:pt>
                <c:pt idx="5">
                  <c:v>Qwen 32B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0.672</c:v>
                </c:pt>
                <c:pt idx="1">
                  <c:v>0.468</c:v>
                </c:pt>
                <c:pt idx="2">
                  <c:v>0.15</c:v>
                </c:pt>
                <c:pt idx="3">
                  <c:v>0.412</c:v>
                </c:pt>
                <c:pt idx="4">
                  <c:v>0.698</c:v>
                </c:pt>
                <c:pt idx="5">
                  <c:v>0.762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9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latin typeface="Georgia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mild (graceful)</c:v>
                </c:pt>
              </c:strCache>
            </c:strRef>
          </c:tx>
          <c:spPr>
            <a:solidFill>
              <a:srgbClr val="8A9BB0"/>
            </a:solidFill>
          </c:spPr>
          <c:cat>
            <c:strRef>
              <c:f>Sheet1!$A$2:$A$13</c:f>
              <c:strCache>
                <c:ptCount val="12"/>
                <c:pt idx="0">
                  <c:v>Mist 24B</c:v>
                </c:pt>
                <c:pt idx="1">
                  <c:v>OLMo 7B</c:v>
                </c:pt>
                <c:pt idx="2">
                  <c:v>Qwen 32B</c:v>
                </c:pt>
                <c:pt idx="3">
                  <c:v>Mist 7B</c:v>
                </c:pt>
                <c:pt idx="4">
                  <c:v>Qwen 7B</c:v>
                </c:pt>
                <c:pt idx="5">
                  <c:v>Llama3 8B</c:v>
                </c:pt>
                <c:pt idx="6">
                  <c:v>Yi 9B</c:v>
                </c:pt>
                <c:pt idx="7">
                  <c:v>Llama 3B</c:v>
                </c:pt>
                <c:pt idx="8">
                  <c:v>Nemo 12B</c:v>
                </c:pt>
                <c:pt idx="9">
                  <c:v>Qwen 3B</c:v>
                </c:pt>
                <c:pt idx="10">
                  <c:v>Qwen 14B</c:v>
                </c:pt>
                <c:pt idx="11">
                  <c:v>Llama3.1 8B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0.06</c:v>
                </c:pt>
                <c:pt idx="1">
                  <c:v>0.063</c:v>
                </c:pt>
                <c:pt idx="2">
                  <c:v>0.076</c:v>
                </c:pt>
                <c:pt idx="3">
                  <c:v>0.085</c:v>
                </c:pt>
                <c:pt idx="4">
                  <c:v>0.094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middle tier</c:v>
                </c:pt>
              </c:strCache>
            </c:strRef>
          </c:tx>
          <c:spPr>
            <a:solidFill>
              <a:srgbClr val="AE9141"/>
            </a:solidFill>
          </c:spPr>
          <c:cat>
            <c:strRef>
              <c:f>Sheet1!$A$2:$A$13</c:f>
              <c:strCache>
                <c:ptCount val="12"/>
                <c:pt idx="0">
                  <c:v>Mist 24B</c:v>
                </c:pt>
                <c:pt idx="1">
                  <c:v>OLMo 7B</c:v>
                </c:pt>
                <c:pt idx="2">
                  <c:v>Qwen 32B</c:v>
                </c:pt>
                <c:pt idx="3">
                  <c:v>Mist 7B</c:v>
                </c:pt>
                <c:pt idx="4">
                  <c:v>Qwen 7B</c:v>
                </c:pt>
                <c:pt idx="5">
                  <c:v>Llama3 8B</c:v>
                </c:pt>
                <c:pt idx="6">
                  <c:v>Yi 9B</c:v>
                </c:pt>
                <c:pt idx="7">
                  <c:v>Llama 3B</c:v>
                </c:pt>
                <c:pt idx="8">
                  <c:v>Nemo 12B</c:v>
                </c:pt>
                <c:pt idx="9">
                  <c:v>Qwen 3B</c:v>
                </c:pt>
                <c:pt idx="10">
                  <c:v>Qwen 14B</c:v>
                </c:pt>
                <c:pt idx="11">
                  <c:v>Llama3.1 8B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5">
                  <c:v>0.147</c:v>
                </c:pt>
                <c:pt idx="6">
                  <c:v>0.151</c:v>
                </c:pt>
                <c:pt idx="7">
                  <c:v>0.173</c:v>
                </c:pt>
                <c:pt idx="8">
                  <c:v>0.175</c:v>
                </c:pt>
                <c:pt idx="9">
                  <c:v>0.247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COLLAPSE</c:v>
                </c:pt>
              </c:strCache>
            </c:strRef>
          </c:tx>
          <c:spPr>
            <a:solidFill>
              <a:srgbClr val="9B1B1B"/>
            </a:solidFill>
          </c:spPr>
          <c:cat>
            <c:strRef>
              <c:f>Sheet1!$A$2:$A$13</c:f>
              <c:strCache>
                <c:ptCount val="12"/>
                <c:pt idx="0">
                  <c:v>Mist 24B</c:v>
                </c:pt>
                <c:pt idx="1">
                  <c:v>OLMo 7B</c:v>
                </c:pt>
                <c:pt idx="2">
                  <c:v>Qwen 32B</c:v>
                </c:pt>
                <c:pt idx="3">
                  <c:v>Mist 7B</c:v>
                </c:pt>
                <c:pt idx="4">
                  <c:v>Qwen 7B</c:v>
                </c:pt>
                <c:pt idx="5">
                  <c:v>Llama3 8B</c:v>
                </c:pt>
                <c:pt idx="6">
                  <c:v>Yi 9B</c:v>
                </c:pt>
                <c:pt idx="7">
                  <c:v>Llama 3B</c:v>
                </c:pt>
                <c:pt idx="8">
                  <c:v>Nemo 12B</c:v>
                </c:pt>
                <c:pt idx="9">
                  <c:v>Qwen 3B</c:v>
                </c:pt>
                <c:pt idx="10">
                  <c:v>Qwen 14B</c:v>
                </c:pt>
                <c:pt idx="11">
                  <c:v>Llama3.1 8B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10">
                  <c:v>0.409</c:v>
                </c:pt>
                <c:pt idx="11">
                  <c:v>0.619</c:v>
                </c:pt>
              </c:numCache>
            </c:numRef>
          </c:val>
        </c:ser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latin typeface="Georgia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7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latin typeface="Georgia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original (uncompressed)</c:v>
                </c:pt>
              </c:strCache>
            </c:strRef>
          </c:tx>
          <c:spPr>
            <a:solidFill>
              <a:srgbClr val="0C2340"/>
            </a:solidFill>
          </c:spPr>
          <c:cat>
            <c:strRef>
              <c:f>Sheet1!$A$2:$A$3</c:f>
              <c:strCache>
                <c:ptCount val="2"/>
                <c:pt idx="0">
                  <c:v>Llama 8B</c:v>
                </c:pt>
                <c:pt idx="1">
                  <c:v>Qwen 14B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0.768</c:v>
                </c:pt>
                <c:pt idx="1">
                  <c:v>0.82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compressed</c:v>
                </c:pt>
              </c:strCache>
            </c:strRef>
          </c:tx>
          <c:spPr>
            <a:solidFill>
              <a:srgbClr val="9B1B1B"/>
            </a:solidFill>
          </c:spPr>
          <c:cat>
            <c:strRef>
              <c:f>Sheet1!$A$2:$A$3</c:f>
              <c:strCache>
                <c:ptCount val="2"/>
                <c:pt idx="0">
                  <c:v>Llama 8B</c:v>
                </c:pt>
                <c:pt idx="1">
                  <c:v>Qwen 14B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0.15</c:v>
                </c:pt>
                <c:pt idx="1">
                  <c:v>0.412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compressed + protection</c:v>
                </c:pt>
              </c:strCache>
            </c:strRef>
          </c:tx>
          <c:spPr>
            <a:solidFill>
              <a:srgbClr val="AE9141"/>
            </a:solidFill>
          </c:spPr>
          <c:cat>
            <c:strRef>
              <c:f>Sheet1!$A$2:$A$3</c:f>
              <c:strCache>
                <c:ptCount val="2"/>
                <c:pt idx="0">
                  <c:v>Llama 8B</c:v>
                </c:pt>
                <c:pt idx="1">
                  <c:v>Qwen 14B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0.643</c:v>
                </c:pt>
                <c:pt idx="1">
                  <c:v>0.782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000">
                  <a:latin typeface="Georgia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95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latin typeface="Georgia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Llama-8B + protection</c:v>
                </c:pt>
              </c:strCache>
            </c:strRef>
          </c:tx>
          <c:spPr>
            <a:ln w="28575">
              <a:solidFill>
                <a:srgbClr val="0C2340"/>
              </a:solidFill>
            </a:ln>
          </c:spPr>
          <c:cat>
            <c:strRef>
              <c:f>Sheet1!$A$2:$A$7</c:f>
              <c:strCache>
                <c:ptCount val="6"/>
                <c:pt idx="0">
                  <c:v>10k</c:v>
                </c:pt>
                <c:pt idx="1">
                  <c:v>100k</c:v>
                </c:pt>
                <c:pt idx="2">
                  <c:v>300k</c:v>
                </c:pt>
                <c:pt idx="3">
                  <c:v>1M</c:v>
                </c:pt>
                <c:pt idx="4">
                  <c:v>10M</c:v>
                </c:pt>
                <c:pt idx="5">
                  <c:v>40–70M (default)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0.246</c:v>
                </c:pt>
                <c:pt idx="1">
                  <c:v>0.671</c:v>
                </c:pt>
                <c:pt idx="3">
                  <c:v>0.665</c:v>
                </c:pt>
                <c:pt idx="4">
                  <c:v>0.638</c:v>
                </c:pt>
                <c:pt idx="5">
                  <c:v>0.643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Qwen-14B + protection</c:v>
                </c:pt>
              </c:strCache>
            </c:strRef>
          </c:tx>
          <c:spPr>
            <a:ln w="28575">
              <a:solidFill>
                <a:srgbClr val="AE9141"/>
              </a:solidFill>
            </a:ln>
          </c:spPr>
          <c:cat>
            <c:strRef>
              <c:f>Sheet1!$A$2:$A$7</c:f>
              <c:strCache>
                <c:ptCount val="6"/>
                <c:pt idx="0">
                  <c:v>10k</c:v>
                </c:pt>
                <c:pt idx="1">
                  <c:v>100k</c:v>
                </c:pt>
                <c:pt idx="2">
                  <c:v>300k</c:v>
                </c:pt>
                <c:pt idx="3">
                  <c:v>1M</c:v>
                </c:pt>
                <c:pt idx="4">
                  <c:v>10M</c:v>
                </c:pt>
                <c:pt idx="5">
                  <c:v>40–70M (default)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1">
                  <c:v>0.216</c:v>
                </c:pt>
                <c:pt idx="2">
                  <c:v>0.689</c:v>
                </c:pt>
                <c:pt idx="3">
                  <c:v>0.734</c:v>
                </c:pt>
                <c:pt idx="5">
                  <c:v>0.782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Llama-8B unprotected</c:v>
                </c:pt>
              </c:strCache>
            </c:strRef>
          </c:tx>
          <c:spPr>
            <a:ln w="15875">
              <a:solidFill>
                <a:srgbClr val="8A9BB0"/>
              </a:solidFill>
              <a:prstDash val="dash"/>
            </a:ln>
          </c:spPr>
          <c:cat>
            <c:strRef>
              <c:f>Sheet1!$A$2:$A$7</c:f>
              <c:strCache>
                <c:ptCount val="6"/>
                <c:pt idx="0">
                  <c:v>10k</c:v>
                </c:pt>
                <c:pt idx="1">
                  <c:v>100k</c:v>
                </c:pt>
                <c:pt idx="2">
                  <c:v>300k</c:v>
                </c:pt>
                <c:pt idx="3">
                  <c:v>1M</c:v>
                </c:pt>
                <c:pt idx="4">
                  <c:v>10M</c:v>
                </c:pt>
                <c:pt idx="5">
                  <c:v>40–70M (default)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0.15</c:v>
                </c:pt>
                <c:pt idx="1">
                  <c:v>0.15</c:v>
                </c:pt>
                <c:pt idx="2">
                  <c:v>0.15</c:v>
                </c:pt>
                <c:pt idx="3">
                  <c:v>0.15</c:v>
                </c:pt>
                <c:pt idx="4">
                  <c:v>0.15</c:v>
                </c:pt>
                <c:pt idx="5">
                  <c:v>0.15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Qwen-14B unprotected</c:v>
                </c:pt>
              </c:strCache>
            </c:strRef>
          </c:tx>
          <c:spPr>
            <a:ln w="15875">
              <a:solidFill>
                <a:srgbClr val="D6C79A"/>
              </a:solidFill>
              <a:prstDash val="dash"/>
            </a:ln>
          </c:spPr>
          <c:cat>
            <c:strRef>
              <c:f>Sheet1!$A$2:$A$7</c:f>
              <c:strCache>
                <c:ptCount val="6"/>
                <c:pt idx="0">
                  <c:v>10k</c:v>
                </c:pt>
                <c:pt idx="1">
                  <c:v>100k</c:v>
                </c:pt>
                <c:pt idx="2">
                  <c:v>300k</c:v>
                </c:pt>
                <c:pt idx="3">
                  <c:v>1M</c:v>
                </c:pt>
                <c:pt idx="4">
                  <c:v>10M</c:v>
                </c:pt>
                <c:pt idx="5">
                  <c:v>40–70M (default)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0.412</c:v>
                </c:pt>
                <c:pt idx="1">
                  <c:v>0.412</c:v>
                </c:pt>
                <c:pt idx="2">
                  <c:v>0.412</c:v>
                </c:pt>
                <c:pt idx="3">
                  <c:v>0.412</c:v>
                </c:pt>
                <c:pt idx="4">
                  <c:v>0.412</c:v>
                </c:pt>
                <c:pt idx="5">
                  <c:v>0.412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0.9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>
              <a:latin typeface="Georgia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compressed</c:v>
                </c:pt>
              </c:strCache>
            </c:strRef>
          </c:tx>
          <c:spPr>
            <a:solidFill>
              <a:srgbClr val="AE9141"/>
            </a:solidFill>
          </c:spPr>
          <c:cat>
            <c:strRef>
              <c:f>Sheet1!$A$2:$A$3</c:f>
              <c:strCache>
                <c:ptCount val="2"/>
                <c:pt idx="0">
                  <c:v>4-bit (mild)</c:v>
                </c:pt>
                <c:pt idx="1">
                  <c:v>3-bit (deep)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0.745</c:v>
                </c:pt>
                <c:pt idx="1">
                  <c:v>0.15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+ protection</c:v>
                </c:pt>
              </c:strCache>
            </c:strRef>
          </c:tx>
          <c:spPr>
            <a:solidFill>
              <a:srgbClr val="0A833C"/>
            </a:solidFill>
          </c:spPr>
          <c:cat>
            <c:strRef>
              <c:f>Sheet1!$A$2:$A$3</c:f>
              <c:strCache>
                <c:ptCount val="2"/>
                <c:pt idx="0">
                  <c:v>4-bit (mild)</c:v>
                </c:pt>
                <c:pt idx="1">
                  <c:v>3-bit (deep)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0.753</c:v>
                </c:pt>
                <c:pt idx="1">
                  <c:v>0.643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900">
                  <a:latin typeface="Georgia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9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latin typeface="Georgia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compressed</c:v>
                </c:pt>
              </c:strCache>
            </c:strRef>
          </c:tx>
          <c:spPr>
            <a:solidFill>
              <a:srgbClr val="AE9141"/>
            </a:solidFill>
          </c:spPr>
          <c:cat>
            <c:strRef>
              <c:f>Sheet1!$A$2:$A$5</c:f>
              <c:strCache>
                <c:ptCount val="4"/>
                <c:pt idx="0">
                  <c:v>8-bit</c:v>
                </c:pt>
                <c:pt idx="1">
                  <c:v>4-bit</c:v>
                </c:pt>
                <c:pt idx="2">
                  <c:v>3-bit</c:v>
                </c:pt>
                <c:pt idx="3">
                  <c:v>2-bit (extreme)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0.77</c:v>
                </c:pt>
                <c:pt idx="1">
                  <c:v>0.758</c:v>
                </c:pt>
                <c:pt idx="2">
                  <c:v>0.672</c:v>
                </c:pt>
                <c:pt idx="3">
                  <c:v>0.121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+ protection</c:v>
                </c:pt>
              </c:strCache>
            </c:strRef>
          </c:tx>
          <c:spPr>
            <a:solidFill>
              <a:srgbClr val="0A833C"/>
            </a:solidFill>
          </c:spPr>
          <c:cat>
            <c:strRef>
              <c:f>Sheet1!$A$2:$A$5</c:f>
              <c:strCache>
                <c:ptCount val="4"/>
                <c:pt idx="0">
                  <c:v>8-bit</c:v>
                </c:pt>
                <c:pt idx="1">
                  <c:v>4-bit</c:v>
                </c:pt>
                <c:pt idx="2">
                  <c:v>3-bit</c:v>
                </c:pt>
                <c:pt idx="3">
                  <c:v>2-bit (extreme)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2">
                  <c:v>0.702</c:v>
                </c:pt>
                <c:pt idx="3">
                  <c:v>0.133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900">
                  <a:latin typeface="Georgia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9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latin typeface="Georgia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开场：我们研究的是——把大模型压缩变小的时候，什么情况下能力会被悄悄毁掉、怎么防住。所有实验已完成并冻结（6个模型，约120组实验）。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立四个词：①量化=把每个权重从16位存成3位，模型小5倍、便宜5倍；②GPTQ=业界标准压缩算法，特点是“聪明”——每压一个权重就调整其他权重来抵消误差；③RTN=笨办法，直接四舍五入，不纠错；④保护=挑出最重要的0.5%权重不压缩，重要性用TaCQ这篇论文的公式打分：|权重值|×|梯度|×|压缩误差|，直觉是“作用大×模型敏感×压缩伤它重”三者相乘。我们的问题：以往论文都默认“保护重要权重总是有帮助”，没人问过什么时候真有帮助。我们的答案：只有压崩溃的时候有帮助，其他时候完全没用。两个备注：①0.5%这个预算是我们定的（为了和“保护32个注意力头”做同预算公平对照，算出来恰好约0.5%；TaCQ自己的配置也在0.5-0.8%一档；我们的扫描证明真正必需的只有0.001-0.01%）；②除标明“数学/知识题/困惑度”的地方外，全片所有数字都是IFEval指令遵循分（0-1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六个主模型用完全相同的配方压到3位：四个只轻微掉分（掉0.06-0.09），两个崩溃——Llama-8B从0.77掉到0.15，Qwen-14B从0.82掉到0.41。关键是不可预测：同一家族的Qwen，7B没事、14B崩、32B又没事。每个崩溃都换随机种子重跑验证过，是稳定现象不是偶然。最新补充：又普查了6个模型（共12个）。新模型都落在中间档（掉0.15-0.25，多是3B小模型——小模型本来就压得更惨，这是已知规律），没有出现第三个崩溃。重点：两个崩溃严重偏离“越小越惨”的趋势线（Llama-3.2-3B才掉0.17，更大的Llama-3.1-8B却掉0.62），而且复读机率有断层（中间档最高22%，崩溃是55-92%）——所以崩溃是一种性质不同的故障，不是普通退化的加重版。如果被问“上一代Llama-3-8B呢”：它只掉0.15——同尺寸同家族，隔一代就翻转。（下一页就是12模型的完整数据图。）最新补测（W16）把分型钉死了：对中间档两个代表做RTN对照，GPTQ的纠错在它们身上是帮忙的（Qwen-3B：RTN只有0.13、GPTQ有0.41，帮了28分；Yi-9B帮了12分），方向和两个崩溃完全相反（崩溃处纠错是害41.5/28.6分）。所以判定崩溃的本质标准是“纠错在帮忙还是在行凶”，掉分大小只是表象。同时保护在中间档只有+7.4（Qwen-3B）和+2.0（Yi-9B，不显著）——远小于崩溃处的+37/+49：保护的价值≈它拦下的纠错之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模型全景：柱子是压缩后损失的分数，越高越糟。三个层次一目了然：轻微档（掉0.06-0.09）、中间档（掉0.15-0.25，多为小模型——小模型冗余少，普通退化更大）、两个崩溃（掉0.41和0.62）。关键论据：崩溃不在“越小越惨”的趋势线上——最小的3B们才掉0.17-0.25，反而是8B和14B崩掉。判定中间档和崩溃是两种病的证据在后面（纠错方向相反+复读机率断层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崩溃能修：压缩时保住TaCQ分数最高的0.5%权重（约几千万个），Llama从0.15回到0.64，Qwen-14B从0.41回到0.78（原始分的95%）。对照实验：保护同样数量的随机权重几乎没用（0.18/0.48）——必须是“对的”权重。数学能力同样被修复：14B的GSM8K从0.93崩到0.13，保护后回到0.89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对照实验全家福：同样大小的保护配额给谁？给随机权重没用（0.18/0.48）、给我们最初找的指令注意力头没用（0.165）、给Mengxia发现的3-6个超级权重也没用（0.163）——只有TaCQ判据挑的那批有效。两个彩蛋：①用通用网页文本算重要性效果一样好（临界集与任务无关）；②整通道保护（硬件友好）在Llama有效、14B失效（结构因模型而异）。这页的主旨：“知道什么重要”和“知道保护什么”是两回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要保护多少个？预算扫描：Llama在10万个处发生相变（1万不够0.25，10万就够0.67），14B的相变在30万个——都只占模型的十万分之一量级，且需求随模型变大。红色警告：保护太少反而更糟——14B只保10万个时0.216，比完全不保护的0.412还低，两个种子都复现。这只有“保护改变纠错轨迹”的机制才解释得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另一半结论：四个没崩溃的场景，一模一样的保护只带来+0.008到+0.033，统计检验全部与零无差别（对比崩溃时的+0.49/+0.37）。所以保护是急救包，不是万金油——文献只展示了它“有用”的一面，没人报告过它大多数时候没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页直接回答“WHEN是什么意思”：同一个模型内部沿bit阶梯看。Llama-8B：4位时轻伤（保护+0.008，无用），3位时崩溃（保护+0.49，救命）。Qwen-7B：8位无损、4位近无损、3位轻伤（保护+0.03，无用）、2位彻底毁灭（0.12，保护无用——加到10倍预算2%也只有0.13，救不活）。所以“何时”的答案是一个窗口：压得不够深没病可治；压进崩溃区保护决定生死；压到2位病入膏肓。加上第3页的跨模型轴（12模型只有2个崩）和发现4的算法轴（GPTQ崩、RTN不崩、旋转不崩），三个轴合起来的统一判据就是：保护只在“纠错在净行凶”的组合里有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严谨性页：每个对比都做了配对bootstrap——541道题重采样5000次出95%区间，区间跨零就判为噪声。表里绿色四行是真效应（两个救援、保护胜旋转、中间档Qwen-3B的小增益+0.074），灰色五行全是噪声（轻微档的所谓+3分统计上等于零）。这页是给审稿人的：我们自己先把统计做严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为什么崩：同一个Llama三种压法对比。笨办法RTN反而0.57（受伤但活着），聪明的GPTQ却0.15（崩了）——聪明反被聪明误。机制：GPTQ的纠错会把误差摊到其他权重上；模型里有约10万个超敏感权重（占0.001%，在原模型里把它们清零模型也会死），纠错一碰它们就把毒扩散到全网络。证据：事后把这10万个修回原值也救不活（0.16）——伤已经在网络其他地方了。所以保护必须在压缩过程中做，等于告诉纠错机制“这批别碰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全文最重要的一张表：六个模型，比较笨办法（RTN）和聪明办法（GPTQ）。前四行纠错在帮忙（+0.05到+0.28），这些模型上保护基本无用；后两行纠错在行凶（-0.42和-0.29），恰恰就是崩溃的两个，保护在这里救命。而且救援幅度约等于纠错造成的伤害（害0.42救回0.49、害0.29救回0.37）——保护的价值就是它拦下的纠错之害。一句话：跑一次RTN对比就能诊断该不该保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机制四连证：①事后修复失败——伤已扩散到网络其他部分；②临界权重在原模型里就致命（置零0.19 vs 随机置零0.78无损）；③保护太少反而有害（0.216&lt;0.412）——部分保护把纠错带进更糟的路径；④关掉GPTQ的处理顺序技巧照样崩——是交互本身的问题，不是顺序。四个证据从四个方向指向同一个机制：纠错×临界集的交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和最新技术的对比：旋转类方法（QuaRot等）压缩前把网络在数学上旋转一下，让极端值摊平。我们验证了旋转本身无损（0.785≈0.768）。结果：旋转确实防住崩溃（Llama 0.641、14B 0.665），在Llama上和保护打平，但在14B上输给保护0.117（统计显著）。所以“用旋转就行了”这个最危险的质疑，被我们自己的数据回答了。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更吓人的发现：这么严重的损坏，业界两个默认质检居然都看不出来。压缩后的14B有69%的回答变成复读机（画面上是真实输出），原版不到1%。但困惑度只涨35%（和无害情况一样）、MMLU选择题只掉6分（也和无害情况一样）。原因：这两个指标只测“逐词预测”，复读机只在模型连续自由生成时才发作。警示：压缩后必须用生成式任务测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能不能提前预测谁会崩？不能。业界流行理论把量化脆弱归因于“离群值”（模型内部的极端数值）。我们把所有候选预警信号在原模型上量了一遍：激活尖峰最大的Qwen-32B（19072）安然无恙，几乎没有尖峰的Llama-8B（324）反而崩了；重要性集中度最高的Mistral也没崩。数字完全交错，跨家族、族内都分不开。所以论文诚实声明：预测是开放问题，但检测很便宜——20道生成题就能查出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跨能力验证：同样的崩溃和救援在数学（GSM8K）上复现——Llama数学从0.843崩到0.002（千分之二！），保护救回0.616；14B从0.926崩到0.129，救回0.894（原始的97%）。右表是三轮对话（Multi-IF）：崩溃模型逐轮归零，保护后每轮都恢复。附加发现：多轮对话会把量化损伤逐轮放大（轻微档的Qwen-7B第1轮差0.09、第3轮差到0.15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总表：12个模型、四种处理（原始/笨压缩RTN/聪明压缩GPTQ/GPTQ+保护）外加保护增益和层次归类，一页看全。读法：从右往左——tier列先看是哪一档；崩溃两行（红）里GPTQ远差于RTN（纠错行凶）、保护增益巨大；其余各行保护增益全是噪声级。空格“—”表示该臂没跑（跑了也不改变结论，普查臂只需fp16和GPTQ两步）。被问任何具体数字时翻回这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论文四句话（加上WHEN规则是五句）：开头第0条是给实践者的一句话诊断：跑一次RTN对比，看纠错在帮忙还是行凶。其余：①压缩损伤分两种模式，轻微或崩溃，且无法从原模型预测（六个模型上证伪了所有已发表的预测指标）；②保护是崩溃修复工具而非通用增益，崩溃时它胜过包括最新旋转方法在内的所有替代方案；③元凶是压缩算法的纠错机制而非低精度本身；④评测警告：模型可能通过困惑度和MMLU检查但已丧失80%生成能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两篇最近的论文：TaCQ发明了我们用的重要性分数并展示保护有效——我们回答它没问的“何时、为何”；Super Weights是Mengxia学长的工作，发现每个模型有3-6个“超级权重”删一个就死——我们验证了只保护它们救不了GPTQ崩溃，崩溃涉及的是另外约10万个权重，两个工作互补不冲突。投稿：ICLR 2027（摘要9/18、全文9/25），被拒则带着审稿意见转投ACL 2027。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征求意见：①故事是否已经是一个干净的问题+干净的答案；②确认ICLR→ACL路线；③如何对接Mengxia的工作（打招呼还是引用即可）；④集群还可用，要不要补实验。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0;p2">
            <a:extLst>
              <a:ext uri="{FF2B5EF4-FFF2-40B4-BE49-F238E27FC236}">
                <a16:creationId xmlns:a16="http://schemas.microsoft.com/office/drawing/2014/main" id="{53F233AC-0510-266D-FCFF-ED178091ACEF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119750" y="1542900"/>
            <a:ext cx="6904500" cy="246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Font typeface="Georgia"/>
              <a:buNone/>
              <a:defRPr sz="6200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 dirty="0"/>
          </a:p>
        </p:txBody>
      </p:sp>
      <p:sp>
        <p:nvSpPr>
          <p:cNvPr id="8" name="Google Shape;11;p2">
            <a:extLst>
              <a:ext uri="{FF2B5EF4-FFF2-40B4-BE49-F238E27FC236}">
                <a16:creationId xmlns:a16="http://schemas.microsoft.com/office/drawing/2014/main" id="{EBA9A701-A8A7-7A94-C42F-AFF86B24D47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" name="Google Shape;12;p2">
            <a:extLst>
              <a:ext uri="{FF2B5EF4-FFF2-40B4-BE49-F238E27FC236}">
                <a16:creationId xmlns:a16="http://schemas.microsoft.com/office/drawing/2014/main" id="{406771D0-11A3-EF17-C573-EE63C1744858}"/>
              </a:ext>
            </a:extLst>
          </p:cNvPr>
          <p:cNvPicPr preferRelativeResize="0"/>
          <p:nvPr userDrawn="1"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39975" y="3517275"/>
            <a:ext cx="2064040" cy="8411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4003217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6;p3">
            <a:extLst>
              <a:ext uri="{FF2B5EF4-FFF2-40B4-BE49-F238E27FC236}">
                <a16:creationId xmlns:a16="http://schemas.microsoft.com/office/drawing/2014/main" id="{D873DB60-2845-4283-B9B0-33688CF76713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038100" y="900650"/>
            <a:ext cx="4730183" cy="246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Font typeface="Georgia"/>
              <a:buNone/>
              <a:defRPr sz="6200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 dirty="0"/>
          </a:p>
        </p:txBody>
      </p:sp>
      <p:sp>
        <p:nvSpPr>
          <p:cNvPr id="8" name="Google Shape;17;p3">
            <a:extLst>
              <a:ext uri="{FF2B5EF4-FFF2-40B4-BE49-F238E27FC236}">
                <a16:creationId xmlns:a16="http://schemas.microsoft.com/office/drawing/2014/main" id="{74931D05-9E21-F408-1459-67459AEB3BF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108450" y="3444184"/>
            <a:ext cx="3910800" cy="1183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000"/>
              <a:buNone/>
              <a:defRPr sz="2000">
                <a:solidFill>
                  <a:schemeClr val="accen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974371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20;p4">
            <a:extLst>
              <a:ext uri="{FF2B5EF4-FFF2-40B4-BE49-F238E27FC236}">
                <a16:creationId xmlns:a16="http://schemas.microsoft.com/office/drawing/2014/main" id="{7B8921AA-03BC-05A8-8CE2-0FCF8183B09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645850" y="2345700"/>
            <a:ext cx="16719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21;p4">
            <a:extLst>
              <a:ext uri="{FF2B5EF4-FFF2-40B4-BE49-F238E27FC236}">
                <a16:creationId xmlns:a16="http://schemas.microsoft.com/office/drawing/2014/main" id="{27E39A30-1A52-CABC-F51D-19833C97CC06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6317750" y="2345700"/>
            <a:ext cx="16719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9" name="Google Shape;22;p4">
            <a:extLst>
              <a:ext uri="{FF2B5EF4-FFF2-40B4-BE49-F238E27FC236}">
                <a16:creationId xmlns:a16="http://schemas.microsoft.com/office/drawing/2014/main" id="{CFC7DBD6-46F0-3242-09EE-0A1B092852E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77550" y="1174125"/>
            <a:ext cx="3768300" cy="239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/>
          </a:p>
        </p:txBody>
      </p:sp>
      <p:sp>
        <p:nvSpPr>
          <p:cNvPr id="10" name="Google Shape;23;p4">
            <a:extLst>
              <a:ext uri="{FF2B5EF4-FFF2-40B4-BE49-F238E27FC236}">
                <a16:creationId xmlns:a16="http://schemas.microsoft.com/office/drawing/2014/main" id="{7BCEE1F1-BB5E-9A39-3B30-44642D273A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87900" y="141075"/>
            <a:ext cx="3768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12" name="Google Shape;25;p4">
            <a:extLst>
              <a:ext uri="{FF2B5EF4-FFF2-40B4-BE49-F238E27FC236}">
                <a16:creationId xmlns:a16="http://schemas.microsoft.com/office/drawing/2014/main" id="{CBD50D83-3B66-E823-1283-5D2C6AF07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243858" y="1066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buNone/>
              <a:defRPr>
                <a:solidFill>
                  <a:schemeClr val="accent2"/>
                </a:solidFill>
              </a:defRPr>
            </a:lvl1pPr>
            <a:lvl2pPr lvl="1" rtl="0">
              <a:buNone/>
              <a:defRPr>
                <a:solidFill>
                  <a:schemeClr val="accent2"/>
                </a:solidFill>
              </a:defRPr>
            </a:lvl2pPr>
            <a:lvl3pPr lvl="2" rtl="0">
              <a:buNone/>
              <a:defRPr>
                <a:solidFill>
                  <a:schemeClr val="accent2"/>
                </a:solidFill>
              </a:defRPr>
            </a:lvl3pPr>
            <a:lvl4pPr lvl="3" rtl="0">
              <a:buNone/>
              <a:defRPr>
                <a:solidFill>
                  <a:schemeClr val="accent2"/>
                </a:solidFill>
              </a:defRPr>
            </a:lvl4pPr>
            <a:lvl5pPr lvl="4" rtl="0">
              <a:buNone/>
              <a:defRPr>
                <a:solidFill>
                  <a:schemeClr val="accent2"/>
                </a:solidFill>
              </a:defRPr>
            </a:lvl5pPr>
            <a:lvl6pPr lvl="5" rtl="0">
              <a:buNone/>
              <a:defRPr>
                <a:solidFill>
                  <a:schemeClr val="accent2"/>
                </a:solidFill>
              </a:defRPr>
            </a:lvl6pPr>
            <a:lvl7pPr lvl="6" rtl="0">
              <a:buNone/>
              <a:defRPr>
                <a:solidFill>
                  <a:schemeClr val="accent2"/>
                </a:solidFill>
              </a:defRPr>
            </a:lvl7pPr>
            <a:lvl8pPr lvl="7" rtl="0">
              <a:buNone/>
              <a:defRPr>
                <a:solidFill>
                  <a:schemeClr val="accent2"/>
                </a:solidFill>
              </a:defRPr>
            </a:lvl8pPr>
            <a:lvl9pPr lvl="8" rtl="0">
              <a:buNone/>
              <a:defRPr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607724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23;p4">
            <a:extLst>
              <a:ext uri="{FF2B5EF4-FFF2-40B4-BE49-F238E27FC236}">
                <a16:creationId xmlns:a16="http://schemas.microsoft.com/office/drawing/2014/main" id="{7BCEE1F1-BB5E-9A39-3B30-44642D273A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87900" y="141075"/>
            <a:ext cx="3768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12" name="Google Shape;25;p4">
            <a:extLst>
              <a:ext uri="{FF2B5EF4-FFF2-40B4-BE49-F238E27FC236}">
                <a16:creationId xmlns:a16="http://schemas.microsoft.com/office/drawing/2014/main" id="{CBD50D83-3B66-E823-1283-5D2C6AF07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243858" y="1066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buNone/>
              <a:defRPr>
                <a:solidFill>
                  <a:schemeClr val="accent2"/>
                </a:solidFill>
              </a:defRPr>
            </a:lvl1pPr>
            <a:lvl2pPr lvl="1" rtl="0">
              <a:buNone/>
              <a:defRPr>
                <a:solidFill>
                  <a:schemeClr val="accent2"/>
                </a:solidFill>
              </a:defRPr>
            </a:lvl2pPr>
            <a:lvl3pPr lvl="2" rtl="0">
              <a:buNone/>
              <a:defRPr>
                <a:solidFill>
                  <a:schemeClr val="accent2"/>
                </a:solidFill>
              </a:defRPr>
            </a:lvl3pPr>
            <a:lvl4pPr lvl="3" rtl="0">
              <a:buNone/>
              <a:defRPr>
                <a:solidFill>
                  <a:schemeClr val="accent2"/>
                </a:solidFill>
              </a:defRPr>
            </a:lvl4pPr>
            <a:lvl5pPr lvl="4" rtl="0">
              <a:buNone/>
              <a:defRPr>
                <a:solidFill>
                  <a:schemeClr val="accent2"/>
                </a:solidFill>
              </a:defRPr>
            </a:lvl5pPr>
            <a:lvl6pPr lvl="5" rtl="0">
              <a:buNone/>
              <a:defRPr>
                <a:solidFill>
                  <a:schemeClr val="accent2"/>
                </a:solidFill>
              </a:defRPr>
            </a:lvl6pPr>
            <a:lvl7pPr lvl="6" rtl="0">
              <a:buNone/>
              <a:defRPr>
                <a:solidFill>
                  <a:schemeClr val="accent2"/>
                </a:solidFill>
              </a:defRPr>
            </a:lvl7pPr>
            <a:lvl8pPr lvl="7" rtl="0">
              <a:buNone/>
              <a:defRPr>
                <a:solidFill>
                  <a:schemeClr val="accent2"/>
                </a:solidFill>
              </a:defRPr>
            </a:lvl8pPr>
            <a:lvl9pPr lvl="8" rtl="0">
              <a:buNone/>
              <a:defRPr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" name="Google Shape;27;p5">
            <a:extLst>
              <a:ext uri="{FF2B5EF4-FFF2-40B4-BE49-F238E27FC236}">
                <a16:creationId xmlns:a16="http://schemas.microsoft.com/office/drawing/2014/main" id="{4092F99A-727D-0C7F-193F-34116CE16B6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77550" y="1081900"/>
            <a:ext cx="6306600" cy="159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/>
          </a:p>
        </p:txBody>
      </p:sp>
      <p:sp>
        <p:nvSpPr>
          <p:cNvPr id="3" name="Google Shape;28;p5">
            <a:extLst>
              <a:ext uri="{FF2B5EF4-FFF2-40B4-BE49-F238E27FC236}">
                <a16:creationId xmlns:a16="http://schemas.microsoft.com/office/drawing/2014/main" id="{2F9AE3FA-8A49-71C7-6EDC-1AAC78FA13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601850" y="2770900"/>
            <a:ext cx="25983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cxnSp>
        <p:nvCxnSpPr>
          <p:cNvPr id="4" name="Google Shape;29;p5">
            <a:extLst>
              <a:ext uri="{FF2B5EF4-FFF2-40B4-BE49-F238E27FC236}">
                <a16:creationId xmlns:a16="http://schemas.microsoft.com/office/drawing/2014/main" id="{80A249F5-85E5-82EA-5EE3-723221E6350F}"/>
              </a:ext>
            </a:extLst>
          </p:cNvPr>
          <p:cNvCxnSpPr/>
          <p:nvPr userDrawn="1"/>
        </p:nvCxnSpPr>
        <p:spPr>
          <a:xfrm>
            <a:off x="4572000" y="2734725"/>
            <a:ext cx="0" cy="1852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" name="Google Shape;30;p5">
            <a:extLst>
              <a:ext uri="{FF2B5EF4-FFF2-40B4-BE49-F238E27FC236}">
                <a16:creationId xmlns:a16="http://schemas.microsoft.com/office/drawing/2014/main" id="{0B1D5D14-474F-A0D0-5057-FAE028584EF8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4954675" y="2770900"/>
            <a:ext cx="25983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9783092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23;p4">
            <a:extLst>
              <a:ext uri="{FF2B5EF4-FFF2-40B4-BE49-F238E27FC236}">
                <a16:creationId xmlns:a16="http://schemas.microsoft.com/office/drawing/2014/main" id="{7BCEE1F1-BB5E-9A39-3B30-44642D273A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87900" y="141075"/>
            <a:ext cx="3768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12" name="Google Shape;25;p4">
            <a:extLst>
              <a:ext uri="{FF2B5EF4-FFF2-40B4-BE49-F238E27FC236}">
                <a16:creationId xmlns:a16="http://schemas.microsoft.com/office/drawing/2014/main" id="{CBD50D83-3B66-E823-1283-5D2C6AF07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243858" y="1066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buNone/>
              <a:defRPr>
                <a:solidFill>
                  <a:schemeClr val="accent2"/>
                </a:solidFill>
              </a:defRPr>
            </a:lvl1pPr>
            <a:lvl2pPr lvl="1" rtl="0">
              <a:buNone/>
              <a:defRPr>
                <a:solidFill>
                  <a:schemeClr val="accent2"/>
                </a:solidFill>
              </a:defRPr>
            </a:lvl2pPr>
            <a:lvl3pPr lvl="2" rtl="0">
              <a:buNone/>
              <a:defRPr>
                <a:solidFill>
                  <a:schemeClr val="accent2"/>
                </a:solidFill>
              </a:defRPr>
            </a:lvl3pPr>
            <a:lvl4pPr lvl="3" rtl="0">
              <a:buNone/>
              <a:defRPr>
                <a:solidFill>
                  <a:schemeClr val="accent2"/>
                </a:solidFill>
              </a:defRPr>
            </a:lvl4pPr>
            <a:lvl5pPr lvl="4" rtl="0">
              <a:buNone/>
              <a:defRPr>
                <a:solidFill>
                  <a:schemeClr val="accent2"/>
                </a:solidFill>
              </a:defRPr>
            </a:lvl5pPr>
            <a:lvl6pPr lvl="5" rtl="0">
              <a:buNone/>
              <a:defRPr>
                <a:solidFill>
                  <a:schemeClr val="accent2"/>
                </a:solidFill>
              </a:defRPr>
            </a:lvl6pPr>
            <a:lvl7pPr lvl="6" rtl="0">
              <a:buNone/>
              <a:defRPr>
                <a:solidFill>
                  <a:schemeClr val="accent2"/>
                </a:solidFill>
              </a:defRPr>
            </a:lvl7pPr>
            <a:lvl8pPr lvl="7" rtl="0">
              <a:buNone/>
              <a:defRPr>
                <a:solidFill>
                  <a:schemeClr val="accent2"/>
                </a:solidFill>
              </a:defRPr>
            </a:lvl8pPr>
            <a:lvl9pPr lvl="8" rtl="0">
              <a:buNone/>
              <a:defRPr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" name="Google Shape;34;p6">
            <a:extLst>
              <a:ext uri="{FF2B5EF4-FFF2-40B4-BE49-F238E27FC236}">
                <a16:creationId xmlns:a16="http://schemas.microsoft.com/office/drawing/2014/main" id="{5FC66DFF-8561-60DB-A937-68A4ABF497D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080000" y="2483800"/>
            <a:ext cx="18288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35;p6">
            <a:extLst>
              <a:ext uri="{FF2B5EF4-FFF2-40B4-BE49-F238E27FC236}">
                <a16:creationId xmlns:a16="http://schemas.microsoft.com/office/drawing/2014/main" id="{EFF21C56-7AF9-66E6-BCA4-D7F0B9C4E515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6338850" y="2483800"/>
            <a:ext cx="18288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36;p6">
            <a:extLst>
              <a:ext uri="{FF2B5EF4-FFF2-40B4-BE49-F238E27FC236}">
                <a16:creationId xmlns:a16="http://schemas.microsoft.com/office/drawing/2014/main" id="{94C6C7E4-002D-CC99-987D-28B937BED48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6950" y="1081900"/>
            <a:ext cx="2562600" cy="371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/>
          </a:p>
        </p:txBody>
      </p:sp>
      <p:sp>
        <p:nvSpPr>
          <p:cNvPr id="9" name="Google Shape;37;p6">
            <a:extLst>
              <a:ext uri="{FF2B5EF4-FFF2-40B4-BE49-F238E27FC236}">
                <a16:creationId xmlns:a16="http://schemas.microsoft.com/office/drawing/2014/main" id="{AC5C48E9-8BD4-498A-FFD8-418F505EC664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4284525" y="1103600"/>
            <a:ext cx="1107000" cy="1107000"/>
          </a:xfrm>
          <a:prstGeom prst="ellipse">
            <a:avLst/>
          </a:prstGeom>
          <a:noFill/>
          <a:ln>
            <a:noFill/>
          </a:ln>
        </p:spPr>
      </p:sp>
      <p:sp>
        <p:nvSpPr>
          <p:cNvPr id="11" name="Google Shape;38;p6">
            <a:extLst>
              <a:ext uri="{FF2B5EF4-FFF2-40B4-BE49-F238E27FC236}">
                <a16:creationId xmlns:a16="http://schemas.microsoft.com/office/drawing/2014/main" id="{117E4942-88B2-F745-6083-7C627D6325B6}"/>
              </a:ext>
            </a:extLst>
          </p:cNvPr>
          <p:cNvSpPr>
            <a:spLocks noGrp="1"/>
          </p:cNvSpPr>
          <p:nvPr>
            <p:ph type="pic" idx="4"/>
          </p:nvPr>
        </p:nvSpPr>
        <p:spPr>
          <a:xfrm>
            <a:off x="6543375" y="1103600"/>
            <a:ext cx="1107000" cy="1107000"/>
          </a:xfrm>
          <a:prstGeom prst="ellipse">
            <a:avLst/>
          </a:prstGeom>
          <a:noFill/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35830837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23;p4">
            <a:extLst>
              <a:ext uri="{FF2B5EF4-FFF2-40B4-BE49-F238E27FC236}">
                <a16:creationId xmlns:a16="http://schemas.microsoft.com/office/drawing/2014/main" id="{7BCEE1F1-BB5E-9A39-3B30-44642D273A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87900" y="141075"/>
            <a:ext cx="3768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12" name="Google Shape;25;p4">
            <a:extLst>
              <a:ext uri="{FF2B5EF4-FFF2-40B4-BE49-F238E27FC236}">
                <a16:creationId xmlns:a16="http://schemas.microsoft.com/office/drawing/2014/main" id="{CBD50D83-3B66-E823-1283-5D2C6AF07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243858" y="1066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buNone/>
              <a:defRPr>
                <a:solidFill>
                  <a:schemeClr val="accent2"/>
                </a:solidFill>
              </a:defRPr>
            </a:lvl1pPr>
            <a:lvl2pPr lvl="1" rtl="0">
              <a:buNone/>
              <a:defRPr>
                <a:solidFill>
                  <a:schemeClr val="accent2"/>
                </a:solidFill>
              </a:defRPr>
            </a:lvl2pPr>
            <a:lvl3pPr lvl="2" rtl="0">
              <a:buNone/>
              <a:defRPr>
                <a:solidFill>
                  <a:schemeClr val="accent2"/>
                </a:solidFill>
              </a:defRPr>
            </a:lvl3pPr>
            <a:lvl4pPr lvl="3" rtl="0">
              <a:buNone/>
              <a:defRPr>
                <a:solidFill>
                  <a:schemeClr val="accent2"/>
                </a:solidFill>
              </a:defRPr>
            </a:lvl4pPr>
            <a:lvl5pPr lvl="4" rtl="0">
              <a:buNone/>
              <a:defRPr>
                <a:solidFill>
                  <a:schemeClr val="accent2"/>
                </a:solidFill>
              </a:defRPr>
            </a:lvl5pPr>
            <a:lvl6pPr lvl="5" rtl="0">
              <a:buNone/>
              <a:defRPr>
                <a:solidFill>
                  <a:schemeClr val="accent2"/>
                </a:solidFill>
              </a:defRPr>
            </a:lvl6pPr>
            <a:lvl7pPr lvl="6" rtl="0">
              <a:buNone/>
              <a:defRPr>
                <a:solidFill>
                  <a:schemeClr val="accent2"/>
                </a:solidFill>
              </a:defRPr>
            </a:lvl7pPr>
            <a:lvl8pPr lvl="7" rtl="0">
              <a:buNone/>
              <a:defRPr>
                <a:solidFill>
                  <a:schemeClr val="accent2"/>
                </a:solidFill>
              </a:defRPr>
            </a:lvl8pPr>
            <a:lvl9pPr lvl="8" rtl="0">
              <a:buNone/>
              <a:defRPr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" name="Google Shape;42;p7">
            <a:extLst>
              <a:ext uri="{FF2B5EF4-FFF2-40B4-BE49-F238E27FC236}">
                <a16:creationId xmlns:a16="http://schemas.microsoft.com/office/drawing/2014/main" id="{BD6370DA-F18F-B9CF-6F9E-D2D405AC009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080000" y="2560000"/>
            <a:ext cx="18288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" name="Google Shape;43;p7">
            <a:extLst>
              <a:ext uri="{FF2B5EF4-FFF2-40B4-BE49-F238E27FC236}">
                <a16:creationId xmlns:a16="http://schemas.microsoft.com/office/drawing/2014/main" id="{3DAFA47F-8E25-D3EA-5FAC-4C45713CCB56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6338850" y="2560000"/>
            <a:ext cx="18288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" name="Google Shape;44;p7">
            <a:extLst>
              <a:ext uri="{FF2B5EF4-FFF2-40B4-BE49-F238E27FC236}">
                <a16:creationId xmlns:a16="http://schemas.microsoft.com/office/drawing/2014/main" id="{83A41736-C4EC-2907-33B2-A8ECE7401E9B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4049850" y="1080100"/>
            <a:ext cx="1889100" cy="1251300"/>
          </a:xfrm>
          <a:prstGeom prst="rect">
            <a:avLst/>
          </a:prstGeom>
          <a:noFill/>
          <a:ln>
            <a:noFill/>
          </a:ln>
        </p:spPr>
      </p:sp>
      <p:sp>
        <p:nvSpPr>
          <p:cNvPr id="5" name="Google Shape;45;p7">
            <a:extLst>
              <a:ext uri="{FF2B5EF4-FFF2-40B4-BE49-F238E27FC236}">
                <a16:creationId xmlns:a16="http://schemas.microsoft.com/office/drawing/2014/main" id="{239232F9-A89D-ACB2-8A6C-241019DDE049}"/>
              </a:ext>
            </a:extLst>
          </p:cNvPr>
          <p:cNvSpPr>
            <a:spLocks noGrp="1"/>
          </p:cNvSpPr>
          <p:nvPr>
            <p:ph type="pic" idx="4"/>
          </p:nvPr>
        </p:nvSpPr>
        <p:spPr>
          <a:xfrm>
            <a:off x="6308700" y="1080100"/>
            <a:ext cx="1889100" cy="1251300"/>
          </a:xfrm>
          <a:prstGeom prst="rect">
            <a:avLst/>
          </a:prstGeom>
          <a:noFill/>
          <a:ln>
            <a:noFill/>
          </a:ln>
        </p:spPr>
      </p:sp>
      <p:sp>
        <p:nvSpPr>
          <p:cNvPr id="13" name="Google Shape;48;p7">
            <a:extLst>
              <a:ext uri="{FF2B5EF4-FFF2-40B4-BE49-F238E27FC236}">
                <a16:creationId xmlns:a16="http://schemas.microsoft.com/office/drawing/2014/main" id="{5DFF0D8A-48DF-28FF-EBA3-5D8D0870DB1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6950" y="1081900"/>
            <a:ext cx="2562600" cy="371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148505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23;p4">
            <a:extLst>
              <a:ext uri="{FF2B5EF4-FFF2-40B4-BE49-F238E27FC236}">
                <a16:creationId xmlns:a16="http://schemas.microsoft.com/office/drawing/2014/main" id="{7BCEE1F1-BB5E-9A39-3B30-44642D273A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87900" y="141075"/>
            <a:ext cx="3768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12" name="Google Shape;25;p4">
            <a:extLst>
              <a:ext uri="{FF2B5EF4-FFF2-40B4-BE49-F238E27FC236}">
                <a16:creationId xmlns:a16="http://schemas.microsoft.com/office/drawing/2014/main" id="{CBD50D83-3B66-E823-1283-5D2C6AF07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243858" y="1066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buNone/>
              <a:defRPr>
                <a:solidFill>
                  <a:schemeClr val="accent2"/>
                </a:solidFill>
              </a:defRPr>
            </a:lvl1pPr>
            <a:lvl2pPr lvl="1" rtl="0">
              <a:buNone/>
              <a:defRPr>
                <a:solidFill>
                  <a:schemeClr val="accent2"/>
                </a:solidFill>
              </a:defRPr>
            </a:lvl2pPr>
            <a:lvl3pPr lvl="2" rtl="0">
              <a:buNone/>
              <a:defRPr>
                <a:solidFill>
                  <a:schemeClr val="accent2"/>
                </a:solidFill>
              </a:defRPr>
            </a:lvl3pPr>
            <a:lvl4pPr lvl="3" rtl="0">
              <a:buNone/>
              <a:defRPr>
                <a:solidFill>
                  <a:schemeClr val="accent2"/>
                </a:solidFill>
              </a:defRPr>
            </a:lvl4pPr>
            <a:lvl5pPr lvl="4" rtl="0">
              <a:buNone/>
              <a:defRPr>
                <a:solidFill>
                  <a:schemeClr val="accent2"/>
                </a:solidFill>
              </a:defRPr>
            </a:lvl5pPr>
            <a:lvl6pPr lvl="5" rtl="0">
              <a:buNone/>
              <a:defRPr>
                <a:solidFill>
                  <a:schemeClr val="accent2"/>
                </a:solidFill>
              </a:defRPr>
            </a:lvl6pPr>
            <a:lvl7pPr lvl="6" rtl="0">
              <a:buNone/>
              <a:defRPr>
                <a:solidFill>
                  <a:schemeClr val="accent2"/>
                </a:solidFill>
              </a:defRPr>
            </a:lvl7pPr>
            <a:lvl8pPr lvl="7" rtl="0">
              <a:buNone/>
              <a:defRPr>
                <a:solidFill>
                  <a:schemeClr val="accent2"/>
                </a:solidFill>
              </a:defRPr>
            </a:lvl8pPr>
            <a:lvl9pPr lvl="8" rtl="0">
              <a:buNone/>
              <a:defRPr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" name="Google Shape;50;p8">
            <a:extLst>
              <a:ext uri="{FF2B5EF4-FFF2-40B4-BE49-F238E27FC236}">
                <a16:creationId xmlns:a16="http://schemas.microsoft.com/office/drawing/2014/main" id="{4185BD83-7301-7FFC-E73C-F7FEFCF7CDF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77550" y="1174125"/>
            <a:ext cx="3768300" cy="239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/>
          </a:p>
        </p:txBody>
      </p:sp>
      <p:sp>
        <p:nvSpPr>
          <p:cNvPr id="7" name="Google Shape;51;p8">
            <a:extLst>
              <a:ext uri="{FF2B5EF4-FFF2-40B4-BE49-F238E27FC236}">
                <a16:creationId xmlns:a16="http://schemas.microsoft.com/office/drawing/2014/main" id="{9B77F4B2-CBBE-CE5B-9A8D-A9EB7403A0D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794350" y="3504825"/>
            <a:ext cx="22857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52;p8">
            <a:extLst>
              <a:ext uri="{FF2B5EF4-FFF2-40B4-BE49-F238E27FC236}">
                <a16:creationId xmlns:a16="http://schemas.microsoft.com/office/drawing/2014/main" id="{9254004C-2368-C3C8-DFF7-38F96A4C70DB}"/>
              </a:ext>
            </a:extLst>
          </p:cNvPr>
          <p:cNvSpPr>
            <a:spLocks noGrp="1"/>
          </p:cNvSpPr>
          <p:nvPr>
            <p:ph type="pic" idx="2"/>
          </p:nvPr>
        </p:nvSpPr>
        <p:spPr>
          <a:xfrm>
            <a:off x="4657375" y="1435325"/>
            <a:ext cx="4486500" cy="2875500"/>
          </a:xfrm>
          <a:prstGeom prst="rect">
            <a:avLst/>
          </a:prstGeom>
          <a:noFill/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16042206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23;p4">
            <a:extLst>
              <a:ext uri="{FF2B5EF4-FFF2-40B4-BE49-F238E27FC236}">
                <a16:creationId xmlns:a16="http://schemas.microsoft.com/office/drawing/2014/main" id="{7BCEE1F1-BB5E-9A39-3B30-44642D273A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87900" y="141075"/>
            <a:ext cx="3768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12" name="Google Shape;25;p4">
            <a:extLst>
              <a:ext uri="{FF2B5EF4-FFF2-40B4-BE49-F238E27FC236}">
                <a16:creationId xmlns:a16="http://schemas.microsoft.com/office/drawing/2014/main" id="{CBD50D83-3B66-E823-1283-5D2C6AF07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243858" y="1066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buNone/>
              <a:defRPr>
                <a:solidFill>
                  <a:schemeClr val="accent2"/>
                </a:solidFill>
              </a:defRPr>
            </a:lvl1pPr>
            <a:lvl2pPr lvl="1" rtl="0">
              <a:buNone/>
              <a:defRPr>
                <a:solidFill>
                  <a:schemeClr val="accent2"/>
                </a:solidFill>
              </a:defRPr>
            </a:lvl2pPr>
            <a:lvl3pPr lvl="2" rtl="0">
              <a:buNone/>
              <a:defRPr>
                <a:solidFill>
                  <a:schemeClr val="accent2"/>
                </a:solidFill>
              </a:defRPr>
            </a:lvl3pPr>
            <a:lvl4pPr lvl="3" rtl="0">
              <a:buNone/>
              <a:defRPr>
                <a:solidFill>
                  <a:schemeClr val="accent2"/>
                </a:solidFill>
              </a:defRPr>
            </a:lvl4pPr>
            <a:lvl5pPr lvl="4" rtl="0">
              <a:buNone/>
              <a:defRPr>
                <a:solidFill>
                  <a:schemeClr val="accent2"/>
                </a:solidFill>
              </a:defRPr>
            </a:lvl5pPr>
            <a:lvl6pPr lvl="5" rtl="0">
              <a:buNone/>
              <a:defRPr>
                <a:solidFill>
                  <a:schemeClr val="accent2"/>
                </a:solidFill>
              </a:defRPr>
            </a:lvl6pPr>
            <a:lvl7pPr lvl="6" rtl="0">
              <a:buNone/>
              <a:defRPr>
                <a:solidFill>
                  <a:schemeClr val="accent2"/>
                </a:solidFill>
              </a:defRPr>
            </a:lvl7pPr>
            <a:lvl8pPr lvl="7" rtl="0">
              <a:buNone/>
              <a:defRPr>
                <a:solidFill>
                  <a:schemeClr val="accent2"/>
                </a:solidFill>
              </a:defRPr>
            </a:lvl8pPr>
            <a:lvl9pPr lvl="8" rtl="0">
              <a:buNone/>
              <a:defRPr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" name="Google Shape;53;p8">
            <a:extLst>
              <a:ext uri="{FF2B5EF4-FFF2-40B4-BE49-F238E27FC236}">
                <a16:creationId xmlns:a16="http://schemas.microsoft.com/office/drawing/2014/main" id="{7AAB6B8E-1814-24D5-F727-C528E7D90CE7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964175" y="2325650"/>
            <a:ext cx="1936500" cy="203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" name="Google Shape;54;p8">
            <a:extLst>
              <a:ext uri="{FF2B5EF4-FFF2-40B4-BE49-F238E27FC236}">
                <a16:creationId xmlns:a16="http://schemas.microsoft.com/office/drawing/2014/main" id="{5006C48F-0795-9DCF-9885-5A7CCA2A2D76}"/>
              </a:ext>
            </a:extLst>
          </p:cNvPr>
          <p:cNvSpPr txBox="1">
            <a:spLocks noGrp="1"/>
          </p:cNvSpPr>
          <p:nvPr>
            <p:ph type="body" idx="13"/>
          </p:nvPr>
        </p:nvSpPr>
        <p:spPr>
          <a:xfrm>
            <a:off x="3328700" y="2325650"/>
            <a:ext cx="1936500" cy="203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" name="Google Shape;55;p8">
            <a:extLst>
              <a:ext uri="{FF2B5EF4-FFF2-40B4-BE49-F238E27FC236}">
                <a16:creationId xmlns:a16="http://schemas.microsoft.com/office/drawing/2014/main" id="{06D408E1-D8EC-F8EE-8FBD-D508720805FB}"/>
              </a:ext>
            </a:extLst>
          </p:cNvPr>
          <p:cNvSpPr txBox="1">
            <a:spLocks noGrp="1"/>
          </p:cNvSpPr>
          <p:nvPr>
            <p:ph type="body" idx="4"/>
          </p:nvPr>
        </p:nvSpPr>
        <p:spPr>
          <a:xfrm>
            <a:off x="5693225" y="2325650"/>
            <a:ext cx="1936500" cy="203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" name="Google Shape;58;p8">
            <a:extLst>
              <a:ext uri="{FF2B5EF4-FFF2-40B4-BE49-F238E27FC236}">
                <a16:creationId xmlns:a16="http://schemas.microsoft.com/office/drawing/2014/main" id="{EA36A0E3-007D-E420-AA92-D94611843340}"/>
              </a:ext>
            </a:extLst>
          </p:cNvPr>
          <p:cNvSpPr txBox="1"/>
          <p:nvPr userDrawn="1"/>
        </p:nvSpPr>
        <p:spPr>
          <a:xfrm>
            <a:off x="1562578" y="915325"/>
            <a:ext cx="469593" cy="129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200" dirty="0">
                <a:solidFill>
                  <a:schemeClr val="accent2"/>
                </a:solidFill>
              </a:rPr>
              <a:t>1</a:t>
            </a:r>
            <a:endParaRPr sz="7200" dirty="0">
              <a:solidFill>
                <a:schemeClr val="accent2"/>
              </a:solidFill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56B7F64-E26E-961A-4C60-2161B925AC42}"/>
              </a:ext>
            </a:extLst>
          </p:cNvPr>
          <p:cNvSpPr/>
          <p:nvPr userDrawn="1"/>
        </p:nvSpPr>
        <p:spPr>
          <a:xfrm>
            <a:off x="1252769" y="1009969"/>
            <a:ext cx="1089212" cy="1089212"/>
          </a:xfrm>
          <a:prstGeom prst="ellipse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Google Shape;58;p8">
            <a:extLst>
              <a:ext uri="{FF2B5EF4-FFF2-40B4-BE49-F238E27FC236}">
                <a16:creationId xmlns:a16="http://schemas.microsoft.com/office/drawing/2014/main" id="{ED7DFD84-16EE-897A-F788-87370B160857}"/>
              </a:ext>
            </a:extLst>
          </p:cNvPr>
          <p:cNvSpPr txBox="1"/>
          <p:nvPr userDrawn="1"/>
        </p:nvSpPr>
        <p:spPr>
          <a:xfrm>
            <a:off x="3913329" y="915325"/>
            <a:ext cx="469593" cy="129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200" dirty="0">
                <a:solidFill>
                  <a:schemeClr val="accent2"/>
                </a:solidFill>
              </a:rPr>
              <a:t>2</a:t>
            </a:r>
            <a:endParaRPr sz="7200" dirty="0">
              <a:solidFill>
                <a:schemeClr val="accent2"/>
              </a:solidFill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1B1DE8F7-EFD7-20C5-C9C3-9769E90E9BBB}"/>
              </a:ext>
            </a:extLst>
          </p:cNvPr>
          <p:cNvSpPr/>
          <p:nvPr userDrawn="1"/>
        </p:nvSpPr>
        <p:spPr>
          <a:xfrm>
            <a:off x="3603520" y="1009969"/>
            <a:ext cx="1089212" cy="1089212"/>
          </a:xfrm>
          <a:prstGeom prst="ellipse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Google Shape;58;p8">
            <a:extLst>
              <a:ext uri="{FF2B5EF4-FFF2-40B4-BE49-F238E27FC236}">
                <a16:creationId xmlns:a16="http://schemas.microsoft.com/office/drawing/2014/main" id="{12CD22A9-C77F-0E37-F41A-FD3B0AC1D37A}"/>
              </a:ext>
            </a:extLst>
          </p:cNvPr>
          <p:cNvSpPr txBox="1"/>
          <p:nvPr userDrawn="1"/>
        </p:nvSpPr>
        <p:spPr>
          <a:xfrm>
            <a:off x="6264081" y="915325"/>
            <a:ext cx="469593" cy="129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200" dirty="0">
                <a:solidFill>
                  <a:schemeClr val="accent2"/>
                </a:solidFill>
              </a:rPr>
              <a:t>3</a:t>
            </a:r>
            <a:endParaRPr sz="7200" dirty="0">
              <a:solidFill>
                <a:schemeClr val="accent2"/>
              </a:solidFill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19A5766C-C98A-4511-B9BB-B7A84A8C4F78}"/>
              </a:ext>
            </a:extLst>
          </p:cNvPr>
          <p:cNvSpPr/>
          <p:nvPr userDrawn="1"/>
        </p:nvSpPr>
        <p:spPr>
          <a:xfrm>
            <a:off x="5954272" y="1009969"/>
            <a:ext cx="1089212" cy="1089212"/>
          </a:xfrm>
          <a:prstGeom prst="ellipse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58457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23;p4">
            <a:extLst>
              <a:ext uri="{FF2B5EF4-FFF2-40B4-BE49-F238E27FC236}">
                <a16:creationId xmlns:a16="http://schemas.microsoft.com/office/drawing/2014/main" id="{7BCEE1F1-BB5E-9A39-3B30-44642D273A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87900" y="141075"/>
            <a:ext cx="3768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12" name="Google Shape;25;p4">
            <a:extLst>
              <a:ext uri="{FF2B5EF4-FFF2-40B4-BE49-F238E27FC236}">
                <a16:creationId xmlns:a16="http://schemas.microsoft.com/office/drawing/2014/main" id="{CBD50D83-3B66-E823-1283-5D2C6AF07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243858" y="1066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buNone/>
              <a:defRPr>
                <a:solidFill>
                  <a:schemeClr val="accent2"/>
                </a:solidFill>
              </a:defRPr>
            </a:lvl1pPr>
            <a:lvl2pPr lvl="1" rtl="0">
              <a:buNone/>
              <a:defRPr>
                <a:solidFill>
                  <a:schemeClr val="accent2"/>
                </a:solidFill>
              </a:defRPr>
            </a:lvl2pPr>
            <a:lvl3pPr lvl="2" rtl="0">
              <a:buNone/>
              <a:defRPr>
                <a:solidFill>
                  <a:schemeClr val="accent2"/>
                </a:solidFill>
              </a:defRPr>
            </a:lvl3pPr>
            <a:lvl4pPr lvl="3" rtl="0">
              <a:buNone/>
              <a:defRPr>
                <a:solidFill>
                  <a:schemeClr val="accent2"/>
                </a:solidFill>
              </a:defRPr>
            </a:lvl4pPr>
            <a:lvl5pPr lvl="4" rtl="0">
              <a:buNone/>
              <a:defRPr>
                <a:solidFill>
                  <a:schemeClr val="accent2"/>
                </a:solidFill>
              </a:defRPr>
            </a:lvl5pPr>
            <a:lvl6pPr lvl="5" rtl="0">
              <a:buNone/>
              <a:defRPr>
                <a:solidFill>
                  <a:schemeClr val="accent2"/>
                </a:solidFill>
              </a:defRPr>
            </a:lvl6pPr>
            <a:lvl7pPr lvl="6" rtl="0">
              <a:buNone/>
              <a:defRPr>
                <a:solidFill>
                  <a:schemeClr val="accent2"/>
                </a:solidFill>
              </a:defRPr>
            </a:lvl7pPr>
            <a:lvl8pPr lvl="7" rtl="0">
              <a:buNone/>
              <a:defRPr>
                <a:solidFill>
                  <a:schemeClr val="accent2"/>
                </a:solidFill>
              </a:defRPr>
            </a:lvl8pPr>
            <a:lvl9pPr lvl="8" rtl="0">
              <a:buNone/>
              <a:defRPr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" name="Google Shape;68;p10">
            <a:extLst>
              <a:ext uri="{FF2B5EF4-FFF2-40B4-BE49-F238E27FC236}">
                <a16:creationId xmlns:a16="http://schemas.microsoft.com/office/drawing/2014/main" id="{F1FE515D-79AE-554B-0E88-BC6BEE9DF6B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465725" y="1626263"/>
            <a:ext cx="4610100" cy="239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287245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6093886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274098"/>
            <a:ext cx="7886700" cy="9950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370486"/>
            <a:ext cx="7886700" cy="326652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4771678"/>
            <a:ext cx="2057400" cy="2740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03D83E5-B358-A14A-9A6E-D4F1762030EC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71678"/>
            <a:ext cx="3086100" cy="2740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4771678"/>
            <a:ext cx="2057400" cy="2740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E6D784F-FBAE-2742-9AFF-34F1F0A489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6251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4.xml"/><Relationship Id="rId3" Type="http://schemas.openxmlformats.org/officeDocument/2006/relationships/notesSlide" Target="../notesSlides/notesSlide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5.xml"/><Relationship Id="rId3" Type="http://schemas.openxmlformats.org/officeDocument/2006/relationships/chart" Target="../charts/chart6.xml"/><Relationship Id="rId4" Type="http://schemas.openxmlformats.org/officeDocument/2006/relationships/notesSlide" Target="../notesSlides/notesSlide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3D4467-F371-22FD-260C-C7F2D5D497D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65668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994A301-BBE4-E4DB-2BE7-C6A4CBDA25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A2990A-D3C0-6BE9-6E16-7C7640194177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E19F991-5A0E-1D42-8065-353B3DBFD1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B6153E17-DB3E-2A7F-61A6-77433668D2E0}"/>
              </a:ext>
            </a:extLst>
          </p:cNvPr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75649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2363B5B7-55DD-0AEE-B121-854B26D47C86}"/>
              </a:ext>
            </a:extLst>
          </p:cNvPr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B123C50-CCC4-D83D-ADBA-4EE559708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FE3A2F-38D6-5025-5AAB-70273194ED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9669B0-CFE6-842D-7098-589B1256C698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07734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393B9FB4-2886-43AB-74EE-C1DCC930A08A}"/>
              </a:ext>
            </a:extLst>
          </p:cNvPr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10DBA2-31B8-9D5A-ABE3-995F16E06C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64A5660-0ADE-5C05-DE34-EBAC4314C8D8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DB63FE6-1647-0E37-91BA-2BDB140D00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C406DC4A-0540-4FFA-1562-DB8BE8D3C46C}"/>
              </a:ext>
            </a:extLst>
          </p:cNvPr>
          <p:cNvSpPr>
            <a:spLocks noGrp="1"/>
          </p:cNvSpPr>
          <p:nvPr>
            <p:ph type="pic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BFCC9FEB-ED44-B34C-7B34-D17D0C74BA9E}"/>
              </a:ext>
            </a:extLst>
          </p:cNvPr>
          <p:cNvSpPr>
            <a:spLocks noGrp="1"/>
          </p:cNvSpPr>
          <p:nvPr>
            <p:ph type="pic" idx="4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39041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1E9A2B64-B297-0D22-9008-48BB6FEC24AE}"/>
              </a:ext>
            </a:extLst>
          </p:cNvPr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56E316-19C6-D52E-8FAD-052B7F0660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79EC3F8-5E83-338E-DBDC-7B86A563DE5D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C23B7C07-21DC-4837-032B-4F2578C552C9}"/>
              </a:ext>
            </a:extLst>
          </p:cNvPr>
          <p:cNvSpPr>
            <a:spLocks noGrp="1"/>
          </p:cNvSpPr>
          <p:nvPr>
            <p:ph type="pic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712D7457-89EE-2E5C-3C07-ECE167F4DB14}"/>
              </a:ext>
            </a:extLst>
          </p:cNvPr>
          <p:cNvSpPr>
            <a:spLocks noGrp="1"/>
          </p:cNvSpPr>
          <p:nvPr>
            <p:ph type="pic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A7B9D38-AF61-C925-F507-239C7B4172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19006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F9664AAA-67CC-9215-026A-C4200712FDAE}"/>
              </a:ext>
            </a:extLst>
          </p:cNvPr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0EFC985-D1B8-011E-8809-5930032EE9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12C270-D184-3373-A6DF-BCE34F25E7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5648935E-AE12-A4E7-10A2-5ED2D4209C79}"/>
              </a:ext>
            </a:extLst>
          </p:cNvPr>
          <p:cNvSpPr>
            <a:spLocks noGrp="1"/>
          </p:cNvSpPr>
          <p:nvPr>
            <p:ph type="pic" idx="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80532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9441CE8E-3EAE-79B2-05B8-E6EBED612BD7}"/>
              </a:ext>
            </a:extLst>
          </p:cNvPr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55F930-EFE4-C5D1-359C-F20D57FAA6BC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FE16990-8F49-F990-AAAB-D626CCA65B3B}"/>
              </a:ext>
            </a:extLst>
          </p:cNvPr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F3D0F69-578B-EF1D-323E-B84FB2A982E4}"/>
              </a:ext>
            </a:extLst>
          </p:cNvPr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9398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4CDF9FCC-AFE0-9A6A-31E6-79C554EFCBBB}"/>
              </a:ext>
            </a:extLst>
          </p:cNvPr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BE9C57-B5C3-A553-1066-2819E770D5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43145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96281880"/>
      </p:ext>
    </p:extLst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Georgia"/>
              </a:rPr>
              <a:t>When Does Protecting Weights</a:t>
            </a:r>
          </a:p>
          <a:p>
            <a:pPr algn="ctr"/>
            <a:r>
              <a:rPr sz="3000" b="1">
                <a:solidFill>
                  <a:srgbClr val="FFFFFF"/>
                </a:solidFill>
                <a:latin typeface="Georgia"/>
              </a:rPr>
              <a:t>Protect Capabilities?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999232"/>
            <a:ext cx="69494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1">
                <a:solidFill>
                  <a:srgbClr val="AE9141"/>
                </a:solidFill>
                <a:latin typeface="Georgia"/>
              </a:rPr>
              <a:t>What we found when 3-bit compression quietly breaks an LLM — and what fixes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133087"/>
            <a:ext cx="69494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Georgia"/>
              </a:rPr>
              <a:t>Jiahao Zheng  ·  Advisor Update  ·  September 3, 2026</a:t>
            </a:r>
          </a:p>
          <a:p>
            <a:pPr algn="ctr">
              <a:spcBef>
                <a:spcPts val="400"/>
              </a:spcBef>
            </a:pPr>
            <a:r>
              <a:rPr sz="1100" b="0" i="0">
                <a:solidFill>
                  <a:srgbClr val="C9D3E0"/>
                </a:solidFill>
                <a:latin typeface="Georgia"/>
              </a:rPr>
              <a:t>All experiments finished &amp; frozen 09/02  ·  6 models  ·  ~120 runs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The Question — and the Only 4 Terms You Need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BACKGROUND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325880"/>
            <a:ext cx="4297680" cy="3520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AE9141"/>
                </a:solidFill>
                <a:latin typeface="Georgia"/>
              </a:rPr>
              <a:t>Quantization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= storing each weight in 3 bits instead of 16 → ~5× smaller and cheaper to run.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AE9141"/>
                </a:solidFill>
                <a:latin typeface="Georgia"/>
              </a:rPr>
              <a:t>GPTQ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= the standard compression algorithm. “Smart”: after rounding each weight it adjusts the remaining ones to cancel the error.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AE9141"/>
                </a:solidFill>
                <a:latin typeface="Georgia"/>
              </a:rPr>
              <a:t>RTN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= the naive alternative: just round every weight. No error correction.</a:t>
            </a:r>
          </a:p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AE9141"/>
                </a:solidFill>
                <a:latin typeface="Georgia"/>
              </a:rPr>
              <a:t>Protection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= keep a tiny fraction of weights (≤0.5%) uncompressed, chosen by an importance score from the TaCQ paper (UNC, 2025):</a:t>
            </a:r>
          </a:p>
          <a:p>
            <a:pPr algn="ctr">
              <a:spcAft>
                <a:spcPts val="200"/>
              </a:spcAft>
            </a:pPr>
            <a:r>
              <a:rPr sz="1150" b="1" i="0">
                <a:solidFill>
                  <a:srgbClr val="0C2340"/>
                </a:solidFill>
                <a:latin typeface="Georgia"/>
              </a:rPr>
              <a:t>importance = |weight| × |gradient| × |compression error|</a:t>
            </a:r>
          </a:p>
          <a:p>
            <a:pPr algn="ctr">
              <a:spcAft>
                <a:spcPts val="500"/>
              </a:spcAft>
            </a:pPr>
            <a:r>
              <a:rPr sz="1000" b="0" i="1">
                <a:solidFill>
                  <a:srgbClr val="5A5A5A"/>
                </a:solidFill>
                <a:latin typeface="Georgia"/>
              </a:rPr>
              <a:t>(“does a lot × model is sensitive × compression hits it hard”)</a:t>
            </a:r>
          </a:p>
          <a:p>
            <a:pPr algn="l"/>
            <a:r>
              <a:rPr sz="1000" b="0" i="0">
                <a:solidFill>
                  <a:srgbClr val="5A5A5A"/>
                </a:solidFill>
                <a:latin typeface="Georgia"/>
              </a:rPr>
              <a:t>The score is TaCQ's; the 0.5% budget is ours (set to match the cost of protecting 32 attention heads; TaCQ uses a similar 0.5–0.8%). Sweeps show 0.001–0.01% does the real work.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74920" y="1417320"/>
            <a:ext cx="370332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 i="0">
                <a:solidFill>
                  <a:srgbClr val="AE9141"/>
                </a:solidFill>
                <a:latin typeface="Georgia"/>
              </a:rPr>
              <a:t>OUR QUESTION</a:t>
            </a:r>
          </a:p>
          <a:p>
            <a:pPr algn="l">
              <a:spcAft>
                <a:spcPts val="1000"/>
              </a:spcAft>
            </a:pPr>
            <a:r>
              <a:rPr sz="1300" b="0" i="0">
                <a:solidFill>
                  <a:srgbClr val="0C2340"/>
                </a:solidFill>
                <a:latin typeface="Georgia"/>
              </a:rPr>
              <a:t>Prior papers (TaCQ, SpQR, Super Weights …) all report: “protecting important weights makes compressed models better” — implying it always helps, for every model.</a:t>
            </a:r>
          </a:p>
          <a:p>
            <a:pPr algn="l">
              <a:spcAft>
                <a:spcPts val="1200"/>
              </a:spcAft>
            </a:pPr>
            <a:r>
              <a:rPr sz="1300" b="1" i="0">
                <a:solidFill>
                  <a:srgbClr val="0C2340"/>
                </a:solidFill>
                <a:latin typeface="Georgia"/>
              </a:rPr>
              <a:t>We ask: WHEN does it actually help? Answer: only when compression causes a collapse — otherwise never.</a:t>
            </a:r>
          </a:p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AE9141"/>
                </a:solidFill>
                <a:latin typeface="Georgia"/>
              </a:rPr>
              <a:t>HOW WE MEASURE</a:t>
            </a:r>
          </a:p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5A5A5A"/>
                </a:solidFill>
                <a:latin typeface="Georgia"/>
              </a:rPr>
              <a:t>Ability scores from 0 to 1, higher = better. Unless a number is explicitly labeled “math” (GSM8K), “knowledge quiz” (MMLU) or “perplexity”, </a:t>
            </a:r>
            <a:r>
              <a:rPr sz="1250" b="1" i="0">
                <a:solidFill>
                  <a:srgbClr val="0C2340"/>
                </a:solidFill>
                <a:latin typeface="Georgia"/>
              </a:rPr>
              <a:t>every number in this deck is the IFEval instruction-following score.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Compression Is Usually Mild — but Sometimes Catastrophic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1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11480" y="1463040"/>
          <a:ext cx="544068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080760" y="1481328"/>
            <a:ext cx="26974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9B1B1B"/>
                </a:solidFill>
                <a:latin typeface="Georgia"/>
              </a:rPr>
              <a:t>Identical compression recipe. Four barely notice; two — Llama-8B and Qwen-14B — lose most of their ability.</a:t>
            </a:r>
          </a:p>
          <a:p>
            <a:pPr algn="l">
              <a:spcAft>
                <a:spcPts val="800"/>
              </a:spcAft>
            </a:pPr>
            <a:r>
              <a:rPr sz="1250" b="0" i="0">
                <a:solidFill>
                  <a:srgbClr val="0C2340"/>
                </a:solidFill>
                <a:latin typeface="Georgia"/>
              </a:rPr>
              <a:t>Unpredictable: Qwen 7B fine, 14B collapses, 32B fine — same family, same training. (Every collapse re-run twice; it replicates.)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0C2340"/>
                </a:solidFill>
                <a:latin typeface="Georgia"/>
              </a:rPr>
              <a:t>New 12-model census: </a:t>
            </a:r>
            <a:r>
              <a:rPr sz="1250" b="0" i="0">
                <a:solidFill>
                  <a:srgbClr val="0C2340"/>
                </a:solidFill>
                <a:latin typeface="Georgia"/>
              </a:rPr>
              <a:t>six more, mostly SMALL models (3–12B), form a middle tier (−0.15 to −0.25) — expected, since small models have less redundancy to absorb rounding noise. Still no third collapse: their failure looks nothing like the two collapses (see Finding 5).</a:t>
            </a:r>
          </a:p>
          <a:p>
            <a:pPr algn="l"/>
            <a:r>
              <a:rPr sz="1050" b="0" i="1">
                <a:solidFill>
                  <a:srgbClr val="5A5A5A"/>
                </a:solidFill>
                <a:latin typeface="Georgia"/>
              </a:rPr>
              <a:t>(IFEval instruction-following score, 0–1)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How Common Is Collapse? 2 in 12 — and Not the Models You'd Guess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1 — FULL CENSUS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11480" y="1463040"/>
          <a:ext cx="5760720" cy="3200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0" y="1481328"/>
            <a:ext cx="237744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C2340"/>
                </a:solidFill>
                <a:latin typeface="Georgia"/>
              </a:rPr>
              <a:t>Purpose of this survey: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is collapse a rare fluke of two models, or common? And does it simply follow model size?</a:t>
            </a:r>
          </a:p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9B1B1B"/>
                </a:solidFill>
                <a:latin typeface="Georgia"/>
              </a:rPr>
              <a:t>Answer: 2 of 12 collapse.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Small models lose more (gold, middle tier) — that part is expected. But the two collapses (red) are 8B and 14B, NOT the smallest models: collapse does not follow size.</a:t>
            </a:r>
          </a:p>
          <a:p>
            <a:pPr algn="l"/>
            <a:r>
              <a:rPr sz="1050" b="0" i="1">
                <a:solidFill>
                  <a:srgbClr val="5A5A5A"/>
                </a:solidFill>
                <a:latin typeface="Georgia"/>
              </a:rPr>
              <a:t>Bars = IFEval score lost at 3-bit (taller = worse).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Protecting 0.5% of Weights Repairs the Collapse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2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11480" y="1463040"/>
          <a:ext cx="493776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23560" y="1554480"/>
            <a:ext cx="315468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300" b="0" i="0">
                <a:solidFill>
                  <a:srgbClr val="0C2340"/>
                </a:solidFill>
                <a:latin typeface="Georgia"/>
              </a:rPr>
              <a:t>Keep the top-scoring ≤0.5% of weights exact — the model comes back (Qwen-14B: to 95% of its original score). Bars: IFEval score.</a:t>
            </a:r>
          </a:p>
          <a:p>
            <a:pPr algn="l">
              <a:spcAft>
                <a:spcPts val="900"/>
              </a:spcAft>
            </a:pPr>
            <a:r>
              <a:rPr sz="1300" b="1" i="0">
                <a:solidFill>
                  <a:srgbClr val="0C2340"/>
                </a:solidFill>
                <a:latin typeface="Georgia"/>
              </a:rPr>
              <a:t>It has to be the right weights: </a:t>
            </a:r>
            <a:r>
              <a:rPr sz="1300" b="0" i="0">
                <a:solidFill>
                  <a:srgbClr val="0C2340"/>
                </a:solidFill>
                <a:latin typeface="Georgia"/>
              </a:rPr>
              <a:t>protecting the same amount (0.5%) of random weights does almost nothing (0.18 / 0.48).</a:t>
            </a:r>
          </a:p>
          <a:p>
            <a:pPr algn="l"/>
            <a:r>
              <a:rPr sz="1200" b="0" i="0">
                <a:solidFill>
                  <a:srgbClr val="5A5A5A"/>
                </a:solidFill>
                <a:latin typeface="Georgia"/>
              </a:rPr>
              <a:t>Same repair works on math: Qwen-14B goes 0.93 → 0.13 when compressed, back to 0.89 with protection.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It Must Be the RIGHT 0.5%: Every Alternative Fails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2 - CONTROLS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417320"/>
          <a:ext cx="6949440" cy="250545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566160"/>
                <a:gridCol w="1691640"/>
                <a:gridCol w="169164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Georgia"/>
                        </a:rPr>
                        <a:t>What we protect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Georgia"/>
                        </a:rPr>
                        <a:t>Llama-8B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Georgia"/>
                        </a:rPr>
                        <a:t>Qwen-14B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nothing (plain compression)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9B1B1B"/>
                          </a:solidFill>
                          <a:latin typeface="Georgia"/>
                        </a:rPr>
                        <a:t>0.150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9B1B1B"/>
                          </a:solidFill>
                          <a:latin typeface="Georgia"/>
                        </a:rPr>
                        <a:t>0.412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top 0.5% by the TaCQ importance score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A833C"/>
                          </a:solidFill>
                          <a:latin typeface="Georgia"/>
                        </a:rPr>
                        <a:t>0.643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A833C"/>
                          </a:solidFill>
                          <a:latin typeface="Georgia"/>
                        </a:rPr>
                        <a:t>0.782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random weights, same amount (0.5%)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0.181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0.480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32 instruction-following heads (≈ same 0.5%)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0.165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the 3–6 “super weights” (just those few)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0.163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whole channels, same amount (0.5%)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A833C"/>
                          </a:solidFill>
                          <a:latin typeface="Georgia"/>
                        </a:rPr>
                        <a:t>0.641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9B1B1B"/>
                          </a:solidFill>
                          <a:latin typeface="Georgia"/>
                        </a:rPr>
                        <a:t>0.227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only 100k weights (0.001%), scored on generic text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A833C"/>
                          </a:solidFill>
                          <a:latin typeface="Georgia"/>
                        </a:rPr>
                        <a:t>0.643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11480" y="4041648"/>
            <a:ext cx="83210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1" i="0">
                <a:solidFill>
                  <a:srgbClr val="0C2340"/>
                </a:solidFill>
                <a:latin typeface="Georgia"/>
              </a:rPr>
              <a:t>Random weights, functional circuits, and super weights all fail — knowing what's “important” is not the same as knowing what to protect.</a:t>
            </a:r>
          </a:p>
          <a:p>
            <a:pPr algn="l"/>
            <a:r>
              <a:rPr sz="1150" b="0" i="0">
                <a:solidFill>
                  <a:srgbClr val="5A5A5A"/>
                </a:solidFill>
                <a:latin typeface="Georgia"/>
              </a:rPr>
              <a:t>Bonuses (last two rows): a 50× smaller set scored on generic web text rescues almost as well (task-independent, tiny); whole-channel protection works on Llama but fails on 14B (structure is model-specific).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How Many Weights? ~0.001% — and Too Few Backfires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2 - BUDGET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11480" y="1463040"/>
          <a:ext cx="5394960" cy="3200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035040" y="1554480"/>
            <a:ext cx="274320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0C2340"/>
                </a:solidFill>
                <a:latin typeface="Georgia"/>
              </a:rPr>
              <a:t>x-axis: how many weights we protect (log steps).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0C2340"/>
                </a:solidFill>
                <a:latin typeface="Georgia"/>
              </a:rPr>
              <a:t>The jump happens at ~100k on Llama-8B and ~300k on Qwen-14B (≈0.001% of the model) — the needed set grows with model size.</a:t>
            </a:r>
          </a:p>
          <a:p>
            <a:pPr algn="l"/>
            <a:r>
              <a:rPr sz="1200" b="1" i="0">
                <a:solidFill>
                  <a:srgbClr val="9B1B1B"/>
                </a:solidFill>
                <a:latin typeface="Georgia"/>
              </a:rPr>
              <a:t>Warning: protecting too few HURTS — 14B at 100k scores 0.216, below the unprotected 0.412 (replicated on two seeds).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The Other Half: No Collapse → Protection Is Useless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371600"/>
            <a:ext cx="83210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0C2340"/>
                </a:solidFill>
                <a:latin typeface="Georgia"/>
              </a:rPr>
              <a:t>Finding 2 showed protection rescues collapsed models. Here is the SAME protection applied to four models/settings that did NOT collapse — IFEval score before → after adding protection: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94560"/>
            <a:ext cx="19659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5A5A5A"/>
                </a:solidFill>
                <a:latin typeface="Georgia"/>
              </a:rPr>
              <a:t>+0.030</a:t>
            </a:r>
          </a:p>
          <a:p>
            <a:pPr algn="ctr">
              <a:spcBef>
                <a:spcPts val="300"/>
              </a:spcBef>
            </a:pPr>
            <a:r>
              <a:rPr sz="1150" b="1" i="0">
                <a:solidFill>
                  <a:srgbClr val="0C2340"/>
                </a:solidFill>
                <a:latin typeface="Georgia"/>
              </a:rPr>
              <a:t>Qwen 7B @ 3-bit</a:t>
            </a:r>
          </a:p>
          <a:p>
            <a:pPr algn="ctr"/>
            <a:r>
              <a:rPr sz="1100" b="0" i="0">
                <a:solidFill>
                  <a:srgbClr val="5A5A5A"/>
                </a:solidFill>
                <a:latin typeface="Georgia"/>
              </a:rPr>
              <a:t>0.672 → 0.702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78608" y="2194560"/>
            <a:ext cx="19659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5A5A5A"/>
                </a:solidFill>
                <a:latin typeface="Georgia"/>
              </a:rPr>
              <a:t>+0.033</a:t>
            </a:r>
          </a:p>
          <a:p>
            <a:pPr algn="ctr">
              <a:spcBef>
                <a:spcPts val="300"/>
              </a:spcBef>
            </a:pPr>
            <a:r>
              <a:rPr sz="1150" b="1" i="0">
                <a:solidFill>
                  <a:srgbClr val="0C2340"/>
                </a:solidFill>
                <a:latin typeface="Georgia"/>
              </a:rPr>
              <a:t>Mistral 7B @ 3-bit</a:t>
            </a:r>
          </a:p>
          <a:p>
            <a:pPr algn="ctr"/>
            <a:r>
              <a:rPr sz="1100" b="0" i="0">
                <a:solidFill>
                  <a:srgbClr val="5A5A5A"/>
                </a:solidFill>
                <a:latin typeface="Georgia"/>
              </a:rPr>
              <a:t>0.468 → 0.500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00016" y="2194560"/>
            <a:ext cx="19659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5A5A5A"/>
                </a:solidFill>
                <a:latin typeface="Georgia"/>
              </a:rPr>
              <a:t>+0.027</a:t>
            </a:r>
          </a:p>
          <a:p>
            <a:pPr algn="ctr">
              <a:spcBef>
                <a:spcPts val="300"/>
              </a:spcBef>
            </a:pPr>
            <a:r>
              <a:rPr sz="1150" b="1" i="0">
                <a:solidFill>
                  <a:srgbClr val="0C2340"/>
                </a:solidFill>
                <a:latin typeface="Georgia"/>
              </a:rPr>
              <a:t>Llama 8B @ 3-bit, rotated</a:t>
            </a:r>
          </a:p>
          <a:p>
            <a:pPr algn="ctr"/>
            <a:r>
              <a:rPr sz="1100" b="0" i="0">
                <a:solidFill>
                  <a:srgbClr val="5A5A5A"/>
                </a:solidFill>
                <a:latin typeface="Georgia"/>
              </a:rPr>
              <a:t>0.641 → 0.668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21423" y="2194560"/>
            <a:ext cx="19659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5A5A5A"/>
                </a:solidFill>
                <a:latin typeface="Georgia"/>
              </a:rPr>
              <a:t>+0.008</a:t>
            </a:r>
          </a:p>
          <a:p>
            <a:pPr algn="ctr">
              <a:spcBef>
                <a:spcPts val="300"/>
              </a:spcBef>
            </a:pPr>
            <a:r>
              <a:rPr sz="1150" b="1" i="0">
                <a:solidFill>
                  <a:srgbClr val="0C2340"/>
                </a:solidFill>
                <a:latin typeface="Georgia"/>
              </a:rPr>
              <a:t>Llama 8B @ 4-bit</a:t>
            </a:r>
          </a:p>
          <a:p>
            <a:pPr algn="ctr"/>
            <a:r>
              <a:rPr sz="1100" b="0" i="0">
                <a:solidFill>
                  <a:srgbClr val="5A5A5A"/>
                </a:solidFill>
                <a:latin typeface="Georgia"/>
              </a:rPr>
              <a:t>0.745 → 0.753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3657600"/>
            <a:ext cx="83210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350" b="1" i="0">
                <a:solidFill>
                  <a:srgbClr val="0C2340"/>
                </a:solidFill>
                <a:latin typeface="Georgia"/>
              </a:rPr>
              <a:t>All four gains are statistically zero </a:t>
            </a:r>
            <a:r>
              <a:rPr sz="1350" b="0" i="0">
                <a:solidFill>
                  <a:srgbClr val="0C2340"/>
                </a:solidFill>
                <a:latin typeface="Georgia"/>
              </a:rPr>
              <a:t>— compare the rescues in Finding 2: +0.49 and +0.37.</a:t>
            </a:r>
          </a:p>
          <a:p>
            <a:pPr algn="l"/>
            <a:r>
              <a:rPr sz="1350" b="1" i="0">
                <a:solidFill>
                  <a:srgbClr val="AE9141"/>
                </a:solidFill>
                <a:latin typeface="Georgia"/>
              </a:rPr>
              <a:t>So protection is an emergency repair, not a general upgrade: it only matters when there is a collapse to prevent.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Protection Helps Only in a Window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THE ANSWER TO “WHEN” — SAME MODEL, DIFFERENT BITS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371600"/>
            <a:ext cx="39776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C2340"/>
                </a:solidFill>
                <a:latin typeface="Georgia"/>
              </a:rPr>
              <a:t>Llama-8B  (uncompressed: 0.768)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11480" y="1691640"/>
          <a:ext cx="3977639" cy="2514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709160" y="1371600"/>
            <a:ext cx="39776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C2340"/>
                </a:solidFill>
                <a:latin typeface="Georgia"/>
              </a:rPr>
              <a:t>Qwen-7B  (uncompressed: 0.765)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4709160" y="1691640"/>
          <a:ext cx="3977639" cy="2514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11480" y="4315968"/>
            <a:ext cx="83210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AE9141"/>
                </a:solidFill>
                <a:latin typeface="Georgia"/>
              </a:rPr>
              <a:t>The window: </a:t>
            </a:r>
            <a:r>
              <a:rPr sz="1250" b="0" i="0">
                <a:solidFill>
                  <a:srgbClr val="0C2340"/>
                </a:solidFill>
                <a:latin typeface="Georgia"/>
              </a:rPr>
              <a:t>too mild → nothing to fix (gains ≈0) · collapse → decisive (+0.49) · too extreme (2-bit) → beyond saving (even a 10× budget stays at 0.13).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How Sure Are We? Every Claim Carries a Confidence Interval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RIGOR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371600"/>
            <a:ext cx="83210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0C2340"/>
                </a:solidFill>
                <a:latin typeface="Georgia"/>
              </a:rPr>
              <a:t>For each comparison we resample the 541 test prompts 5,000 times. If the 95% interval crosses zero, the effect is indistinguishable from noise.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1965960"/>
          <a:ext cx="7498080" cy="279806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108960"/>
                <a:gridCol w="1005840"/>
                <a:gridCol w="2011680"/>
                <a:gridCol w="137160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Comparison (protection − no protection)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Gain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95% interval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Verdict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Llama-8B @3-bit (collapse)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+0.493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[+0.455, +0.532]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real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Qwen-14B @3-bit (collapse)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+0.370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[+0.327, +0.412]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real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Qwen-14B: protection vs. rotation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+0.117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[+0.083, +0.152]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real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Qwen-3B @3-bit (middle tier)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+0.074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[+0.035, +0.111]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real, small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Qwen-7B @3-bit (mild)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+0.030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[−0.004, +0.064]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5A5A5A"/>
                          </a:solidFill>
                          <a:latin typeface="Georgia"/>
                        </a:rPr>
                        <a:t>noise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Mistral-7B @3-bit (mild)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+0.033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[−0.000, +0.066]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5A5A5A"/>
                          </a:solidFill>
                          <a:latin typeface="Georgia"/>
                        </a:rPr>
                        <a:t>noise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Yi-9B @3-bit (middle tier)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+0.020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[−0.013, +0.052]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5A5A5A"/>
                          </a:solidFill>
                          <a:latin typeface="Georgia"/>
                        </a:rPr>
                        <a:t>noise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Llama-8B @4-bit (mild)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+0.008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[−0.022, +0.038]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5A5A5A"/>
                          </a:solidFill>
                          <a:latin typeface="Georgia"/>
                        </a:rPr>
                        <a:t>noise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Qwen-7B: protect attention heads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+0.003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[−0.027, +0.032]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5A5A5A"/>
                          </a:solidFill>
                          <a:latin typeface="Georgia"/>
                        </a:rPr>
                        <a:t>noise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The Culprit: the Compressor's Own Error Correction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371600"/>
            <a:ext cx="83210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0C2340"/>
                </a:solidFill>
                <a:latin typeface="Georgia"/>
              </a:rPr>
              <a:t>Same Llama-8B model, compressed to 3 bits in three different ways — IFEval scores (“protection” = the same top-0.5% weight set as in Finding 2):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24688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0C2340"/>
                </a:solidFill>
                <a:latin typeface="Georgia"/>
              </a:rPr>
              <a:t>0.57</a:t>
            </a:r>
          </a:p>
          <a:p>
            <a:pPr algn="ctr">
              <a:spcBef>
                <a:spcPts val="300"/>
              </a:spcBef>
            </a:pPr>
            <a:r>
              <a:rPr sz="1200" b="1" i="0">
                <a:solidFill>
                  <a:srgbClr val="0C2340"/>
                </a:solidFill>
                <a:latin typeface="Georgia"/>
              </a:rPr>
              <a:t>naive rounding (RTN)</a:t>
            </a:r>
          </a:p>
          <a:p>
            <a:pPr algn="ctr"/>
            <a:r>
              <a:rPr sz="1200" b="0" i="0">
                <a:solidFill>
                  <a:srgbClr val="0C2340"/>
                </a:solidFill>
                <a:latin typeface="Georgia"/>
              </a:rPr>
              <a:t>no error correction → damaged, not dead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29000" y="1920240"/>
            <a:ext cx="24688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9B1B1B"/>
                </a:solidFill>
                <a:latin typeface="Georgia"/>
              </a:rPr>
              <a:t>0.15</a:t>
            </a:r>
          </a:p>
          <a:p>
            <a:pPr algn="ctr">
              <a:spcBef>
                <a:spcPts val="300"/>
              </a:spcBef>
            </a:pPr>
            <a:r>
              <a:rPr sz="1200" b="1" i="0">
                <a:solidFill>
                  <a:srgbClr val="0C2340"/>
                </a:solidFill>
                <a:latin typeface="Georgia"/>
              </a:rPr>
              <a:t>smart GPTQ</a:t>
            </a:r>
          </a:p>
          <a:p>
            <a:pPr algn="ctr"/>
            <a:r>
              <a:rPr sz="1200" b="0" i="0">
                <a:solidFill>
                  <a:srgbClr val="0C2340"/>
                </a:solidFill>
                <a:latin typeface="Georgia"/>
              </a:rPr>
              <a:t>error correction on → COLLAPSE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1920240"/>
            <a:ext cx="24688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0A833C"/>
                </a:solidFill>
                <a:latin typeface="Georgia"/>
              </a:rPr>
              <a:t>0.64</a:t>
            </a:r>
          </a:p>
          <a:p>
            <a:pPr algn="ctr">
              <a:spcBef>
                <a:spcPts val="300"/>
              </a:spcBef>
            </a:pPr>
            <a:r>
              <a:rPr sz="1200" b="1" i="0">
                <a:solidFill>
                  <a:srgbClr val="0C2340"/>
                </a:solidFill>
                <a:latin typeface="Georgia"/>
              </a:rPr>
              <a:t>smart GPTQ + protection</a:t>
            </a:r>
          </a:p>
          <a:p>
            <a:pPr algn="ctr"/>
            <a:r>
              <a:rPr sz="1200" b="0" i="0">
                <a:solidFill>
                  <a:srgbClr val="0C2340"/>
                </a:solidFill>
                <a:latin typeface="Georgia"/>
              </a:rPr>
              <a:t>correction told to skip those 0.5%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520440"/>
            <a:ext cx="83210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350" b="1" i="0">
                <a:solidFill>
                  <a:srgbClr val="0C2340"/>
                </a:solidFill>
                <a:latin typeface="Georgia"/>
              </a:rPr>
              <a:t>The “smart” correction is the problem: </a:t>
            </a:r>
            <a:r>
              <a:rPr sz="1350" b="0" i="0">
                <a:solidFill>
                  <a:srgbClr val="0C2340"/>
                </a:solidFill>
                <a:latin typeface="Georgia"/>
              </a:rPr>
              <a:t>when it touches ~100,000 hyper-sensitive weights (0.001% of the model — zeroing them at full precision also destroys the model), it spreads their error everywhere.</a:t>
            </a:r>
          </a:p>
          <a:p>
            <a:pPr algn="l"/>
            <a:r>
              <a:rPr sz="1350" b="0" i="0">
                <a:solidFill>
                  <a:srgbClr val="0C2340"/>
                </a:solidFill>
                <a:latin typeface="Georgia"/>
              </a:rPr>
              <a:t>Proof: repairing those weights afterwards does NOT help (0.16) — the damage already lives in the rest of the network. Protection must happen during compression.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One Number Diagnoses the Disease: Does Error Correction Help or Hurt?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4 - THE DIAGNOSTIC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463040"/>
          <a:ext cx="7863840" cy="213969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371600"/>
                <a:gridCol w="1371600"/>
                <a:gridCol w="1371600"/>
                <a:gridCol w="1828800"/>
                <a:gridCol w="192024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Model @ 3-bit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naive rounding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smart GPTQ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correction effect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protection gain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Qwen-3B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0.130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0.411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+0.281  helps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+0.074 (small)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Qwen-7B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0.500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0.672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+0.172  helps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+0.030 (noise)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Yi-9B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0.320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0.443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+0.122  helps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+0.020 (noise)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Mistral-7B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0.420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0.468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+0.048  helps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+0.033 (noise)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Llama-8B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0.565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0.150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B1B1B"/>
                          </a:solidFill>
                          <a:latin typeface="Georgia"/>
                        </a:rPr>
                        <a:t>−0.415  HURTS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+0.493 (rescue)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Qwen-14B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0.697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0.412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B1B1B"/>
                          </a:solidFill>
                          <a:latin typeface="Georgia"/>
                        </a:rPr>
                        <a:t>−0.286  HURTS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+0.370 (rescue)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11480" y="3977639"/>
            <a:ext cx="83210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AE9141"/>
                </a:solidFill>
                <a:latin typeface="Georgia"/>
              </a:rPr>
              <a:t>The rule: </a:t>
            </a:r>
            <a:r>
              <a:rPr sz="1300" b="0" i="0">
                <a:solidFill>
                  <a:srgbClr val="0C2340"/>
                </a:solidFill>
                <a:latin typeface="Georgia"/>
              </a:rPr>
              <a:t>wherever the correction helps, protection buys ~nothing; wherever it hurts, protection rescues — and the rescue roughly equals the harm prevented (0.42→0.49, 0.29→0.37).</a:t>
            </a:r>
          </a:p>
          <a:p>
            <a:pPr algn="l"/>
            <a:r>
              <a:rPr sz="1200" b="0" i="0">
                <a:solidFill>
                  <a:srgbClr val="5A5A5A"/>
                </a:solidFill>
                <a:latin typeface="Georgia"/>
              </a:rPr>
              <a:t>This one comparison (rounding vs. GPTQ) is the practical diagnostic for “when”.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Pinning Down the Mechanism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4 - FOUR MORE CHECKS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417320"/>
            <a:ext cx="402336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0C2340"/>
                </a:solidFill>
                <a:latin typeface="Georgia"/>
              </a:rPr>
              <a:t>Fixing them afterwards fails  </a:t>
            </a:r>
            <a:r>
              <a:rPr sz="1250" b="1" i="0">
                <a:solidFill>
                  <a:srgbClr val="AE9141"/>
                </a:solidFill>
                <a:latin typeface="Georgia"/>
              </a:rPr>
              <a:t>0.150 → 0.162</a:t>
            </a:r>
          </a:p>
          <a:p>
            <a:pPr algn="l"/>
            <a:r>
              <a:rPr sz="1100" b="0" i="0">
                <a:solidFill>
                  <a:srgbClr val="5A5A5A"/>
                </a:solidFill>
                <a:latin typeface="Georgia"/>
              </a:rPr>
              <a:t>Restore the critical weights on the already-compressed model: no rescue. The damage was spread into the REST of the network during compression.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09160" y="1417320"/>
            <a:ext cx="402336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0C2340"/>
                </a:solidFill>
                <a:latin typeface="Georgia"/>
              </a:rPr>
              <a:t>They are critical even uncompressed  </a:t>
            </a:r>
            <a:r>
              <a:rPr sz="1250" b="1" i="0">
                <a:solidFill>
                  <a:srgbClr val="AE9141"/>
                </a:solidFill>
                <a:latin typeface="Georgia"/>
              </a:rPr>
              <a:t>0.188 vs 0.776</a:t>
            </a:r>
          </a:p>
          <a:p>
            <a:pPr algn="l"/>
            <a:r>
              <a:rPr sz="1100" b="0" i="0">
                <a:solidFill>
                  <a:srgbClr val="5A5A5A"/>
                </a:solidFill>
                <a:latin typeface="Georgia"/>
              </a:rPr>
              <a:t>Zero the ~100k critical weights in the ORIGINAL model: it dies (0.188). Zero the same number of random weights: harmless (0.776).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3108960"/>
            <a:ext cx="402336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0C2340"/>
                </a:solidFill>
                <a:latin typeface="Georgia"/>
              </a:rPr>
              <a:t>Protecting too few backfires  </a:t>
            </a:r>
            <a:r>
              <a:rPr sz="1250" b="1" i="0">
                <a:solidFill>
                  <a:srgbClr val="AE9141"/>
                </a:solidFill>
                <a:latin typeface="Georgia"/>
              </a:rPr>
              <a:t>0.216 &lt; 0.412</a:t>
            </a:r>
          </a:p>
          <a:p>
            <a:pPr algn="l"/>
            <a:r>
              <a:rPr sz="1100" b="0" i="0">
                <a:solidFill>
                  <a:srgbClr val="5A5A5A"/>
                </a:solidFill>
                <a:latin typeface="Georgia"/>
              </a:rPr>
              <a:t>14B with only 100k protected scores BELOW unprotected — partial protection re-routes the correction badly (both seeds agree).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09160" y="3108960"/>
            <a:ext cx="402336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0C2340"/>
                </a:solidFill>
                <a:latin typeface="Georgia"/>
              </a:rPr>
              <a:t>It is not the correction order  </a:t>
            </a:r>
            <a:r>
              <a:rPr sz="1250" b="1" i="0">
                <a:solidFill>
                  <a:srgbClr val="AE9141"/>
                </a:solidFill>
                <a:latin typeface="Georgia"/>
              </a:rPr>
              <a:t>still 0.156</a:t>
            </a:r>
          </a:p>
          <a:p>
            <a:pPr algn="l"/>
            <a:r>
              <a:rPr sz="1100" b="0" i="0">
                <a:solidFill>
                  <a:srgbClr val="5A5A5A"/>
                </a:solidFill>
                <a:latin typeface="Georgia"/>
              </a:rPr>
              <a:t>Disabling GPTQ's processing-order trick (desc_act) does not prevent the collapse — the interaction itself is the cause.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Rotation Also Prevents Collapse — but Loses to Protection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4 - VS. THE NEWEST FIX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371600"/>
            <a:ext cx="83210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0C2340"/>
                </a:solidFill>
                <a:latin typeface="Georgia"/>
              </a:rPr>
              <a:t>Rotation (QuaRot-style) is the newest anti-outlier technique: mathematically rotate the network before compressing, so extreme values spread out. The rotation itself is lossless — we verified (rotated, uncompressed Llama: 0.785 ≈ 0.768).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2240280"/>
          <a:ext cx="5669280" cy="131673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011680"/>
                <a:gridCol w="1828800"/>
                <a:gridCol w="182880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3-bit arm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Llama-8B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Qwen-14B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C2340"/>
                          </a:solidFill>
                          <a:latin typeface="Georgia"/>
                        </a:rPr>
                        <a:t>plain GPTQ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9B1B1B"/>
                          </a:solidFill>
                          <a:latin typeface="Georgia"/>
                        </a:rPr>
                        <a:t>0.150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9B1B1B"/>
                          </a:solidFill>
                          <a:latin typeface="Georgia"/>
                        </a:rPr>
                        <a:t>0.412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C2340"/>
                          </a:solidFill>
                          <a:latin typeface="Georgia"/>
                        </a:rPr>
                        <a:t>rotation + GPTQ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0C2340"/>
                          </a:solidFill>
                          <a:latin typeface="Georgia"/>
                        </a:rPr>
                        <a:t>0.641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0C2340"/>
                          </a:solidFill>
                          <a:latin typeface="Georgia"/>
                        </a:rPr>
                        <a:t>0.665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C2340"/>
                          </a:solidFill>
                          <a:latin typeface="Georgia"/>
                        </a:rPr>
                        <a:t>protection + GPTQ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0A833C"/>
                          </a:solidFill>
                          <a:latin typeface="Georgia"/>
                        </a:rPr>
                        <a:t>0.643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0A833C"/>
                          </a:solidFill>
                          <a:latin typeface="Georgia"/>
                        </a:rPr>
                        <a:t>0.782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11480" y="3886200"/>
            <a:ext cx="83210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C2340"/>
                </a:solidFill>
                <a:latin typeface="Georgia"/>
              </a:rPr>
              <a:t>On Llama the two fixes tie; on Qwen-14B protection wins by +0.117 (statistically solid).</a:t>
            </a:r>
          </a:p>
          <a:p>
            <a:pPr algn="l"/>
            <a:r>
              <a:rPr sz="1250" b="0" i="0">
                <a:solidFill>
                  <a:srgbClr val="0C2340"/>
                </a:solidFill>
                <a:latin typeface="Georgia"/>
              </a:rPr>
              <a:t>So “just use rotation” is answered by our own data: rotation moves you out of the collapse zone, but targeted protection recovers more. (On mild models rotation changes nothing: Qwen-7B 0.672 → 0.688.)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The Damage Can Be Invisible to Standard Checks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417320"/>
            <a:ext cx="44805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0C2340"/>
                </a:solidFill>
                <a:latin typeface="Georgia"/>
              </a:rPr>
              <a:t>The compressed Qwen-14B gets stuck repeating itself. A real answer it gave to a grade-school math problem: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874519"/>
            <a:ext cx="4480560" cy="1737360"/>
          </a:xfrm>
          <a:prstGeom prst="rect">
            <a:avLst/>
          </a:prstGeom>
          <a:solidFill>
            <a:srgbClr val="EFE9D9"/>
          </a:solidFill>
        </p:spPr>
        <p:txBody>
          <a:bodyPr wrap="square" lIns="109728" rIns="109728" tIns="109728" bIns="109728">
            <a:spAutoFit/>
          </a:bodyPr>
          <a:lstStyle/>
          <a:p>
            <a:r>
              <a:rPr sz="1200" i="1">
                <a:solidFill>
                  <a:srgbClr val="9B1B1B"/>
                </a:solidFill>
                <a:latin typeface="Georgia"/>
              </a:rPr>
              <a:t>“… each pail contains 5 × 5 = 250 liters of water. Therefore, each pail contains 5 × 5 = 250 liters of water. Therefore, each pail contains 5 × 5 = 250 liters of water. Therefore, each pail …”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3703320"/>
            <a:ext cx="44805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C2340"/>
                </a:solidFill>
                <a:latin typeface="Georgia"/>
              </a:rPr>
              <a:t>69 out of every 100 answers end in a loop like this. The uncompressed model: fewer than 1 in 100.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57800" y="1417320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AE9141"/>
                </a:solidFill>
                <a:latin typeface="Georgia"/>
              </a:rPr>
              <a:t>YET THE FIELD'S STANDARD CHECKS SAY “FINE”: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57800" y="1828800"/>
            <a:ext cx="35204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0C2340"/>
                </a:solidFill>
                <a:latin typeface="Georgia"/>
              </a:rPr>
              <a:t>looks fine</a:t>
            </a:r>
          </a:p>
          <a:p>
            <a:pPr algn="ctr">
              <a:spcBef>
                <a:spcPts val="300"/>
              </a:spcBef>
            </a:pPr>
            <a:r>
              <a:rPr sz="1100" b="0" i="0">
                <a:solidFill>
                  <a:srgbClr val="0C2340"/>
                </a:solidFill>
                <a:latin typeface="Georgia"/>
              </a:rPr>
              <a:t>on perplexity, the default quality check (+35%, same as the harmless cases)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57800" y="2697480"/>
            <a:ext cx="35204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0C2340"/>
                </a:solidFill>
                <a:latin typeface="Georgia"/>
              </a:rPr>
              <a:t>looks fine</a:t>
            </a:r>
          </a:p>
          <a:p>
            <a:pPr algn="ctr">
              <a:spcBef>
                <a:spcPts val="300"/>
              </a:spcBef>
            </a:pPr>
            <a:r>
              <a:rPr sz="1100" b="0" i="0">
                <a:solidFill>
                  <a:srgbClr val="0C2340"/>
                </a:solidFill>
                <a:latin typeface="Georgia"/>
              </a:rPr>
              <a:t>on the MMLU knowledge quiz (−6 points, same as the harmless cases)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57800" y="3611880"/>
            <a:ext cx="35204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9B1B1B"/>
                </a:solidFill>
                <a:latin typeface="Georgia"/>
              </a:rPr>
              <a:t>0.93 → 0.13</a:t>
            </a:r>
          </a:p>
          <a:p>
            <a:pPr algn="ctr">
              <a:spcBef>
                <a:spcPts val="300"/>
              </a:spcBef>
            </a:pPr>
            <a:r>
              <a:rPr sz="1100" b="0" i="0">
                <a:solidFill>
                  <a:srgbClr val="0C2340"/>
                </a:solidFill>
                <a:latin typeface="Georgia"/>
              </a:rPr>
              <a:t>actual math score — the collapse both checks failed to notice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Can You Tell in Advance Who Will Collapse? No.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371600"/>
            <a:ext cx="83210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0C2340"/>
                </a:solidFill>
                <a:latin typeface="Georgia"/>
              </a:rPr>
              <a:t>The field's standard theory blames “outliers” — extreme values inside the model. We measured every proposed warning sign on the original (uncompressed) models: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965960"/>
          <a:ext cx="7680960" cy="2029968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371600"/>
                <a:gridCol w="1920240"/>
                <a:gridCol w="1463040"/>
                <a:gridCol w="1920240"/>
                <a:gridCol w="100584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Model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biggest activation spike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extreme channels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importance concentration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collapsed?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Qwen-7B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11,584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43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1.26%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no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Llama-3.1-8B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324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1.50%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B1B1B"/>
                          </a:solidFill>
                          <a:latin typeface="Georgia"/>
                        </a:rPr>
                        <a:t>YES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Mistral-7B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212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4.14%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no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Qwen-14B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10,880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115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0.78%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B1B1B"/>
                          </a:solidFill>
                          <a:latin typeface="Georgia"/>
                        </a:rPr>
                        <a:t>YES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Qwen-32B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19,072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1,632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no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Mistral-24B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244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1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no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11480" y="4160520"/>
            <a:ext cx="83210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C2340"/>
                </a:solidFill>
                <a:latin typeface="Georgia"/>
              </a:rPr>
              <a:t>The numbers interleave completely — the model with the most extreme values (Qwen-32B) is fine, the one with almost none (Llama-8B) collapses. Prediction is our stated open problem; detection (a 20-prompt generation test) is cheap.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Not Just Instructions: Math and Multi-Turn Chat Agree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41732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AE9141"/>
                </a:solidFill>
                <a:latin typeface="Georgia"/>
              </a:rPr>
              <a:t>MATH (GSM8K accuracy)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1783080"/>
          <a:ext cx="4114800" cy="1207008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371600"/>
                <a:gridCol w="914400"/>
                <a:gridCol w="914400"/>
                <a:gridCol w="91440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/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original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3-bit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+ protection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Llama-8B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0.843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B1B1B"/>
                          </a:solidFill>
                          <a:latin typeface="Georgia"/>
                        </a:rPr>
                        <a:t>0.002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0.616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Qwen-14B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0.926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B1B1B"/>
                          </a:solidFill>
                          <a:latin typeface="Georgia"/>
                        </a:rPr>
                        <a:t>0.129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0.894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Qwen-7B (mild)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0.901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0.778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0.839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11480" y="3291840"/>
            <a:ext cx="4114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0C2340"/>
                </a:solidFill>
                <a:latin typeface="Georgia"/>
              </a:rPr>
              <a:t>The same collapse and the same rescue — Qwen-14B comes back to 97% of its original math score.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1417320"/>
            <a:ext cx="3886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AE9141"/>
                </a:solidFill>
                <a:latin typeface="Georgia"/>
              </a:rPr>
              <a:t>3-TURN CONVERSATIONS (Multi-IF)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892040" y="1783080"/>
          <a:ext cx="3886200" cy="1207008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325880"/>
                <a:gridCol w="850392"/>
                <a:gridCol w="850392"/>
                <a:gridCol w="85953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Llama-8B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turn 1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turn 2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turn 3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original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0.722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0.559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0.409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compressed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B1B1B"/>
                          </a:solidFill>
                          <a:latin typeface="Georgia"/>
                        </a:rPr>
                        <a:t>0.086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B1B1B"/>
                          </a:solidFill>
                          <a:latin typeface="Georgia"/>
                        </a:rPr>
                        <a:t>0.008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B1B1B"/>
                          </a:solidFill>
                          <a:latin typeface="Georgia"/>
                        </a:rPr>
                        <a:t>0.001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 protection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0.592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0.372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0.215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892040" y="3291840"/>
            <a:ext cx="38862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0C2340"/>
                </a:solidFill>
                <a:latin typeface="Georgia"/>
              </a:rPr>
              <a:t>In multi-turn chat, compression damage compounds with every turn (mild Qwen-7B: −0.09 at turn 1 grows to −0.15 by turn 3) — multi-turn use amplifies whatever quantization broke.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The Master Table (IFEval, all @ 3-bit)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EVERYTHING ON ONE SLIDE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371600"/>
          <a:ext cx="8366760" cy="32004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600200"/>
                <a:gridCol w="868680"/>
                <a:gridCol w="960120"/>
                <a:gridCol w="868680"/>
                <a:gridCol w="1325880"/>
                <a:gridCol w="1600200"/>
                <a:gridCol w="1143000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Georgia"/>
                        </a:rPr>
                        <a:t>Model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Georgia"/>
                        </a:rPr>
                        <a:t>original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Georgia"/>
                        </a:rPr>
                        <a:t>naive RTN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Georgia"/>
                        </a:rPr>
                        <a:t>GPTQ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Georgia"/>
                        </a:rPr>
                        <a:t>GPTQ + protect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Georgia"/>
                        </a:rPr>
                        <a:t>protection gain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Georgia"/>
                        </a:rPr>
                        <a:t>tier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Qwen2.5-7B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0.765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0.500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0.672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0.702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+0.030 (noise)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mild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Mistral-7B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0.552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0.420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0.468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0.500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+0.033 (noise)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mild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Mistral-24B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0.757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0.698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mild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Qwen2.5-32B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0.838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0.762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mild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OLMo-2-7B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0.750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0.688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mild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Llama-3-8B (older gen)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0.758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0.611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middle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Yi-1.5-9B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0.594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0.320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0.443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0.462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+0.020 (noise)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middle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Llama-3.2-3B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0.750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0.577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middle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Mistral-Nemo-12B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0.651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0.476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middle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Qwen2.5-3B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0.658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0.130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0.411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0.484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+0.074 (small)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middle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Qwen2.5-14B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0.820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0.697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9B1B1B"/>
                          </a:solidFill>
                          <a:latin typeface="Georgia"/>
                        </a:rPr>
                        <a:t>0.412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A833C"/>
                          </a:solidFill>
                          <a:latin typeface="Georgia"/>
                        </a:rPr>
                        <a:t>0.782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A833C"/>
                          </a:solidFill>
                          <a:latin typeface="Georgia"/>
                        </a:rPr>
                        <a:t>+0.370 (rescue)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9B1B1B"/>
                          </a:solidFill>
                          <a:latin typeface="Georgia"/>
                        </a:rPr>
                        <a:t>COLLAPSE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Llama-3.1-8B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0.768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0.565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9B1B1B"/>
                          </a:solidFill>
                          <a:latin typeface="Georgia"/>
                        </a:rPr>
                        <a:t>0.150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A833C"/>
                          </a:solidFill>
                          <a:latin typeface="Georgia"/>
                        </a:rPr>
                        <a:t>0.643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A833C"/>
                          </a:solidFill>
                          <a:latin typeface="Georgia"/>
                        </a:rPr>
                        <a:t>+0.493 (rescue)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9B1B1B"/>
                          </a:solidFill>
                          <a:latin typeface="Georgia"/>
                        </a:rPr>
                        <a:t>COLLAPSE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11480" y="4389120"/>
            <a:ext cx="8321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5A5A5A"/>
                </a:solidFill>
                <a:latin typeface="Georgia"/>
              </a:rPr>
              <a:t>Protection = top-0.5% by TaCQ score, kept uncompressed. 8/4/2-bit ladders: “window” slide; math &amp; multi-turn: previous slide.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What This Paper Says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417320"/>
            <a:ext cx="832104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200" b="1" i="0">
                <a:solidFill>
                  <a:srgbClr val="0C2340"/>
                </a:solidFill>
                <a:latin typeface="Georgia"/>
              </a:rPr>
              <a:t>0 · The WHEN rule.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Protection helps only inside a window — and the practical diagnostic is one comparison: if GPTQ's error correction is doing net harm (vs. naive rounding), protect; otherwise don't bother.</a:t>
            </a:r>
          </a:p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200" b="1" i="0">
                <a:solidFill>
                  <a:srgbClr val="0C2340"/>
                </a:solidFill>
                <a:latin typeface="Georgia"/>
              </a:rPr>
              <a:t>1 · Compression damage comes in two modes.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Usually mild; occasionally a collapse — and no statistic of the original model predicts which (we falsified every published candidate, on 6 models).</a:t>
            </a:r>
          </a:p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200" b="1" i="0">
                <a:solidFill>
                  <a:srgbClr val="0C2340"/>
                </a:solidFill>
                <a:latin typeface="Georgia"/>
              </a:rPr>
              <a:t>2 · Protection is a collapse-repair tool, not a general upgrade.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In a collapse it beats every alternative (including the newest rotation-based methods); otherwise it buys nothing.</a:t>
            </a:r>
          </a:p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200" b="1" i="0">
                <a:solidFill>
                  <a:srgbClr val="0C2340"/>
                </a:solidFill>
                <a:latin typeface="Georgia"/>
              </a:rPr>
              <a:t>3 · The cause is the compressor, not the low precision.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GPTQ's error correction × ~10⁵ hyper-sensitive weights. Naive rounding never collapses.</a:t>
            </a:r>
          </a:p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200" b="1" i="0">
                <a:solidFill>
                  <a:srgbClr val="0C2340"/>
                </a:solidFill>
                <a:latin typeface="Georgia"/>
              </a:rPr>
              <a:t>4 · Evaluation warning for the field.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A compressed model can pass perplexity + MMLU while losing 80% of its generative ability. Always test with generation.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The Two Closest Papers — and Where This Goes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RELATED WORK &amp;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417320"/>
            <a:ext cx="489204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AE9141"/>
                </a:solidFill>
                <a:latin typeface="Georgia"/>
              </a:rPr>
              <a:t>TaCQ (UNC Chapel Hill, 2025)</a:t>
            </a:r>
          </a:p>
          <a:p>
            <a:pPr algn="l">
              <a:spcAft>
                <a:spcPts val="1000"/>
              </a:spcAft>
            </a:pPr>
            <a:r>
              <a:rPr sz="1250" b="0" i="0">
                <a:solidFill>
                  <a:srgbClr val="0C2340"/>
                </a:solidFill>
                <a:latin typeface="Georgia"/>
              </a:rPr>
              <a:t>Invented the importance score we use, and showed protection improves compressed models. We answer the question they never asked: WHEN does it help (only in collapses) and WHY (the error-correction mechanism).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AE9141"/>
                </a:solidFill>
                <a:latin typeface="Georgia"/>
              </a:rPr>
              <a:t>Super Weights (Mengxia Yu, ND + Apple, 2024)</a:t>
            </a:r>
          </a:p>
          <a:p>
            <a:pPr algn="l"/>
            <a:r>
              <a:rPr sz="1250" b="0" i="0">
                <a:solidFill>
                  <a:srgbClr val="0C2340"/>
                </a:solidFill>
                <a:latin typeface="Georgia"/>
              </a:rPr>
              <a:t>Found that every LLM has 3–6 individual “super weights” — delete one and the model dies. We tested them: protecting ONLY those few does not prevent the collapse (0.16). The collapse involves a different, ~100,000-weight set. Complementary, not competing.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1417320"/>
            <a:ext cx="306324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AE9141"/>
                </a:solidFill>
                <a:latin typeface="Georgia"/>
              </a:rPr>
              <a:t>TARGET</a:t>
            </a:r>
          </a:p>
          <a:p>
            <a:pPr algn="l">
              <a:spcAft>
                <a:spcPts val="1000"/>
              </a:spcAft>
            </a:pPr>
            <a:r>
              <a:rPr sz="1250" b="0" i="0">
                <a:solidFill>
                  <a:srgbClr val="0C2340"/>
                </a:solidFill>
                <a:latin typeface="Georgia"/>
              </a:rPr>
              <a:t>ICLR 2027 — abstract Sept 18, paper Sept 25. Backup: ACL 2027 (Feb), reusing the ICLR reviews.</a:t>
            </a:r>
          </a:p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AE9141"/>
                </a:solidFill>
                <a:latin typeface="Georgia"/>
              </a:rPr>
              <a:t>READINESS</a:t>
            </a:r>
          </a:p>
          <a:p>
            <a:pPr algn="l"/>
            <a:r>
              <a:rPr sz="1250" b="0" i="0">
                <a:solidFill>
                  <a:srgbClr val="0C2340"/>
                </a:solidFill>
                <a:latin typeface="Georgia"/>
              </a:rPr>
              <a:t>Every claim has controls, replicates, and confidence intervals; backup experiments (70B model, another compressor) are staged for the rebuttal phase.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DISCUSSION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914400" y="1234440"/>
            <a:ext cx="7315200" cy="731520"/>
          </a:xfrm>
        </p:spPr>
        <p:txBody>
          <a:bodyPr wrap="square"/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What I'd Like Your Input 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94560"/>
            <a:ext cx="731520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400" b="0" i="0">
                <a:solidFill>
                  <a:srgbClr val="FFFFFF"/>
                </a:solidFill>
                <a:latin typeface="Georgia"/>
              </a:rPr>
              <a:t>Does the story read as one clean question with one clean answer?</a:t>
            </a:r>
          </a:p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400" b="0" i="0">
                <a:solidFill>
                  <a:srgbClr val="FFFFFF"/>
                </a:solidFill>
                <a:latin typeface="Georgia"/>
              </a:rPr>
              <a:t>Venue: OK to commit to ICLR (Sept 25) with ACL as the fallback?</a:t>
            </a:r>
          </a:p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400" b="0" i="0">
                <a:solidFill>
                  <a:srgbClr val="FFFFFF"/>
                </a:solidFill>
                <a:latin typeface="Georgia"/>
              </a:rPr>
              <a:t>How should we engage Mengxia's Super-Weights work — note or citation?</a:t>
            </a:r>
          </a:p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400" b="0" i="0">
                <a:solidFill>
                  <a:srgbClr val="FFFFFF"/>
                </a:solidFill>
                <a:latin typeface="Georgia"/>
              </a:rPr>
              <a:t>Anything worth adding while the cluster is still available?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Notre Dame">
      <a:dk1>
        <a:srgbClr val="0C2340"/>
      </a:dk1>
      <a:lt1>
        <a:srgbClr val="FFFFFF"/>
      </a:lt1>
      <a:dk2>
        <a:srgbClr val="AE9141"/>
      </a:dk2>
      <a:lt2>
        <a:srgbClr val="EFE9D9"/>
      </a:lt2>
      <a:accent1>
        <a:srgbClr val="143865"/>
      </a:accent1>
      <a:accent2>
        <a:srgbClr val="AE9141"/>
      </a:accent2>
      <a:accent3>
        <a:srgbClr val="0A833C"/>
      </a:accent3>
      <a:accent4>
        <a:srgbClr val="1C4F8F"/>
      </a:accent4>
      <a:accent5>
        <a:srgbClr val="C1CDDD"/>
      </a:accent5>
      <a:accent6>
        <a:srgbClr val="B3DAC5"/>
      </a:accent6>
      <a:hlink>
        <a:srgbClr val="8C7534"/>
      </a:hlink>
      <a:folHlink>
        <a:srgbClr val="1C4F8F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</TotalTime>
  <Words>0</Words>
  <Application>Microsoft Office PowerPoint</Application>
  <PresentationFormat>Custom</PresentationFormat>
  <Paragraphs>0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Becky Rogers</dc:creator>
  <cp:lastModifiedBy>Jiahao Zheng</cp:lastModifiedBy>
  <cp:revision>2</cp:revision>
  <dcterms:created xsi:type="dcterms:W3CDTF">2024-10-11T14:50:24Z</dcterms:created>
  <dcterms:modified xsi:type="dcterms:W3CDTF">2026-09-02T04:26:51Z</dcterms:modified>
</cp:coreProperties>
</file>