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7"/>
    <p:sldId id="257" r:id="rId8"/>
    <p:sldId id="258" r:id="rId9"/>
    <p:sldId id="259" r:id="rId10"/>
    <p:sldId id="260" r:id="rId6"/>
    <p:sldId id="261" r:id="rId5"/>
    <p:sldId id="262" r:id="rId4"/>
    <p:sldId id="263" r:id="rId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2"/>
    <p:restoredTop sz="94699"/>
  </p:normalViewPr>
  <p:slideViewPr>
    <p:cSldViewPr snapToGrid="0">
      <p:cViewPr varScale="1">
        <p:scale>
          <a:sx n="92" d="100"/>
          <a:sy n="92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C2340"/>
                </a:solidFill>
                <a:latin typeface="Georgia"/>
              </a:rPr>
              <a:t>Input vector length per token, layer-1 down_proj (full precision)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C2340"/>
            </a:solidFill>
          </c:spPr>
          <c:cat>
            <c:strRef>
              <c:f>Sheet1!$A$2:$A$8</c:f>
              <c:strCache>
                <c:ptCount val="7"/>
                <c:pt idx="0">
                  <c:v>BOS</c:v>
                </c:pt>
                <c:pt idx="1">
                  <c:v>&lt;|start_hdr|&gt;</c:v>
                </c:pt>
                <c:pt idx="2">
                  <c:v>system</c:v>
                </c:pt>
                <c:pt idx="3">
                  <c:v>&lt;|end_hdr|&gt;</c:v>
                </c:pt>
                <c:pt idx="4">
                  <c:v>\n\n</c:v>
                </c:pt>
                <c:pt idx="5">
                  <c:v>Cutting</c:v>
                </c:pt>
                <c:pt idx="6">
                  <c:v>later…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481</c:v>
                </c:pt>
                <c:pt idx="1">
                  <c:v>2.0</c:v>
                </c:pt>
                <c:pt idx="2">
                  <c:v>1.1</c:v>
                </c:pt>
                <c:pt idx="3">
                  <c:v>2.5</c:v>
                </c:pt>
                <c:pt idx="4">
                  <c:v>1.0</c:v>
                </c:pt>
                <c:pt idx="5">
                  <c:v>0.9</c:v>
                </c:pt>
                <c:pt idx="6">
                  <c:v>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22222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5A5A5A"/>
            </a:solidFill>
          </a:ln>
        </c:spPr>
        <c:txPr>
          <a:bodyPr/>
          <a:lstStyle/>
          <a:p>
            <a:pPr>
              <a:defRPr sz="1000">
                <a:solidFill>
                  <a:srgbClr val="222222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C2340"/>
                </a:solidFill>
                <a:latin typeface="Georgia"/>
              </a:rPr>
              <a:t>Fix A minus default GPTQ, IFEval ×100 (3-bit)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C2340"/>
            </a:solidFill>
          </c:spPr>
          <c:dPt>
            <c:idx val="0"/>
            <c:spPr>
              <a:solidFill>
                <a:srgbClr val="0C2340"/>
              </a:solidFill>
            </c:spPr>
          </c:dPt>
          <c:dPt>
            <c:idx val="1"/>
            <c:spPr>
              <a:solidFill>
                <a:srgbClr val="0C2340"/>
              </a:solidFill>
            </c:spPr>
          </c:dPt>
          <c:dPt>
            <c:idx val="2"/>
            <c:spPr>
              <a:solidFill>
                <a:srgbClr val="0C2340"/>
              </a:solidFill>
            </c:spPr>
          </c:dPt>
          <c:dPt>
            <c:idx val="3"/>
            <c:spPr>
              <a:solidFill>
                <a:srgbClr val="0C2340"/>
              </a:solidFill>
            </c:spPr>
          </c:dPt>
          <c:dPt>
            <c:idx val="4"/>
            <c:spPr>
              <a:solidFill>
                <a:srgbClr val="0C2340"/>
              </a:solidFill>
            </c:spPr>
          </c:dPt>
          <c:dPt>
            <c:idx val="5"/>
            <c:spPr>
              <a:solidFill>
                <a:srgbClr val="0C2340"/>
              </a:solidFill>
            </c:spPr>
          </c:dPt>
          <c:dPt>
            <c:idx val="6"/>
            <c:spPr>
              <a:solidFill>
                <a:srgbClr val="0C2340"/>
              </a:solidFill>
            </c:spPr>
          </c:dPt>
          <c:dPt>
            <c:idx val="7"/>
            <c:spPr>
              <a:solidFill>
                <a:srgbClr val="0C2340"/>
              </a:solidFill>
            </c:spPr>
          </c:dPt>
          <c:dPt>
            <c:idx val="8"/>
            <c:spPr>
              <a:solidFill>
                <a:srgbClr val="0C2340"/>
              </a:solidFill>
            </c:spPr>
          </c:dPt>
          <c:dPt>
            <c:idx val="9"/>
            <c:spPr>
              <a:solidFill>
                <a:srgbClr val="0C2340"/>
              </a:solidFill>
            </c:spPr>
          </c:dPt>
          <c:dPt>
            <c:idx val="10"/>
            <c:spPr>
              <a:solidFill>
                <a:srgbClr val="A61B1B"/>
              </a:solidFill>
            </c:spPr>
          </c:dPt>
          <c:dPt>
            <c:idx val="11"/>
            <c:spPr>
              <a:solidFill>
                <a:srgbClr val="A61B1B"/>
              </a:solidFill>
            </c:spPr>
          </c:dPt>
          <c:dPt>
            <c:idx val="12"/>
            <c:spPr>
              <a:solidFill>
                <a:srgbClr val="A61B1B"/>
              </a:solidFill>
            </c:spPr>
          </c:dPt>
          <c:dPt>
            <c:idx val="13"/>
            <c:spPr>
              <a:solidFill>
                <a:srgbClr val="A61B1B"/>
              </a:solidFill>
            </c:spPr>
          </c:dPt>
          <c:dPt>
            <c:idx val="14"/>
            <c:spPr>
              <a:solidFill>
                <a:srgbClr val="A61B1B"/>
              </a:solidFill>
            </c:spPr>
          </c:dPt>
          <c:dPt>
            <c:idx val="15"/>
            <c:spPr>
              <a:solidFill>
                <a:srgbClr val="A61B1B"/>
              </a:solidFill>
            </c:spPr>
          </c:dPt>
          <c:cat>
            <c:strRef>
              <c:f>Sheet1!$A$2:$A$17</c:f>
              <c:strCache>
                <c:ptCount val="16"/>
                <c:pt idx="0">
                  <c:v>Llama-3.1-8B</c:v>
                </c:pt>
                <c:pt idx="1">
                  <c:v>Qwen-14B</c:v>
                </c:pt>
                <c:pt idx="2">
                  <c:v>Qwen-32B</c:v>
                </c:pt>
                <c:pt idx="3">
                  <c:v>SmolLM2-1.7B</c:v>
                </c:pt>
                <c:pt idx="4">
                  <c:v>Qwen-3B</c:v>
                </c:pt>
                <c:pt idx="5">
                  <c:v>Nemo-12B</c:v>
                </c:pt>
                <c:pt idx="6">
                  <c:v>Llama-3.2-1B</c:v>
                </c:pt>
                <c:pt idx="7">
                  <c:v>Qwen-7B</c:v>
                </c:pt>
                <c:pt idx="8">
                  <c:v>gemma-9b</c:v>
                </c:pt>
                <c:pt idx="9">
                  <c:v>Llama-3.2-3B</c:v>
                </c:pt>
                <c:pt idx="10">
                  <c:v>Mistral-24B</c:v>
                </c:pt>
                <c:pt idx="11">
                  <c:v>Falcon3-7B</c:v>
                </c:pt>
                <c:pt idx="12">
                  <c:v>gemma-2b</c:v>
                </c:pt>
                <c:pt idx="13">
                  <c:v>Llama-3-8B</c:v>
                </c:pt>
                <c:pt idx="14">
                  <c:v>Mistral v0.2</c:v>
                </c:pt>
                <c:pt idx="15">
                  <c:v>Mistral v0.3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49.9</c:v>
                </c:pt>
                <c:pt idx="1">
                  <c:v>30.8</c:v>
                </c:pt>
                <c:pt idx="2">
                  <c:v>4.4</c:v>
                </c:pt>
                <c:pt idx="3">
                  <c:v>4.3</c:v>
                </c:pt>
                <c:pt idx="4">
                  <c:v>3.1</c:v>
                </c:pt>
                <c:pt idx="5">
                  <c:v>2.6</c:v>
                </c:pt>
                <c:pt idx="6">
                  <c:v>2.0</c:v>
                </c:pt>
                <c:pt idx="7">
                  <c:v>1.0</c:v>
                </c:pt>
                <c:pt idx="8">
                  <c:v>0.9</c:v>
                </c:pt>
                <c:pt idx="9">
                  <c:v>0.7</c:v>
                </c:pt>
                <c:pt idx="10">
                  <c:v>-0.6</c:v>
                </c:pt>
                <c:pt idx="11">
                  <c:v>-1.3</c:v>
                </c:pt>
                <c:pt idx="12">
                  <c:v>-2.4</c:v>
                </c:pt>
                <c:pt idx="13">
                  <c:v>-2.6</c:v>
                </c:pt>
                <c:pt idx="14">
                  <c:v>-3.7</c:v>
                </c:pt>
                <c:pt idx="15">
                  <c:v>-4.5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5A5A5A"/>
            </a:solidFill>
          </a:ln>
        </c:spPr>
        <c:txPr>
          <a:bodyPr/>
          <a:lstStyle/>
          <a:p>
            <a:pPr>
              <a:defRPr sz="900">
                <a:solidFill>
                  <a:srgbClr val="222222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53F233AC-0510-266D-FCFF-ED178091A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19750" y="1542900"/>
            <a:ext cx="69045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1;p2">
            <a:extLst>
              <a:ext uri="{FF2B5EF4-FFF2-40B4-BE49-F238E27FC236}">
                <a16:creationId xmlns:a16="http://schemas.microsoft.com/office/drawing/2014/main" id="{EBA9A701-A8A7-7A94-C42F-AFF86B24D4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12;p2">
            <a:extLst>
              <a:ext uri="{FF2B5EF4-FFF2-40B4-BE49-F238E27FC236}">
                <a16:creationId xmlns:a16="http://schemas.microsoft.com/office/drawing/2014/main" id="{406771D0-11A3-EF17-C573-EE63C1744858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975" y="3517275"/>
            <a:ext cx="2064040" cy="84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032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;p3">
            <a:extLst>
              <a:ext uri="{FF2B5EF4-FFF2-40B4-BE49-F238E27FC236}">
                <a16:creationId xmlns:a16="http://schemas.microsoft.com/office/drawing/2014/main" id="{D873DB60-2845-4283-B9B0-33688CF767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8100" y="900650"/>
            <a:ext cx="4730183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7;p3">
            <a:extLst>
              <a:ext uri="{FF2B5EF4-FFF2-40B4-BE49-F238E27FC236}">
                <a16:creationId xmlns:a16="http://schemas.microsoft.com/office/drawing/2014/main" id="{74931D05-9E21-F408-1459-67459AEB3B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8450" y="3444184"/>
            <a:ext cx="3910800" cy="11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43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;p4">
            <a:extLst>
              <a:ext uri="{FF2B5EF4-FFF2-40B4-BE49-F238E27FC236}">
                <a16:creationId xmlns:a16="http://schemas.microsoft.com/office/drawing/2014/main" id="{7B8921AA-03BC-05A8-8CE2-0FCF8183B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58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7E39A30-1A52-CABC-F51D-19833C97CC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177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CFC7DBD6-46F0-3242-09EE-0A1B092852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77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27;p5">
            <a:extLst>
              <a:ext uri="{FF2B5EF4-FFF2-40B4-BE49-F238E27FC236}">
                <a16:creationId xmlns:a16="http://schemas.microsoft.com/office/drawing/2014/main" id="{4092F99A-727D-0C7F-193F-34116CE16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081900"/>
            <a:ext cx="6306600" cy="15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2F9AE3FA-8A49-71C7-6EDC-1AAC78FA1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01850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4" name="Google Shape;29;p5">
            <a:extLst>
              <a:ext uri="{FF2B5EF4-FFF2-40B4-BE49-F238E27FC236}">
                <a16:creationId xmlns:a16="http://schemas.microsoft.com/office/drawing/2014/main" id="{80A249F5-85E5-82EA-5EE3-723221E6350F}"/>
              </a:ext>
            </a:extLst>
          </p:cNvPr>
          <p:cNvCxnSpPr/>
          <p:nvPr userDrawn="1"/>
        </p:nvCxnSpPr>
        <p:spPr>
          <a:xfrm>
            <a:off x="4572000" y="2734725"/>
            <a:ext cx="0" cy="18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30;p5">
            <a:extLst>
              <a:ext uri="{FF2B5EF4-FFF2-40B4-BE49-F238E27FC236}">
                <a16:creationId xmlns:a16="http://schemas.microsoft.com/office/drawing/2014/main" id="{0B1D5D14-474F-A0D0-5057-FAE028584E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54675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830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34;p6">
            <a:extLst>
              <a:ext uri="{FF2B5EF4-FFF2-40B4-BE49-F238E27FC236}">
                <a16:creationId xmlns:a16="http://schemas.microsoft.com/office/drawing/2014/main" id="{5FC66DFF-8561-60DB-A937-68A4ABF49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35;p6">
            <a:extLst>
              <a:ext uri="{FF2B5EF4-FFF2-40B4-BE49-F238E27FC236}">
                <a16:creationId xmlns:a16="http://schemas.microsoft.com/office/drawing/2014/main" id="{EFF21C56-7AF9-66E6-BCA4-D7F0B9C4E5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36;p6">
            <a:extLst>
              <a:ext uri="{FF2B5EF4-FFF2-40B4-BE49-F238E27FC236}">
                <a16:creationId xmlns:a16="http://schemas.microsoft.com/office/drawing/2014/main" id="{94C6C7E4-002D-CC99-987D-28B937BED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" name="Google Shape;37;p6">
            <a:extLst>
              <a:ext uri="{FF2B5EF4-FFF2-40B4-BE49-F238E27FC236}">
                <a16:creationId xmlns:a16="http://schemas.microsoft.com/office/drawing/2014/main" id="{AC5C48E9-8BD4-498A-FFD8-418F505EC66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28452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Google Shape;38;p6">
            <a:extLst>
              <a:ext uri="{FF2B5EF4-FFF2-40B4-BE49-F238E27FC236}">
                <a16:creationId xmlns:a16="http://schemas.microsoft.com/office/drawing/2014/main" id="{117E4942-88B2-F745-6083-7C627D6325B6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54337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308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42;p7">
            <a:extLst>
              <a:ext uri="{FF2B5EF4-FFF2-40B4-BE49-F238E27FC236}">
                <a16:creationId xmlns:a16="http://schemas.microsoft.com/office/drawing/2014/main" id="{BD6370DA-F18F-B9CF-6F9E-D2D405AC0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43;p7">
            <a:extLst>
              <a:ext uri="{FF2B5EF4-FFF2-40B4-BE49-F238E27FC236}">
                <a16:creationId xmlns:a16="http://schemas.microsoft.com/office/drawing/2014/main" id="{3DAFA47F-8E25-D3EA-5FAC-4C45713CCB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44;p7">
            <a:extLst>
              <a:ext uri="{FF2B5EF4-FFF2-40B4-BE49-F238E27FC236}">
                <a16:creationId xmlns:a16="http://schemas.microsoft.com/office/drawing/2014/main" id="{83A41736-C4EC-2907-33B2-A8ECE7401E9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04985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239232F9-A89D-ACB2-8A6C-241019DDE049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30870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48;p7">
            <a:extLst>
              <a:ext uri="{FF2B5EF4-FFF2-40B4-BE49-F238E27FC236}">
                <a16:creationId xmlns:a16="http://schemas.microsoft.com/office/drawing/2014/main" id="{5DFF0D8A-48DF-28FF-EBA3-5D8D0870D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85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50;p8">
            <a:extLst>
              <a:ext uri="{FF2B5EF4-FFF2-40B4-BE49-F238E27FC236}">
                <a16:creationId xmlns:a16="http://schemas.microsoft.com/office/drawing/2014/main" id="{4185BD83-7301-7FFC-E73C-F7FEFCF7C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51;p8">
            <a:extLst>
              <a:ext uri="{FF2B5EF4-FFF2-40B4-BE49-F238E27FC236}">
                <a16:creationId xmlns:a16="http://schemas.microsoft.com/office/drawing/2014/main" id="{9B77F4B2-CBBE-CE5B-9A8D-A9EB7403A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94350" y="3504825"/>
            <a:ext cx="22857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9254004C-2368-C3C8-DFF7-38F96A4C70D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657375" y="1435325"/>
            <a:ext cx="4486500" cy="28755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422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53;p8">
            <a:extLst>
              <a:ext uri="{FF2B5EF4-FFF2-40B4-BE49-F238E27FC236}">
                <a16:creationId xmlns:a16="http://schemas.microsoft.com/office/drawing/2014/main" id="{7AAB6B8E-1814-24D5-F727-C528E7D90C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417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54;p8">
            <a:extLst>
              <a:ext uri="{FF2B5EF4-FFF2-40B4-BE49-F238E27FC236}">
                <a16:creationId xmlns:a16="http://schemas.microsoft.com/office/drawing/2014/main" id="{5006C48F-0795-9DCF-9885-5A7CCA2A2D7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328700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55;p8">
            <a:extLst>
              <a:ext uri="{FF2B5EF4-FFF2-40B4-BE49-F238E27FC236}">
                <a16:creationId xmlns:a16="http://schemas.microsoft.com/office/drawing/2014/main" id="{06D408E1-D8EC-F8EE-8FBD-D508720805F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569322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" name="Google Shape;58;p8">
            <a:extLst>
              <a:ext uri="{FF2B5EF4-FFF2-40B4-BE49-F238E27FC236}">
                <a16:creationId xmlns:a16="http://schemas.microsoft.com/office/drawing/2014/main" id="{EA36A0E3-007D-E420-AA92-D94611843340}"/>
              </a:ext>
            </a:extLst>
          </p:cNvPr>
          <p:cNvSpPr txBox="1"/>
          <p:nvPr userDrawn="1"/>
        </p:nvSpPr>
        <p:spPr>
          <a:xfrm>
            <a:off x="1562578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7F64-E26E-961A-4C60-2161B925AC42}"/>
              </a:ext>
            </a:extLst>
          </p:cNvPr>
          <p:cNvSpPr/>
          <p:nvPr userDrawn="1"/>
        </p:nvSpPr>
        <p:spPr>
          <a:xfrm>
            <a:off x="1252769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58;p8">
            <a:extLst>
              <a:ext uri="{FF2B5EF4-FFF2-40B4-BE49-F238E27FC236}">
                <a16:creationId xmlns:a16="http://schemas.microsoft.com/office/drawing/2014/main" id="{ED7DFD84-16EE-897A-F788-87370B160857}"/>
              </a:ext>
            </a:extLst>
          </p:cNvPr>
          <p:cNvSpPr txBox="1"/>
          <p:nvPr userDrawn="1"/>
        </p:nvSpPr>
        <p:spPr>
          <a:xfrm>
            <a:off x="3913329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2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1DE8F7-EFD7-20C5-C9C3-9769E90E9BBB}"/>
              </a:ext>
            </a:extLst>
          </p:cNvPr>
          <p:cNvSpPr/>
          <p:nvPr userDrawn="1"/>
        </p:nvSpPr>
        <p:spPr>
          <a:xfrm>
            <a:off x="3603520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Google Shape;58;p8">
            <a:extLst>
              <a:ext uri="{FF2B5EF4-FFF2-40B4-BE49-F238E27FC236}">
                <a16:creationId xmlns:a16="http://schemas.microsoft.com/office/drawing/2014/main" id="{12CD22A9-C77F-0E37-F41A-FD3B0AC1D37A}"/>
              </a:ext>
            </a:extLst>
          </p:cNvPr>
          <p:cNvSpPr txBox="1"/>
          <p:nvPr userDrawn="1"/>
        </p:nvSpPr>
        <p:spPr>
          <a:xfrm>
            <a:off x="6264081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A5766C-C98A-4511-B9BB-B7A84A8C4F78}"/>
              </a:ext>
            </a:extLst>
          </p:cNvPr>
          <p:cNvSpPr/>
          <p:nvPr userDrawn="1"/>
        </p:nvSpPr>
        <p:spPr>
          <a:xfrm>
            <a:off x="5954272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4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68;p10">
            <a:extLst>
              <a:ext uri="{FF2B5EF4-FFF2-40B4-BE49-F238E27FC236}">
                <a16:creationId xmlns:a16="http://schemas.microsoft.com/office/drawing/2014/main" id="{F1FE515D-79AE-554B-0E88-BC6BEE9DF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725" y="1626263"/>
            <a:ext cx="46101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72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9388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D83E5-B358-A14A-9A6E-D4F1762030E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D784F-FBAE-2742-9AFF-34F1F0A48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17320"/>
            <a:ext cx="7315200" cy="1463040"/>
          </a:xfrm>
        </p:spPr>
        <p:txBody>
          <a:bodyPr/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Why 3-bit Quantization Breaks Some Chat Models</a:t>
            </a:r>
          </a:p>
          <a:p>
            <a:r>
              <a:rPr sz="2600" b="1">
                <a:solidFill>
                  <a:srgbClr val="FFFFFF"/>
                </a:solidFill>
                <a:latin typeface="Georgia"/>
              </a:rPr>
              <a:t>— and a One-Line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C9A24A"/>
                </a:solidFill>
                <a:latin typeface="Georgia"/>
              </a:rPr>
              <a:t>Cause found · fix found · tested on 16 models  (follow-up to the 3 Sept report)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6949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Georgia"/>
              </a:rPr>
              <a:t>Jiahao Zheng  ·  Advisor Update  ·  9 September 2026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C9D3E0"/>
                </a:solidFill>
                <a:latin typeface="Georgia"/>
              </a:rPr>
              <a:t>Experiment batches W20–W45, about 260 quantization runs since 3 Sept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Where we were last week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RECAP · 3 SEPTEMBER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6908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C2340"/>
                </a:solidFill>
                <a:latin typeface="Georgia"/>
              </a:rPr>
              <a:t>What I reported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Compressing weights to 3 bits with the standard method (GPTQ) destroyed 2 of 11 chat models: Llama-3.1-8B fell from 0.77 to 0.15 on instruction following, Qwen2.5-14B from 0.82 to 0.41.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The naive method (round-to-nearest, RTN) did not collapse on either model → GPTQ's own “error correction” step was the culprit.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Keeping 0.5% of “important” weights at full precision recovered most of the loss (+49 and +37 points).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325880"/>
            <a:ext cx="402336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C2340"/>
                </a:solidFill>
                <a:latin typeface="Georgia"/>
              </a:rPr>
              <a:t>What was established, and what was open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Georgia"/>
              </a:rPr>
              <a:t>•  Established — bit-width: </a:t>
            </a:r>
            <a:r>
              <a:rPr sz="1300" b="0" i="0">
                <a:solidFill>
                  <a:srgbClr val="222222"/>
                </a:solidFill>
                <a:latin typeface="Georgia"/>
              </a:rPr>
              <a:t>the failure is specific to 3-bit. At 4-bit every model is within 2 points of full precision; at 2-bit nothing works, protection included.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Georgia"/>
              </a:rPr>
              <a:t>•  Established — models: </a:t>
            </a:r>
            <a:r>
              <a:rPr sz="1300" b="0" i="0">
                <a:solidFill>
                  <a:srgbClr val="222222"/>
                </a:solidFill>
                <a:latin typeface="Georgia"/>
              </a:rPr>
              <a:t>2 of 17 models under the default recipe (census extended from 11 to 17); not predictable from model family, size, or any full-precision statistic.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Georgia"/>
              </a:rPr>
              <a:t>•  Open: </a:t>
            </a:r>
            <a:r>
              <a:rPr sz="1300" b="0" i="0">
                <a:solidFill>
                  <a:srgbClr val="222222"/>
                </a:solidFill>
                <a:latin typeface="Georgia"/>
              </a:rPr>
              <a:t>which weights carry the failure, why these two models, why 3-bit specifically, and whether weight protection is the right remedy or just one that happens to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24528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This week: the cause, a fix that costs zero extra bits, and both tested on 16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Five words about quantization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BACKGROUND · PLAIN-LANGUAGE GLOSSARY 1/2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8321038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630935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What it means in this report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Quantization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Store each weight with 3 bits (8 possible values) instead of 16 → the model is ~5× smaller and cheaper to run.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RTN (round-to-nearest)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naive method: round every weight to the closest allowed value. Nothing else.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GPTQ, “error compensation”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industry standard (used by vLLM, HuggingFace). After rounding one weight it nudges the not-yet-rounded weights to cancel the rounding error. Smarter — but the nudging is where things go wrong.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Calibration set, Hessian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GPTQ needs sample text to know which errors matter. Default: 128 snippets of web text (“C4”). It summarises them in a matrix called the Hessian — a weighted record of what the calibration text looked like.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Damping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A brake on GPTQ's nudging. Larger damping = smaller adjustments = closer to RTN.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IFEval score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541 instructions with checkable constraints (“answer in 3 bullet points”). Score 0–1; Llama at full precision ≈ 0.77. Every number in this deck is IFEval unless labelled otherwise.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Five words about how a chat model reads a prompt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BACKGROUND · PLAIN-LANGUAGE GLOSSARY 2/2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8321038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630935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What it means in this report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Chat template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fixed wrapper every conversation is put in, e.g. Llama's  &lt;|begin_of_text|&gt;&lt;|start_header_id|&gt;user&lt;|end_header_id|&gt; …  These special tokens never occur in ordinary web text.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BOS token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“Beginning of sequence” — the first token of every input.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Attention sink / massive activation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In layer 1–2 the model builds a giant internal vector (100–800× larger than any other token's) on the BOS or first newline token; later layers park their attention there. Every Llama, Mistral and Qwen model does this.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down_proj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last matrix of each feed-forward block. In layer 0–1 it is the sub-layer that manufactures that giant vector.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Georgia"/>
                        </a:rPr>
                        <a:t>Position, residual stream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Each token carries a running vector through the layers (the residual stream). We measure how far the quantized model's vector drifts from the original at each token position and layer.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224528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Keep one picture in mind: an early layer builds a huge vector on the first token; everything after depends on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The naive method beats the smart one by 30–40 points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THE PUZZLE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512064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3-bit, default recipe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Full precision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RTN (naive)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GPTQ (smart)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Llama-3.1-8B-Instruct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0.565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61B1B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Qwen2.5-14B-Instruct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0.820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0.697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61B1B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Other 15 models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GPTQ ≥ RTN on all of them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06440" y="1325880"/>
            <a:ext cx="292608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C2340"/>
                </a:solidFill>
                <a:latin typeface="Georgia"/>
              </a:rPr>
              <a:t>What the numbers say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RTN uses the same 3 bits and does fine. So the problem is not “too few bits” — it is something GPTQ's correction step does.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It happens on exactly two models, unpredictably (Qwen-7B and -32B are fine, -14B collapses).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A collapsed model does not give wrong answers — it loops or refuses: 98% of its outputs are degenerate.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63240"/>
            <a:ext cx="512064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Research question: what does GPTQ's correction step break, where, why only sometimes — and can we stop it without spending bits?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24528"/>
            <a:ext cx="83210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5A5A5A"/>
                </a:solidFill>
                <a:latin typeface="Georgia"/>
              </a:rPr>
              <a:t>How to read every table: IFEval avg4, 0–1, higher is better; 3-bit, group 128, standard C4 calibration unless stated. Differences of ±2 points are within seed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Five questions, five answers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ROADMAP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832104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"/>
                <a:gridCol w="2194560"/>
                <a:gridCol w="5029200"/>
                <a:gridCol w="7315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Question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Answer (one line)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Slides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Is it the algorithm or the bits?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algorithm: GPTQ over-fits the web-text calibration set; what the calibration text is missing is the chat template.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7–8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Where in the network, which weights?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first two layers, at the first template token; one matrix (layer-1 down_proj) carries the collapse.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9–11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Why is 4-bit fine and 3-bit not?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A threshold on the error at that token: 4-bit sits just below it, 3-bit far above.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Can we fix it without extra bits?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Yes, two ways: weigh calibration tokens equally (one line), or round that one matrix naively.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Is this a two-model accident?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No: 14 of 16 models share the structure; the fix averages +5.7 across them; gemma is the explained exception.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14–16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Then: last week's story rewritten (17), what is new versus existing work (18), paper plan (19).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Loosening GPTQ's fit to the calibration text cures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Q1 · ALGORITHM OR BITS?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5212080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914400"/>
                <a:gridCol w="10058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Intervention (3-bit)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Llama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Qwen-14B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GPTQ, default (C4 web text, damping 0.05)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1B1B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1B1B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RTN — no compensation at all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0.565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0.697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GPTQ, calibrate on chat conversations instead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GPTQ, damping 5 (strong brake)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0.642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0.786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AWQ — a method without compensation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GPTQ, C4 with 4× more snippets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0.151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Protect 0.5% weights (last week)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97880" y="1325880"/>
            <a:ext cx="283464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C2340"/>
                </a:solidFill>
                <a:latin typeface="Georgia"/>
              </a:rPr>
              <a:t>Reading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“Over-fitting”: GPTQ adjusts weights to be as accurate as possible on the 128 calibration snippets — at the expense of inputs it never saw.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Three unrelated brakes all cure it: different text, a damping knob, no compensation. More of the same text does not.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Georgia"/>
              </a:rPr>
              <a:t>•  Last week's weight protection is a fourth brake — it stops the compensation locally.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51960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Collapse is a property of the fitting procedure, not of 3-bit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The missing ingredient is the chat template itself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Q1 · WHAT IS MISSING FROM THE CALIBRATION TEXT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832104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60720"/>
                <a:gridCol w="128016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Calibration set (same 128 C4 snippets in every row)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Llama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Qwen-14B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Plain snippets (default)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Same snippets, wrapped in the model's own chat template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34"/>
                          </a:solidFill>
                          <a:latin typeface="Georgia"/>
                        </a:rPr>
                        <a:t>0.644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34"/>
                          </a:solidFill>
                          <a:latin typeface="Georgia"/>
                        </a:rPr>
                        <a:t>0.772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Georgia"/>
                        </a:rPr>
                        <a:t>Same snippets, wrapped in a foreign template (Qwen's on Llama, Llama's on Qwen)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61B1B"/>
                          </a:solidFill>
                          <a:latin typeface="Georgia"/>
                        </a:rPr>
                        <a:t>0.162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7B34"/>
                          </a:solidFill>
                          <a:latin typeface="Georgia"/>
                        </a:rPr>
                        <a:t>0.750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926080"/>
            <a:ext cx="832104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Georgia"/>
              </a:rPr>
              <a:t>•  The text content is identical; only the wrapper tokens change. Adding the model's own template tokens is enough to cure both models.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Georgia"/>
              </a:rPr>
              <a:t>•  The foreign-template row explains why: Llama needs its own special token &lt;|end_header_id|&gt; (a foreign wrapper does not contain it → no cure); Qwen only needs a newline early in the sequence (the Llama wrapper happens to contain one → cured).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Georgia"/>
              </a:rPr>
              <a:t>•  Rule: the calibration text must contain the token at which the model builds its attention sink. Web text never contains Llama's.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97680"/>
            <a:ext cx="8321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Folklore says “calibrate chat models with the template”; we now know which token matters, and why.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Damage starts in layer 2 at the first template token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Q2 · WHERE IN THE NETWORK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5669276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3684"/>
                <a:gridCol w="475743"/>
                <a:gridCol w="991132"/>
                <a:gridCol w="555034"/>
                <a:gridCol w="951487"/>
                <a:gridCol w="872196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Llama, 3-bit GPTQ: drift vs full precision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BOS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&lt;|start_header_id|&gt;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system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&lt;|end_header_id|&gt;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all later tokens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after layer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after layer 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0.31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A61B1B"/>
                          </a:solidFill>
                          <a:latin typeface="Georgia"/>
                        </a:rPr>
                        <a:t>3.85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0.65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after layer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A61B1B"/>
                          </a:solidFill>
                          <a:latin typeface="Georgia"/>
                        </a:rPr>
                        <a:t>2.95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1.42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after layer 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0.36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1.94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A61B1B"/>
                          </a:solidFill>
                          <a:latin typeface="Georgia"/>
                        </a:rPr>
                        <a:t>3.23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same, after the fix (layer 2 / 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7B34"/>
                          </a:solidFill>
                          <a:latin typeface="Georgia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0.40 / 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325880"/>
            <a:ext cx="237744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How to read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Each cell: relative error of that token's vector vs the unquantized model (0 = identical, 1 = as large as the vector itself).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The BOS token is untouched. One template token is 4× off after layer 2; by layer 4 every later token is 3× off and the sequence is lost.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Qwen-14B: same pattern at its first newline, after layer 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51960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32 prompts and one forward pass reveal this; perplexity and MMLU do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One matrix carries the collapse — the usual score misses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Q2 · WHICH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5120639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9614"/>
                <a:gridCol w="931025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Llama, 3-bit: switch these weights from GPTQ to RTN (0 extra bits)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IFEval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nothing (default GPTQ)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124 matrices the token-averaged score calls “GPTQ worse than RTN”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0.153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the other 100 matrices it calls “fine”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0.615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layer-0 and layer-1 down_proj only (2 matrices)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0.625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layer-1 down_proj only (1 matrix, 0.35% of weights)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0.630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layer-0 down_proj only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0.629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reference: RTN everywhere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325880"/>
          <a:ext cx="2971799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05155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Other two collapses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IFEval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Qwen-14B: layer-4 down_proj → RTN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0.751 (from 0.412)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Mistral-7B (different trigger): layers 0–1 → RTN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Georgia"/>
                        </a:rPr>
                        <a:t>0.423 (from 0.174)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720" y="2606040"/>
            <a:ext cx="297180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Naively rounding one matrix recovers +48 points. Keeping it at full 16-bit precision adds only 2–5 more — the culprit is the compensation on that matrix, not its precision.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The standard layer-wise score ranks that matrix as GPTQ's best success (rank 221 of 224).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24528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Why would a score that measures reconstruction error rate the broken matrix as the best one? Next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At the sink-forming matrix, GPTQ's objective is one token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Q2 · WHY THAT MATRIX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280160"/>
          <a:ext cx="39319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325880"/>
          <a:ext cx="4160520" cy="24140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78308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Token position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GPTQ error ÷ RTN error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BOS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0.17  (GPTQ 6× better)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&lt;|start_header_id|&gt;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2.9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system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&lt;|end_header_id|&gt;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1B1B"/>
                          </a:solidFill>
                          <a:latin typeface="Georgia"/>
                        </a:rPr>
                        <a:t>85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\n\n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1B1B"/>
                          </a:solidFill>
                          <a:latin typeface="Georgia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ordinary later tokens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average over all tokens (the score GPTQ uses)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C2340"/>
                          </a:solidFill>
                          <a:latin typeface="Georgia"/>
                        </a:rPr>
                        <a:t>0.17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703320"/>
            <a:ext cx="3931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GPTQ minimises the total error over all calibration tokens. Because BOS's vector is 481× longer, 99.9% of that total is the BOS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GPTQ makes BOS perfect and lets the template tokens go 100× worse; the averaged score cannot see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A threshold on one token's error, not a slope in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Q3 · WHY 4-BIT IS FINE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5394960" cy="2715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371600"/>
                <a:gridCol w="822960"/>
                <a:gridCol w="82296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Llama, recipe variant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error at &lt;|end_header_id|&gt;, layer 2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IFEval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collapse?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group 128 (default)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finer groups (32)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2.43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0.178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damping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damping 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1.37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0.578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4-bit, coarsest grouping (per channel)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0.693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4-bit, group 128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1.33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0.745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damping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0.642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3-bit, one-line fix (slide 13)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0.45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0.648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325880"/>
            <a:ext cx="269748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Reading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Every variant with error above 1.5 at that token collapses; every one below 1.4 does not — across bits, group sizes, damping and the fix.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4-bit sits just under the line (1.3); 3-bit is far above (3.9); finer groups barely move it (2.4).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The remaining 20-point gap between RTN (0.565) and full precision is ordinary capacity loss — that part is not our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52544"/>
            <a:ext cx="8321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“3-bit breaks, 4-bit doesn't” = that token's error crosses a threshold at 3 bits.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Two zero-bit fixes, both derived from the mechanism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Q4 · FIXING IT WITHOUT SPENDING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4069080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Fix A — weigh every calibration token equally (one line)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Before building the Hessian, rescale each token's vector to the same length. BOS stops dominating; GPTQ now also cares about the template tokens. Nothing else changes: same C4 text, same bits.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697480"/>
          <a:ext cx="4069080" cy="12070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731520"/>
                <a:gridCol w="150876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3-bit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default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Fix A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Llama-3.1-8B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0.648 / 0.668 (2 seeds)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Qwen2.5-14B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0.720 / 0.724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Mistral-7B, the other trigger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0.404 (≈ RTN)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09160" y="1298448"/>
            <a:ext cx="4023360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Fix B — detect, then round one matrix naively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While quantizing, compare GPTQ's and RTN's error at the template positions only. If a matrix is &gt;10× worse, use RTN for it. Costs one extra matrix product per matrix.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09160" y="2697480"/>
          <a:ext cx="4023357" cy="12070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79"/>
                <a:gridCol w="731519"/>
                <a:gridCol w="1737359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3-bit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default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Fix B (which matrix)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Llama-3.1-8B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0.630  (layer-1 down_proj)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Qwen2.5-14B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E7B34"/>
                          </a:solidFill>
                          <a:latin typeface="Georgia"/>
                        </a:rPr>
                        <a:t>0.751  (layer-4 down_proj)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Mistral-7B, other trigger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0.174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not detected — known blind spot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041648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Last week's remedy kept 0.5% of weights at 16 bits; both new fixes cost 0 bits.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1104"/>
            <a:ext cx="8321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5A5A5A"/>
                </a:solidFill>
                <a:latin typeface="Georgia"/>
              </a:rPr>
              <a:t>Downstream checks (Llama, Fix B): GSM8K 0.59 (damping-5 cure 0.58, full precision 0.84); MMLU 0.57 vs 0.53; WikiText perplexity 10.0 vs 23.0 — better than every global remedy on every metric.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14 of 16 models share the structure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Q5 · IS IT GENERAL? 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98448"/>
          <a:ext cx="8321040" cy="2715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920240"/>
                <a:gridCol w="2103120"/>
                <a:gridCol w="155448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sink dominance
(BOS vector ÷ typical)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detector: GPTQ÷RTN error at template tokens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3-bit outcome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Qwen2.5-14B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10× (first newline)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collapse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Llama-3.1-8B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488×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61B1B"/>
                          </a:solidFill>
                          <a:latin typeface="Georgia"/>
                        </a:rPr>
                        <a:t>collapse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Qwen2.5-32B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405×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fix +4.4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Mistral-Nemo-12B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62×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fix +2.6 / +4.9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Mistral-7B v0.2 / v0.3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784× / 804×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31 /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no gain (see next slide)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Llama-3-8B, SmolLM2, Qwen-3B, L3.2-1B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441× … 614×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29 / 22 / 14 / 10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fix +2 to +6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L3.2-3B, Falcon3, Qwen-7B, Mistral-24B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56× … 505×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3 to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±2 (noise)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Georgia"/>
                        </a:rPr>
                        <a:t>gemma-2-2b, gemma-2-9b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1.6× / 1.7× (none)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1.9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detector silent, fix ±0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133087"/>
            <a:ext cx="8321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Georgia"/>
              </a:rPr>
              <a:t>Nearly every model has an early down_proj dominated by one token where GPTQ loses to RTN at the template tokens: the two collapses are the tail of one distribution. gemma-2 has no such dominance: detector silent, fix does nothing.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Fix A across 16 models: mean +5.7; one family loses about 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Q5 · IS IT GENERAL? (2/2)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234440"/>
          <a:ext cx="51206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325880"/>
            <a:ext cx="297180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Reading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The two collapses dominate the mean. On graceful models the fix is within ±2 (seed noise), except the Mistral family: −3.7 / −4.5, confirmed on two seeds.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Why Mistral loses (hypothesis): its BOS vector must be reproduced exactly; treating BOS like any other token costs accuracy there. A softer version (cap the BOS weight instead of removing it) is queued.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Georgia"/>
              </a:rPr>
              <a:t>Fix B (detector + one matrix) is the conservative default: where it fires (9 models) it gains on 7 and never hurts beyond noise; where silent (4) nothing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51960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At 4-bit: Fix B gives +1.5 to +2.3 on Qwen-14B and Nemo (two seeds each), noise on Llama.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The cures hold on math, knowledge and perplexity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EVIDENCE · OTHER TASKS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832104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1097280"/>
                <a:gridCol w="1280160"/>
                <a:gridCol w="1463040"/>
                <a:gridCol w="19202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Llama-3.1-8B, 3-bit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IFEval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GSM8K (math)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MMLU (knowledge)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WikiText perplexity (lower = better)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default GPTQ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0.002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59.2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Fix B: layer-0/1 down_proj → RTN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0.650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0.590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0.568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10.0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damping 5 (global brake)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23.0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AWQ (no compensation)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0.597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0.425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0.504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12.1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full precision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0.843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0.683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7.2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3090672"/>
          <a:ext cx="8321040" cy="1097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1097280"/>
                <a:gridCol w="1280160"/>
                <a:gridCol w="1463040"/>
                <a:gridCol w="19202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Qwen2.5-14B, 3-bit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IFEval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GSM8K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MMLU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perplexity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default GPTQ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0.129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7.7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Fix B: layer-4 down_proj → RTN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0.750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B34"/>
                          </a:solidFill>
                          <a:latin typeface="Georgia"/>
                        </a:rPr>
                        <a:t>0.890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0.732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7.8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full precision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0.820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0.926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0.799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Georgia"/>
                        </a:rPr>
                        <a:t>5.7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315968"/>
            <a:ext cx="8321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Qwen-14B's MMLU and perplexity barely move while it collapses: likelihood metrics miss this failure.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How this rewrites last week's story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SYNTHESIS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98448"/>
          <a:ext cx="8321040" cy="2624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3017520"/>
                <a:gridCol w="3931920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3 September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Today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Cause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GPTQ's compensation interacting with a tiny set of critical weights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GPTQ's layer-wise objective is dominated by one token (BOS) at the sink-forming matrix; it sacrifices the chat-template tokens the calibration text never contained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Where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spread across the network (“no universal anatomy”)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one early down_proj; damage starts at the first template token after layer 2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Why these models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unknown; no fp16 statistic predicts 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models whose early down_proj is BOS-dominated (14/16) are at risk; collapse when the error at that token crosses a threshold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Why 3-bit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empirical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threshold on that token's error; 4-bit sits just below it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Remedy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keep 0.5% “important” weights at 16 bits (+49/+37)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0 extra bits: equal token weighting (+50/+31/+23 on the three collapses, +5.7 mean over 16 models) or detector + one matrix (+48/+34)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Georgia"/>
                        </a:rPr>
                        <a:t>Why last week's remedy worked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Georgia"/>
                        </a:rPr>
                        <a:t>it is another way to stop the compensation at that matrix; so is damping; so is chat calibration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352544"/>
            <a:ext cx="8321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Not “two models break” but “a standard objective has a blind spot; here is the repair”.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/>
          <a:lstStyle/>
          <a:p>
            <a:r>
              <a:rPr sz="2100" b="1">
                <a:solidFill>
                  <a:srgbClr val="0C2340"/>
                </a:solidFill>
                <a:latin typeface="Georgia"/>
              </a:rPr>
              <a:t>What is new versus existing work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POSITIONING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8321040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926080"/>
                <a:gridCol w="3108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eorgia"/>
                        </a:rPr>
                        <a:t>Existing work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eorgia"/>
                        </a:rPr>
                        <a:t>What they established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eorgia"/>
                        </a:rPr>
                        <a:t>What we add</a:t>
                      </a:r>
                    </a:p>
                  </a:txBody>
                  <a:tcPr marL="54864" marR="54864" marT="18288" marB="18288" anchor="ctr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Calibration-data studies (Williams &amp; Aletras 2024; UPQ 2025); folklore “use the chat template”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GPTQ is sensitive to calibration text; instruct models degrade with web-text calibration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Which token is missing, why it matters (the objective is one token), and a fix that keeps the web text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HeRo-Q (2026)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Reports the Llama-3.1-8B 3-bit disaster; blames Hessian conditioning; repairs with rotations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One matrix, one token, a threshold, a zero-bit repair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“Structure of quantization damage” (Sept 2026)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Damage is diffuse; local repair loses to global precision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True in the graceful regime; in a collapse the damage is one matrix and the repair is free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Massive Activations (2024); Super Weights (2024)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A few tokens / weights carry giant activations; protect them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Those activations degrade the weight-quantization objective: the sink is the cause, not the victim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RSQ (2025)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Re-weight calibration tokens by attention (up-weights the sink)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Opposite direction: equalising tokens cures the collapse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Georgia"/>
                        </a:rPr>
                        <a:t>TaCQ, SpQR, SqueezeLLM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Keep salient weights at 16 bits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Georgia"/>
                        </a:rPr>
                        <a:t>Explains why it works here (stops compensation at the sink matrix); 0-bit alternative</a:t>
                      </a:r>
                    </a:p>
                  </a:txBody>
                  <a:tcPr marL="54864" marR="54864" marT="18288" marB="18288" anchor="ctr">
                    <a:solidFill>
                      <a:srgbClr val="EF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AE841F"/>
                </a:solidFill>
                <a:latin typeface="Georgia"/>
              </a:rPr>
              <a:t>New: the link between the sink token, the layer-wise objective and the collapse — the fix follows from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3"/>
          </p:nvPr>
        </p:nvSpPr>
        <p:spPr>
          <a:xfrm>
            <a:off x="384048" y="137160"/>
            <a:ext cx="5486400" cy="393192"/>
          </a:xfrm>
        </p:spPr>
        <p:txBody>
          <a:bodyPr/>
          <a:lstStyle/>
          <a:p>
            <a:r>
              <a:rPr sz="1100" b="1">
                <a:latin typeface="Georgia"/>
              </a:rPr>
              <a:t>PAPER PLAN · DISCUSSION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1234440"/>
            <a:ext cx="7315200" cy="731520"/>
          </a:xfrm>
        </p:spPr>
        <p:txBody>
          <a:bodyPr/>
          <a:lstStyle/>
          <a:p>
            <a:r>
              <a:rPr sz="2600" b="1">
                <a:latin typeface="Georgia"/>
              </a:rPr>
              <a:t>Paper plan, and questions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56616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C9A24A"/>
                </a:solidFill>
                <a:latin typeface="Georgia"/>
              </a:rPr>
              <a:t>Plan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ICLR 2027: abstract 18 Sept, full paper 25 Sept. Experiments frozen; writing from now.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Working title: “One Token Dominates the Quantization Objective: Why GPTQ Breaks Chat Models and a One-Line Fix”.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Main figure: the 16-model census (slide 14–15) with the two collapses as the tail.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Stated limits: 2 natural collapses + 1 induced; GPTQ family only; simulated (fake-quant) checkpoints; Mistral family gains nothing; evaluation protocol quirk (double BOS) disclosed with a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057400"/>
            <a:ext cx="365760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C9A24A"/>
                </a:solidFill>
                <a:latin typeface="Georgia"/>
              </a:rPr>
              <a:t>Questions for you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Framing: analysis paper with a one-line fix — or lead with the fix and the 16-model table?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Is “the objective is one token” a strong enough general claim, given only two models actually collapse?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Neighbouring work: the Super-Weight line (Mengxia) and Massive Activations (Sun et al.) — cite, or coordinate?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Georgia"/>
              </a:rPr>
              <a:t>•  Venue: ICLR 2027 first, ACL as fallback — confirm?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tre Dame">
      <a:dk1>
        <a:srgbClr val="0C2340"/>
      </a:dk1>
      <a:lt1>
        <a:srgbClr val="FFFFFF"/>
      </a:lt1>
      <a:dk2>
        <a:srgbClr val="AE9141"/>
      </a:dk2>
      <a:lt2>
        <a:srgbClr val="EFE9D9"/>
      </a:lt2>
      <a:accent1>
        <a:srgbClr val="143865"/>
      </a:accent1>
      <a:accent2>
        <a:srgbClr val="AE9141"/>
      </a:accent2>
      <a:accent3>
        <a:srgbClr val="0A833C"/>
      </a:accent3>
      <a:accent4>
        <a:srgbClr val="1C4F8F"/>
      </a:accent4>
      <a:accent5>
        <a:srgbClr val="C1CDDD"/>
      </a:accent5>
      <a:accent6>
        <a:srgbClr val="B3DAC5"/>
      </a:accent6>
      <a:hlink>
        <a:srgbClr val="8C7534"/>
      </a:hlink>
      <a:folHlink>
        <a:srgbClr val="1C4F8F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Becky Rogers</dc:creator>
  <cp:lastModifiedBy>Jiahao Zheng</cp:lastModifiedBy>
  <cp:revision>2</cp:revision>
  <dcterms:created xsi:type="dcterms:W3CDTF">2024-10-11T14:50:24Z</dcterms:created>
  <dcterms:modified xsi:type="dcterms:W3CDTF">2026-09-02T04:26:51Z</dcterms:modified>
</cp:coreProperties>
</file>